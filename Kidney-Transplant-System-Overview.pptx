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system supports the transplant team's decision; it does not make it. Everything in this deck is either implemented today or explicitly marked as outstanding on the status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two-layer split is the core design decision. Blood-group incompatibility is not a probability; it is a fact. Blending it into a score would blur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 left to right. Emphasise that a halt is always attributed to a named step, so a clinician can see exactly what to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replaced a single flat MFI cut-off that rejected transplants on weak or equivocal antibodies.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cPRA reference table is a genuine local contribution — it is built from a Sri Lankan cohort rather than borrowed from a US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Cannot Assess is blue, not red. Rejected and not-yet-known lead to opposite clinical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nephrologist asks why not KDPI: KDPI applies only to deceased donors, by OPTN's own guidance, and is refitted annually against the US deceased-donor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honesty slide. A clinician who is told the limitation trusts the tool more, not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refusal behaviour is deliberate and applies to every score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confirmation gate is the important part for a clinical audience: AI output is a draft for a doctor to check, never an input the engine trusts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Cross-hospital visibility is deliberately narrow: enough to make contact, not a general directory of other hospitals' donors.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 multi-hospital network pays off — the pool only works if it spans programmes.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answers to the questions a hospital's governance committee will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Presenting only the finished parts to a clinical audience destroys credibility the first time something is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Containerisation also means the whole thing can be lifted into the hospital's own data centre later without re-engineering.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is the recommendation. Option E is included only to show what leaving the GPU on costs: roughly five times option D for the same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data-protection point. It is the one item that needs a decision from the hospital rather than from the development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393E"/>
        </a:solidFill>
      </p:bgPr>
    </p:bg>
    <p:spTree>
      <p:nvGrpSpPr>
        <p:cNvPr id="1" name=""/>
        <p:cNvGrpSpPr/>
        <p:nvPr/>
      </p:nvGrpSpPr>
      <p:grpSpPr>
        <a:xfrm>
          <a:off x="0" y="0"/>
          <a:ext cx="0" cy="0"/>
          <a:chOff x="0" y="0"/>
          <a:chExt cx="0" cy="0"/>
        </a:xfrm>
      </p:grpSpPr>
      <p:sp>
        <p:nvSpPr>
          <p:cNvPr id="2" name="Shape 0"/>
          <p:cNvSpPr/>
          <p:nvPr/>
        </p:nvSpPr>
        <p:spPr>
          <a:xfrm>
            <a:off x="8778240" y="-1737360"/>
            <a:ext cx="5669280" cy="5669280"/>
          </a:xfrm>
          <a:prstGeom prst="ellipse">
            <a:avLst/>
          </a:prstGeom>
          <a:solidFill>
            <a:srgbClr val="0C6A73"/>
          </a:solidFill>
          <a:ln w="12700">
            <a:solidFill>
              <a:srgbClr val="0C6A73"/>
            </a:solidFill>
            <a:prstDash val="solid"/>
          </a:ln>
        </p:spPr>
      </p:sp>
      <p:sp>
        <p:nvSpPr>
          <p:cNvPr id="3" name="Shape 1"/>
          <p:cNvSpPr/>
          <p:nvPr/>
        </p:nvSpPr>
        <p:spPr>
          <a:xfrm>
            <a:off x="10424160" y="3291840"/>
            <a:ext cx="3108960" cy="3108960"/>
          </a:xfrm>
          <a:prstGeom prst="ellipse">
            <a:avLst/>
          </a:prstGeom>
          <a:solidFill>
            <a:srgbClr val="10A99C"/>
          </a:solidFill>
          <a:ln w="12700">
            <a:solidFill>
              <a:srgbClr val="10A99C"/>
            </a:solidFill>
            <a:prstDash val="solid"/>
          </a:ln>
        </p:spPr>
      </p:sp>
      <p:sp>
        <p:nvSpPr>
          <p:cNvPr id="4" name="Text 2"/>
          <p:cNvSpPr/>
          <p:nvPr/>
        </p:nvSpPr>
        <p:spPr>
          <a:xfrm>
            <a:off x="566928" y="1481328"/>
            <a:ext cx="7863840" cy="274320"/>
          </a:xfrm>
          <a:prstGeom prst="rect">
            <a:avLst/>
          </a:prstGeom>
          <a:noFill/>
          <a:ln/>
        </p:spPr>
        <p:txBody>
          <a:bodyPr wrap="square" lIns="0" tIns="0" rIns="0" bIns="0" rtlCol="0" anchor="ctr"/>
          <a:lstStyle/>
          <a:p>
            <a:pPr indent="0" marL="0">
              <a:buNone/>
            </a:pPr>
            <a:r>
              <a:rPr lang="en-US" sz="1200" b="1" spc="200" kern="0" dirty="0">
                <a:solidFill>
                  <a:srgbClr val="10A99C"/>
                </a:solidFill>
                <a:latin typeface="Calibri" pitchFamily="34" charset="0"/>
                <a:ea typeface="Calibri" pitchFamily="34" charset="-122"/>
                <a:cs typeface="Calibri" pitchFamily="34" charset="-120"/>
              </a:rPr>
              <a:t>CLINICAL DECISION SUPPORT</a:t>
            </a:r>
            <a:endParaRPr lang="en-US" sz="1200" dirty="0"/>
          </a:p>
        </p:txBody>
      </p:sp>
      <p:sp>
        <p:nvSpPr>
          <p:cNvPr id="5" name="Text 3"/>
          <p:cNvSpPr/>
          <p:nvPr/>
        </p:nvSpPr>
        <p:spPr>
          <a:xfrm>
            <a:off x="566928" y="1828800"/>
            <a:ext cx="7955280" cy="1600200"/>
          </a:xfrm>
          <a:prstGeom prst="rect">
            <a:avLst/>
          </a:prstGeom>
          <a:noFill/>
          <a:ln/>
        </p:spPr>
        <p:txBody>
          <a:bodyPr wrap="square" lIns="0" tIns="0" rIns="0" bIns="0" rtlCol="0" anchor="ctr"/>
          <a:lstStyle/>
          <a:p>
            <a:pPr indent="0" marL="0">
              <a:lnSpc>
                <a:spcPct val="98000"/>
              </a:lnSpc>
              <a:buNone/>
            </a:pPr>
            <a:r>
              <a:rPr lang="en-US" sz="4200" b="1" dirty="0">
                <a:solidFill>
                  <a:srgbClr val="FFFFFF"/>
                </a:solidFill>
                <a:latin typeface="Cambria" pitchFamily="34" charset="0"/>
                <a:ea typeface="Cambria" pitchFamily="34" charset="-122"/>
                <a:cs typeface="Cambria" pitchFamily="34" charset="-120"/>
              </a:rPr>
              <a:t>Kidney Transplant</a:t>
            </a:r>
            <a:endParaRPr lang="en-US" sz="4200" dirty="0"/>
          </a:p>
          <a:p>
            <a:pPr indent="0" marL="0">
              <a:lnSpc>
                <a:spcPct val="98000"/>
              </a:lnSpc>
              <a:buNone/>
            </a:pPr>
            <a:r>
              <a:rPr lang="en-US" sz="4200" b="1" dirty="0">
                <a:solidFill>
                  <a:srgbClr val="FFFFFF"/>
                </a:solidFill>
                <a:latin typeface="Cambria" pitchFamily="34" charset="0"/>
                <a:ea typeface="Cambria" pitchFamily="34" charset="-122"/>
                <a:cs typeface="Cambria" pitchFamily="34" charset="-120"/>
              </a:rPr>
              <a:t>Compatibility System</a:t>
            </a:r>
            <a:endParaRPr lang="en-US" sz="4200" dirty="0"/>
          </a:p>
        </p:txBody>
      </p:sp>
      <p:sp>
        <p:nvSpPr>
          <p:cNvPr id="6" name="Text 4"/>
          <p:cNvSpPr/>
          <p:nvPr/>
        </p:nvSpPr>
        <p:spPr>
          <a:xfrm>
            <a:off x="566928" y="3584448"/>
            <a:ext cx="7680960" cy="658368"/>
          </a:xfrm>
          <a:prstGeom prst="rect">
            <a:avLst/>
          </a:prstGeom>
          <a:noFill/>
          <a:ln/>
        </p:spPr>
        <p:txBody>
          <a:bodyPr wrap="square" lIns="0" tIns="0" rIns="0" bIns="0" rtlCol="0" anchor="ctr"/>
          <a:lstStyle/>
          <a:p>
            <a:pPr indent="0" marL="0">
              <a:lnSpc>
                <a:spcPct val="115000"/>
              </a:lnSpc>
              <a:buNone/>
            </a:pPr>
            <a:r>
              <a:rPr lang="en-US" sz="1500" dirty="0">
                <a:solidFill>
                  <a:srgbClr val="C9DEDD"/>
                </a:solidFill>
                <a:latin typeface="Calibri" pitchFamily="34" charset="0"/>
                <a:ea typeface="Calibri" pitchFamily="34" charset="-122"/>
                <a:cs typeface="Calibri" pitchFamily="34" charset="-120"/>
              </a:rPr>
              <a:t>Living-donor assessment for transplant teams — what the system does, how it decides, and what it costs to run.</a:t>
            </a:r>
            <a:endParaRPr lang="en-US" sz="1500" dirty="0"/>
          </a:p>
        </p:txBody>
      </p:sp>
      <p:sp>
        <p:nvSpPr>
          <p:cNvPr id="7" name="Text 5"/>
          <p:cNvSpPr/>
          <p:nvPr/>
        </p:nvSpPr>
        <p:spPr>
          <a:xfrm>
            <a:off x="566928" y="4681728"/>
            <a:ext cx="7680960" cy="274320"/>
          </a:xfrm>
          <a:prstGeom prst="rect">
            <a:avLst/>
          </a:prstGeom>
          <a:noFill/>
          <a:ln/>
        </p:spPr>
        <p:txBody>
          <a:bodyPr wrap="square" lIns="0" tIns="0" rIns="0" bIns="0" rtlCol="0" anchor="ctr"/>
          <a:lstStyle/>
          <a:p>
            <a:pPr indent="0" marL="0">
              <a:buNone/>
            </a:pPr>
            <a:r>
              <a:rPr lang="en-US" sz="1200" dirty="0">
                <a:solidFill>
                  <a:srgbClr val="9CBFBE"/>
                </a:solidFill>
                <a:latin typeface="Calibri" pitchFamily="34" charset="0"/>
                <a:ea typeface="Calibri" pitchFamily="34" charset="-122"/>
                <a:cs typeface="Calibri" pitchFamily="34" charset="-120"/>
              </a:rPr>
              <a:t>Feature overview for clinical and stakeholder review · August 2026</a:t>
            </a:r>
            <a:endParaRPr lang="en-US" sz="1200" dirty="0"/>
          </a:p>
        </p:txBody>
      </p:sp>
      <p:sp>
        <p:nvSpPr>
          <p:cNvPr id="8" name="Text 6"/>
          <p:cNvSpPr/>
          <p:nvPr/>
        </p:nvSpPr>
        <p:spPr>
          <a:xfrm>
            <a:off x="566928" y="6035040"/>
            <a:ext cx="7680960" cy="274320"/>
          </a:xfrm>
          <a:prstGeom prst="rect">
            <a:avLst/>
          </a:prstGeom>
          <a:noFill/>
          <a:ln/>
        </p:spPr>
        <p:txBody>
          <a:bodyPr wrap="square" lIns="0" tIns="0" rIns="0" bIns="0" rtlCol="0" anchor="ctr"/>
          <a:lstStyle/>
          <a:p>
            <a:pPr indent="0" marL="0">
              <a:buNone/>
            </a:pPr>
            <a:r>
              <a:rPr lang="en-US" sz="1050" i="1" dirty="0">
                <a:solidFill>
                  <a:srgbClr val="7FA7A6"/>
                </a:solidFill>
                <a:latin typeface="Calibri" pitchFamily="34" charset="0"/>
                <a:ea typeface="Calibri" pitchFamily="34" charset="-122"/>
                <a:cs typeface="Calibri" pitchFamily="34" charset="-120"/>
              </a:rPr>
              <a:t>Decision support only. Clinical judgement and confirmatory laboratory testing remain required.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OVERVIEW</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Three questions, kept separate on purpose</a:t>
            </a:r>
            <a:endParaRPr lang="en-US" sz="3000" dirty="0"/>
          </a:p>
        </p:txBody>
      </p:sp>
      <p:sp>
        <p:nvSpPr>
          <p:cNvPr id="4" name="Text 2"/>
          <p:cNvSpPr/>
          <p:nvPr/>
        </p:nvSpPr>
        <p:spPr>
          <a:xfrm>
            <a:off x="566928" y="1225296"/>
            <a:ext cx="10689336" cy="402336"/>
          </a:xfrm>
          <a:prstGeom prst="rect">
            <a:avLst/>
          </a:prstGeom>
          <a:noFill/>
          <a:ln/>
        </p:spPr>
        <p:txBody>
          <a:bodyPr wrap="square" lIns="0" tIns="0" rIns="0" bIns="0" rtlCol="0" anchor="ctr"/>
          <a:lstStyle/>
          <a:p>
            <a:pPr indent="0" marL="0">
              <a:lnSpc>
                <a:spcPct val="112000"/>
              </a:lnSpc>
              <a:buNone/>
            </a:pPr>
            <a:r>
              <a:rPr lang="en-US" sz="1350" dirty="0">
                <a:solidFill>
                  <a:srgbClr val="6B7280"/>
                </a:solidFill>
                <a:latin typeface="Calibri" pitchFamily="34" charset="0"/>
                <a:ea typeface="Calibri" pitchFamily="34" charset="-122"/>
                <a:cs typeface="Calibri" pitchFamily="34" charset="-120"/>
              </a:rPr>
              <a:t>A single blended "compatibility percentage" would imply a precision the underlying evidence does not support. The system answers three different clinical questions and reports each one on its own terms.</a:t>
            </a:r>
            <a:endParaRPr lang="en-US" sz="1350" dirty="0"/>
          </a:p>
        </p:txBody>
      </p:sp>
      <p:sp>
        <p:nvSpPr>
          <p:cNvPr id="5" name="Shape 3"/>
          <p:cNvSpPr/>
          <p:nvPr/>
        </p:nvSpPr>
        <p:spPr>
          <a:xfrm>
            <a:off x="566928" y="2157984"/>
            <a:ext cx="3502152" cy="2651760"/>
          </a:xfrm>
          <a:prstGeom prst="roundRect">
            <a:avLst>
              <a:gd name="adj" fmla="val 3103"/>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6" name="Shape 4"/>
          <p:cNvSpPr/>
          <p:nvPr/>
        </p:nvSpPr>
        <p:spPr>
          <a:xfrm>
            <a:off x="822960" y="2395728"/>
            <a:ext cx="402336" cy="402336"/>
          </a:xfrm>
          <a:prstGeom prst="ellipse">
            <a:avLst/>
          </a:prstGeom>
          <a:solidFill>
            <a:srgbClr val="DC2626"/>
          </a:solidFill>
          <a:ln w="6350">
            <a:solidFill>
              <a:srgbClr val="DC2626"/>
            </a:solidFill>
            <a:prstDash val="solid"/>
          </a:ln>
        </p:spPr>
      </p:sp>
      <p:sp>
        <p:nvSpPr>
          <p:cNvPr id="7" name="Text 5"/>
          <p:cNvSpPr/>
          <p:nvPr/>
        </p:nvSpPr>
        <p:spPr>
          <a:xfrm>
            <a:off x="822960" y="23957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353312" y="2432304"/>
            <a:ext cx="2496312" cy="219456"/>
          </a:xfrm>
          <a:prstGeom prst="rect">
            <a:avLst/>
          </a:prstGeom>
          <a:noFill/>
          <a:ln/>
        </p:spPr>
        <p:txBody>
          <a:bodyPr wrap="square" lIns="0" tIns="0" rIns="0" bIns="0" rtlCol="0" anchor="ctr"/>
          <a:lstStyle/>
          <a:p>
            <a:pPr indent="0" marL="0">
              <a:buNone/>
            </a:pPr>
            <a:r>
              <a:rPr lang="en-US" sz="1000" b="1" spc="120" kern="0" dirty="0">
                <a:solidFill>
                  <a:srgbClr val="DC2626"/>
                </a:solidFill>
                <a:latin typeface="Calibri" pitchFamily="34" charset="0"/>
                <a:ea typeface="Calibri" pitchFamily="34" charset="-122"/>
                <a:cs typeface="Calibri" pitchFamily="34" charset="-120"/>
              </a:rPr>
              <a:t>VERDICT</a:t>
            </a:r>
            <a:endParaRPr lang="en-US" sz="1000" dirty="0"/>
          </a:p>
        </p:txBody>
      </p:sp>
      <p:sp>
        <p:nvSpPr>
          <p:cNvPr id="9" name="Text 7"/>
          <p:cNvSpPr/>
          <p:nvPr/>
        </p:nvSpPr>
        <p:spPr>
          <a:xfrm>
            <a:off x="822960" y="2944368"/>
            <a:ext cx="2990088" cy="420624"/>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Can this go ahead?</a:t>
            </a:r>
            <a:endParaRPr lang="en-US" sz="1700" dirty="0"/>
          </a:p>
        </p:txBody>
      </p:sp>
      <p:sp>
        <p:nvSpPr>
          <p:cNvPr id="10" name="Text 8"/>
          <p:cNvSpPr/>
          <p:nvPr/>
        </p:nvSpPr>
        <p:spPr>
          <a:xfrm>
            <a:off x="822960" y="3438144"/>
            <a:ext cx="2990088" cy="1188720"/>
          </a:xfrm>
          <a:prstGeom prst="rect">
            <a:avLst/>
          </a:prstGeom>
          <a:noFill/>
          <a:ln/>
        </p:spPr>
        <p:txBody>
          <a:bodyPr wrap="square" lIns="0" tIns="0" rIns="0" bIns="0" rtlCol="0" anchor="ctr"/>
          <a:lstStyle/>
          <a:p>
            <a:pPr indent="0" marL="0">
              <a:lnSpc>
                <a:spcPct val="114000"/>
              </a:lnSpc>
              <a:buNone/>
            </a:pPr>
            <a:r>
              <a:rPr lang="en-US" sz="1200" dirty="0">
                <a:solidFill>
                  <a:srgbClr val="6B7280"/>
                </a:solidFill>
                <a:latin typeface="Calibri" pitchFamily="34" charset="0"/>
                <a:ea typeface="Calibri" pitchFamily="34" charset="-122"/>
                <a:cs typeface="Calibri" pitchFamily="34" charset="-120"/>
              </a:rPr>
              <a:t>Four hard biological gates: blood group, HLA mismatch load, donor-specific antibody, crossmatch. These are yes/no facts, not probabilities.</a:t>
            </a:r>
            <a:endParaRPr lang="en-US" sz="1200" dirty="0"/>
          </a:p>
        </p:txBody>
      </p:sp>
      <p:sp>
        <p:nvSpPr>
          <p:cNvPr id="11" name="Shape 9"/>
          <p:cNvSpPr/>
          <p:nvPr/>
        </p:nvSpPr>
        <p:spPr>
          <a:xfrm>
            <a:off x="4343400" y="2157984"/>
            <a:ext cx="3502152" cy="2651760"/>
          </a:xfrm>
          <a:prstGeom prst="roundRect">
            <a:avLst>
              <a:gd name="adj" fmla="val 3103"/>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2" name="Shape 10"/>
          <p:cNvSpPr/>
          <p:nvPr/>
        </p:nvSpPr>
        <p:spPr>
          <a:xfrm>
            <a:off x="4599432" y="2395728"/>
            <a:ext cx="402336" cy="402336"/>
          </a:xfrm>
          <a:prstGeom prst="ellipse">
            <a:avLst/>
          </a:prstGeom>
          <a:solidFill>
            <a:srgbClr val="D97706"/>
          </a:solidFill>
          <a:ln w="6350">
            <a:solidFill>
              <a:srgbClr val="D97706"/>
            </a:solidFill>
            <a:prstDash val="solid"/>
          </a:ln>
        </p:spPr>
      </p:sp>
      <p:sp>
        <p:nvSpPr>
          <p:cNvPr id="13" name="Text 11"/>
          <p:cNvSpPr/>
          <p:nvPr/>
        </p:nvSpPr>
        <p:spPr>
          <a:xfrm>
            <a:off x="4599432" y="23957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5129784" y="2432304"/>
            <a:ext cx="2496312" cy="219456"/>
          </a:xfrm>
          <a:prstGeom prst="rect">
            <a:avLst/>
          </a:prstGeom>
          <a:noFill/>
          <a:ln/>
        </p:spPr>
        <p:txBody>
          <a:bodyPr wrap="square" lIns="0" tIns="0" rIns="0" bIns="0" rtlCol="0" anchor="ctr"/>
          <a:lstStyle/>
          <a:p>
            <a:pPr indent="0" marL="0">
              <a:buNone/>
            </a:pPr>
            <a:r>
              <a:rPr lang="en-US" sz="1000" b="1" spc="120" kern="0" dirty="0">
                <a:solidFill>
                  <a:srgbClr val="D97706"/>
                </a:solidFill>
                <a:latin typeface="Calibri" pitchFamily="34" charset="0"/>
                <a:ea typeface="Calibri" pitchFamily="34" charset="-122"/>
                <a:cs typeface="Calibri" pitchFamily="34" charset="-120"/>
              </a:rPr>
              <a:t>RISK LEVEL</a:t>
            </a:r>
            <a:endParaRPr lang="en-US" sz="1000" dirty="0"/>
          </a:p>
        </p:txBody>
      </p:sp>
      <p:sp>
        <p:nvSpPr>
          <p:cNvPr id="15" name="Text 13"/>
          <p:cNvSpPr/>
          <p:nvPr/>
        </p:nvSpPr>
        <p:spPr>
          <a:xfrm>
            <a:off x="4599432" y="2944368"/>
            <a:ext cx="2990088" cy="420624"/>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How risky is the match?</a:t>
            </a:r>
            <a:endParaRPr lang="en-US" sz="1700" dirty="0"/>
          </a:p>
        </p:txBody>
      </p:sp>
      <p:sp>
        <p:nvSpPr>
          <p:cNvPr id="16" name="Text 14"/>
          <p:cNvSpPr/>
          <p:nvPr/>
        </p:nvSpPr>
        <p:spPr>
          <a:xfrm>
            <a:off x="4599432" y="3438144"/>
            <a:ext cx="2990088" cy="1188720"/>
          </a:xfrm>
          <a:prstGeom prst="rect">
            <a:avLst/>
          </a:prstGeom>
          <a:noFill/>
          <a:ln/>
        </p:spPr>
        <p:txBody>
          <a:bodyPr wrap="square" lIns="0" tIns="0" rIns="0" bIns="0" rtlCol="0" anchor="ctr"/>
          <a:lstStyle/>
          <a:p>
            <a:pPr indent="0" marL="0">
              <a:lnSpc>
                <a:spcPct val="114000"/>
              </a:lnSpc>
              <a:buNone/>
            </a:pPr>
            <a:r>
              <a:rPr lang="en-US" sz="1200" dirty="0">
                <a:solidFill>
                  <a:srgbClr val="6B7280"/>
                </a:solidFill>
                <a:latin typeface="Calibri" pitchFamily="34" charset="0"/>
                <a:ea typeface="Calibri" pitchFamily="34" charset="-122"/>
                <a:cs typeface="Calibri" pitchFamily="34" charset="-120"/>
              </a:rPr>
              <a:t>Four bands, combining the HLA mismatch count with the recipient's cPRA. Shown alongside the verdict, never instead of it.</a:t>
            </a:r>
            <a:endParaRPr lang="en-US" sz="1200" dirty="0"/>
          </a:p>
        </p:txBody>
      </p:sp>
      <p:sp>
        <p:nvSpPr>
          <p:cNvPr id="17" name="Shape 15"/>
          <p:cNvSpPr/>
          <p:nvPr/>
        </p:nvSpPr>
        <p:spPr>
          <a:xfrm>
            <a:off x="8119872" y="2157984"/>
            <a:ext cx="3502152" cy="2651760"/>
          </a:xfrm>
          <a:prstGeom prst="roundRect">
            <a:avLst>
              <a:gd name="adj" fmla="val 3103"/>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8" name="Shape 16"/>
          <p:cNvSpPr/>
          <p:nvPr/>
        </p:nvSpPr>
        <p:spPr>
          <a:xfrm>
            <a:off x="8375904" y="2395728"/>
            <a:ext cx="402336" cy="402336"/>
          </a:xfrm>
          <a:prstGeom prst="ellipse">
            <a:avLst/>
          </a:prstGeom>
          <a:solidFill>
            <a:srgbClr val="16A34A"/>
          </a:solidFill>
          <a:ln w="6350">
            <a:solidFill>
              <a:srgbClr val="16A34A"/>
            </a:solidFill>
            <a:prstDash val="solid"/>
          </a:ln>
        </p:spPr>
      </p:sp>
      <p:sp>
        <p:nvSpPr>
          <p:cNvPr id="19" name="Text 17"/>
          <p:cNvSpPr/>
          <p:nvPr/>
        </p:nvSpPr>
        <p:spPr>
          <a:xfrm>
            <a:off x="8375904" y="23957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8906256" y="2432304"/>
            <a:ext cx="2496312" cy="219456"/>
          </a:xfrm>
          <a:prstGeom prst="rect">
            <a:avLst/>
          </a:prstGeom>
          <a:noFill/>
          <a:ln/>
        </p:spPr>
        <p:txBody>
          <a:bodyPr wrap="square" lIns="0" tIns="0" rIns="0" bIns="0" rtlCol="0" anchor="ctr"/>
          <a:lstStyle/>
          <a:p>
            <a:pPr indent="0" marL="0">
              <a:buNone/>
            </a:pPr>
            <a:r>
              <a:rPr lang="en-US" sz="1000" b="1" spc="120" kern="0" dirty="0">
                <a:solidFill>
                  <a:srgbClr val="16A34A"/>
                </a:solidFill>
                <a:latin typeface="Calibri" pitchFamily="34" charset="0"/>
                <a:ea typeface="Calibri" pitchFamily="34" charset="-122"/>
                <a:cs typeface="Calibri" pitchFamily="34" charset="-120"/>
              </a:rPr>
              <a:t>LKDPI</a:t>
            </a:r>
            <a:endParaRPr lang="en-US" sz="1000" dirty="0"/>
          </a:p>
        </p:txBody>
      </p:sp>
      <p:sp>
        <p:nvSpPr>
          <p:cNvPr id="21" name="Text 19"/>
          <p:cNvSpPr/>
          <p:nvPr/>
        </p:nvSpPr>
        <p:spPr>
          <a:xfrm>
            <a:off x="8375904" y="2944368"/>
            <a:ext cx="2990088" cy="420624"/>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How good is the kidney?</a:t>
            </a:r>
            <a:endParaRPr lang="en-US" sz="1700" dirty="0"/>
          </a:p>
        </p:txBody>
      </p:sp>
      <p:sp>
        <p:nvSpPr>
          <p:cNvPr id="22" name="Text 20"/>
          <p:cNvSpPr/>
          <p:nvPr/>
        </p:nvSpPr>
        <p:spPr>
          <a:xfrm>
            <a:off x="8375904" y="3438144"/>
            <a:ext cx="2990088" cy="1188720"/>
          </a:xfrm>
          <a:prstGeom prst="rect">
            <a:avLst/>
          </a:prstGeom>
          <a:noFill/>
          <a:ln/>
        </p:spPr>
        <p:txBody>
          <a:bodyPr wrap="square" lIns="0" tIns="0" rIns="0" bIns="0" rtlCol="0" anchor="ctr"/>
          <a:lstStyle/>
          <a:p>
            <a:pPr indent="0" marL="0">
              <a:lnSpc>
                <a:spcPct val="114000"/>
              </a:lnSpc>
              <a:buNone/>
            </a:pPr>
            <a:r>
              <a:rPr lang="en-US" sz="1200" dirty="0">
                <a:solidFill>
                  <a:srgbClr val="6B7280"/>
                </a:solidFill>
                <a:latin typeface="Calibri" pitchFamily="34" charset="0"/>
                <a:ea typeface="Calibri" pitchFamily="34" charset="-122"/>
                <a:cs typeface="Calibri" pitchFamily="34" charset="-120"/>
              </a:rPr>
              <a:t>A published living-donor index, on the same scale as the deceased-donor KDPI. Shown only when the pairing can actually proceed.</a:t>
            </a:r>
            <a:endParaRPr lang="en-US" sz="1200" dirty="0"/>
          </a:p>
        </p:txBody>
      </p:sp>
      <p:sp>
        <p:nvSpPr>
          <p:cNvPr id="23" name="Shape 21"/>
          <p:cNvSpPr/>
          <p:nvPr/>
        </p:nvSpPr>
        <p:spPr>
          <a:xfrm>
            <a:off x="566928" y="5047488"/>
            <a:ext cx="11055096" cy="749808"/>
          </a:xfrm>
          <a:prstGeom prst="roundRect">
            <a:avLst>
              <a:gd name="adj" fmla="val 9756"/>
            </a:avLst>
          </a:prstGeom>
          <a:solidFill>
            <a:srgbClr val="E8F4F3"/>
          </a:solidFill>
          <a:ln w="11430">
            <a:solidFill>
              <a:srgbClr val="0C6A73"/>
            </a:solidFill>
            <a:prstDash val="solid"/>
          </a:ln>
        </p:spPr>
      </p:sp>
      <p:sp>
        <p:nvSpPr>
          <p:cNvPr id="24" name="Text 22"/>
          <p:cNvSpPr/>
          <p:nvPr/>
        </p:nvSpPr>
        <p:spPr>
          <a:xfrm>
            <a:off x="768096" y="5102352"/>
            <a:ext cx="10652760" cy="640080"/>
          </a:xfrm>
          <a:prstGeom prst="rect">
            <a:avLst/>
          </a:prstGeom>
          <a:noFill/>
          <a:ln/>
        </p:spPr>
        <p:txBody>
          <a:bodyPr wrap="square" lIns="0" tIns="0" rIns="0" bIns="0" rtlCol="0" anchor="ctr"/>
          <a:lstStyle/>
          <a:p>
            <a:pPr indent="0" marL="0">
              <a:lnSpc>
                <a:spcPct val="108000"/>
              </a:lnSpc>
              <a:buNone/>
            </a:pPr>
            <a:r>
              <a:rPr lang="en-US" sz="1150" dirty="0">
                <a:solidFill>
                  <a:srgbClr val="0C6A73"/>
                </a:solidFill>
                <a:latin typeface="Calibri" pitchFamily="34" charset="0"/>
                <a:ea typeface="Calibri" pitchFamily="34" charset="-122"/>
                <a:cs typeface="Calibri" pitchFamily="34" charset="-120"/>
              </a:rPr>
              <a:t>A donor who fails a gate is never given a score. There is no point scoring a transplant that cannot happen — and putting a number next to a rejected pairing invites someone to argue with the rejection.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HOW A CHECK RUNS</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Seven steps, in order, each one visible</a:t>
            </a:r>
            <a:endParaRPr lang="en-US" sz="3000" dirty="0"/>
          </a:p>
        </p:txBody>
      </p:sp>
      <p:sp>
        <p:nvSpPr>
          <p:cNvPr id="4" name="Text 2"/>
          <p:cNvSpPr/>
          <p:nvPr/>
        </p:nvSpPr>
        <p:spPr>
          <a:xfrm>
            <a:off x="566928" y="1225296"/>
            <a:ext cx="10689336" cy="402336"/>
          </a:xfrm>
          <a:prstGeom prst="rect">
            <a:avLst/>
          </a:prstGeom>
          <a:noFill/>
          <a:ln/>
        </p:spPr>
        <p:txBody>
          <a:bodyPr wrap="square" lIns="0" tIns="0" rIns="0" bIns="0" rtlCol="0" anchor="ctr"/>
          <a:lstStyle/>
          <a:p>
            <a:pPr indent="0" marL="0">
              <a:lnSpc>
                <a:spcPct val="112000"/>
              </a:lnSpc>
              <a:buNone/>
            </a:pPr>
            <a:r>
              <a:rPr lang="en-US" sz="1350" dirty="0">
                <a:solidFill>
                  <a:srgbClr val="6B7280"/>
                </a:solidFill>
                <a:latin typeface="Calibri" pitchFamily="34" charset="0"/>
                <a:ea typeface="Calibri" pitchFamily="34" charset="-122"/>
                <a:cs typeface="Calibri" pitchFamily="34" charset="-120"/>
              </a:rPr>
              <a:t>The check stops at the first step that rules the pairing out. The report always names which step decided the result and why.</a:t>
            </a:r>
            <a:endParaRPr lang="en-US" sz="1350" dirty="0"/>
          </a:p>
        </p:txBody>
      </p:sp>
      <p:sp>
        <p:nvSpPr>
          <p:cNvPr id="5" name="Shape 3"/>
          <p:cNvSpPr/>
          <p:nvPr/>
        </p:nvSpPr>
        <p:spPr>
          <a:xfrm>
            <a:off x="566928" y="2231136"/>
            <a:ext cx="1453896" cy="1664208"/>
          </a:xfrm>
          <a:prstGeom prst="roundRect">
            <a:avLst>
              <a:gd name="adj" fmla="val 566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6" name="Shape 4"/>
          <p:cNvSpPr/>
          <p:nvPr/>
        </p:nvSpPr>
        <p:spPr>
          <a:xfrm>
            <a:off x="1074420" y="2414016"/>
            <a:ext cx="438912" cy="438912"/>
          </a:xfrm>
          <a:prstGeom prst="ellipse">
            <a:avLst/>
          </a:prstGeom>
          <a:solidFill>
            <a:srgbClr val="0C6A73"/>
          </a:solidFill>
          <a:ln w="6350">
            <a:solidFill>
              <a:srgbClr val="0C6A73"/>
            </a:solidFill>
            <a:prstDash val="solid"/>
          </a:ln>
        </p:spPr>
      </p:sp>
      <p:sp>
        <p:nvSpPr>
          <p:cNvPr id="7" name="Text 5"/>
          <p:cNvSpPr/>
          <p:nvPr/>
        </p:nvSpPr>
        <p:spPr>
          <a:xfrm>
            <a:off x="1074420" y="24140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621792" y="2944368"/>
            <a:ext cx="1344168" cy="548640"/>
          </a:xfrm>
          <a:prstGeom prst="rect">
            <a:avLst/>
          </a:prstGeom>
          <a:noFill/>
          <a:ln/>
        </p:spPr>
        <p:txBody>
          <a:bodyPr wrap="square" lIns="0" tIns="0" rIns="0" bIns="0" rtlCol="0" anchor="t"/>
          <a:lstStyle/>
          <a:p>
            <a:pPr algn="ctr" indent="0" marL="0">
              <a:lnSpc>
                <a:spcPct val="105000"/>
              </a:lnSpc>
              <a:buNone/>
            </a:pPr>
            <a:r>
              <a:rPr lang="en-US" sz="1150" b="1" dirty="0">
                <a:solidFill>
                  <a:srgbClr val="1C1E21"/>
                </a:solidFill>
                <a:latin typeface="Calibri" pitchFamily="34" charset="0"/>
                <a:ea typeface="Calibri" pitchFamily="34" charset="-122"/>
                <a:cs typeface="Calibri" pitchFamily="34" charset="-120"/>
              </a:rPr>
              <a:t>Blood group</a:t>
            </a:r>
            <a:endParaRPr lang="en-US" sz="1150" dirty="0"/>
          </a:p>
        </p:txBody>
      </p:sp>
      <p:sp>
        <p:nvSpPr>
          <p:cNvPr id="9" name="Shape 7"/>
          <p:cNvSpPr/>
          <p:nvPr/>
        </p:nvSpPr>
        <p:spPr>
          <a:xfrm>
            <a:off x="749808" y="3511296"/>
            <a:ext cx="1088136" cy="237744"/>
          </a:xfrm>
          <a:prstGeom prst="roundRect">
            <a:avLst>
              <a:gd name="adj" fmla="val 50000"/>
            </a:avLst>
          </a:prstGeom>
          <a:solidFill>
            <a:srgbClr val="FEF2F2"/>
          </a:solidFill>
          <a:ln w="6350">
            <a:solidFill>
              <a:srgbClr val="FEF2F2"/>
            </a:solidFill>
            <a:prstDash val="solid"/>
          </a:ln>
        </p:spPr>
      </p:sp>
      <p:sp>
        <p:nvSpPr>
          <p:cNvPr id="10" name="Text 8"/>
          <p:cNvSpPr/>
          <p:nvPr/>
        </p:nvSpPr>
        <p:spPr>
          <a:xfrm>
            <a:off x="749808" y="3511296"/>
            <a:ext cx="1088136" cy="237744"/>
          </a:xfrm>
          <a:prstGeom prst="rect">
            <a:avLst/>
          </a:prstGeom>
          <a:noFill/>
          <a:ln/>
        </p:spPr>
        <p:txBody>
          <a:bodyPr wrap="square" lIns="0" tIns="0" rIns="0" bIns="0" rtlCol="0" anchor="ctr"/>
          <a:lstStyle/>
          <a:p>
            <a:pPr algn="ctr" indent="0" marL="0">
              <a:buNone/>
            </a:pPr>
            <a:r>
              <a:rPr lang="en-US" sz="950" b="1" dirty="0">
                <a:solidFill>
                  <a:srgbClr val="DC2626"/>
                </a:solidFill>
                <a:latin typeface="Calibri" pitchFamily="34" charset="0"/>
                <a:ea typeface="Calibri" pitchFamily="34" charset="-122"/>
                <a:cs typeface="Calibri" pitchFamily="34" charset="-120"/>
              </a:rPr>
              <a:t>GATE</a:t>
            </a:r>
            <a:endParaRPr lang="en-US" sz="950" dirty="0"/>
          </a:p>
        </p:txBody>
      </p:sp>
      <p:sp>
        <p:nvSpPr>
          <p:cNvPr id="11" name="Shape 9"/>
          <p:cNvSpPr/>
          <p:nvPr/>
        </p:nvSpPr>
        <p:spPr>
          <a:xfrm>
            <a:off x="2171700" y="2231136"/>
            <a:ext cx="1453896" cy="1664208"/>
          </a:xfrm>
          <a:prstGeom prst="roundRect">
            <a:avLst>
              <a:gd name="adj" fmla="val 566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2" name="Shape 10"/>
          <p:cNvSpPr/>
          <p:nvPr/>
        </p:nvSpPr>
        <p:spPr>
          <a:xfrm>
            <a:off x="2679192" y="2414016"/>
            <a:ext cx="438912" cy="438912"/>
          </a:xfrm>
          <a:prstGeom prst="ellipse">
            <a:avLst/>
          </a:prstGeom>
          <a:solidFill>
            <a:srgbClr val="0C6A73"/>
          </a:solidFill>
          <a:ln w="6350">
            <a:solidFill>
              <a:srgbClr val="0C6A73"/>
            </a:solidFill>
            <a:prstDash val="solid"/>
          </a:ln>
        </p:spPr>
      </p:sp>
      <p:sp>
        <p:nvSpPr>
          <p:cNvPr id="13" name="Text 11"/>
          <p:cNvSpPr/>
          <p:nvPr/>
        </p:nvSpPr>
        <p:spPr>
          <a:xfrm>
            <a:off x="2679192" y="24140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2226564" y="2944368"/>
            <a:ext cx="1344168" cy="548640"/>
          </a:xfrm>
          <a:prstGeom prst="rect">
            <a:avLst/>
          </a:prstGeom>
          <a:noFill/>
          <a:ln/>
        </p:spPr>
        <p:txBody>
          <a:bodyPr wrap="square" lIns="0" tIns="0" rIns="0" bIns="0" rtlCol="0" anchor="t"/>
          <a:lstStyle/>
          <a:p>
            <a:pPr algn="ctr" indent="0" marL="0">
              <a:lnSpc>
                <a:spcPct val="105000"/>
              </a:lnSpc>
              <a:buNone/>
            </a:pPr>
            <a:r>
              <a:rPr lang="en-US" sz="1150" b="1" dirty="0">
                <a:solidFill>
                  <a:srgbClr val="1C1E21"/>
                </a:solidFill>
                <a:latin typeface="Calibri" pitchFamily="34" charset="0"/>
                <a:ea typeface="Calibri" pitchFamily="34" charset="-122"/>
                <a:cs typeface="Calibri" pitchFamily="34" charset="-120"/>
              </a:rPr>
              <a:t>Sensitising history</a:t>
            </a:r>
            <a:endParaRPr lang="en-US" sz="1150" dirty="0"/>
          </a:p>
        </p:txBody>
      </p:sp>
      <p:sp>
        <p:nvSpPr>
          <p:cNvPr id="15" name="Shape 13"/>
          <p:cNvSpPr/>
          <p:nvPr/>
        </p:nvSpPr>
        <p:spPr>
          <a:xfrm>
            <a:off x="2354580" y="3511296"/>
            <a:ext cx="1088136" cy="237744"/>
          </a:xfrm>
          <a:prstGeom prst="roundRect">
            <a:avLst>
              <a:gd name="adj" fmla="val 50000"/>
            </a:avLst>
          </a:prstGeom>
          <a:solidFill>
            <a:srgbClr val="EDEFF1"/>
          </a:solidFill>
          <a:ln w="6350">
            <a:solidFill>
              <a:srgbClr val="EDEFF1"/>
            </a:solidFill>
            <a:prstDash val="solid"/>
          </a:ln>
        </p:spPr>
      </p:sp>
      <p:sp>
        <p:nvSpPr>
          <p:cNvPr id="16" name="Text 14"/>
          <p:cNvSpPr/>
          <p:nvPr/>
        </p:nvSpPr>
        <p:spPr>
          <a:xfrm>
            <a:off x="2354580" y="3511296"/>
            <a:ext cx="1088136" cy="237744"/>
          </a:xfrm>
          <a:prstGeom prst="rect">
            <a:avLst/>
          </a:prstGeom>
          <a:noFill/>
          <a:ln/>
        </p:spPr>
        <p:txBody>
          <a:bodyPr wrap="square" lIns="0" tIns="0" rIns="0" bIns="0" rtlCol="0" anchor="ctr"/>
          <a:lstStyle/>
          <a:p>
            <a:pPr algn="ctr" indent="0" marL="0">
              <a:buNone/>
            </a:pPr>
            <a:r>
              <a:rPr lang="en-US" sz="950" b="1" dirty="0">
                <a:solidFill>
                  <a:srgbClr val="6B7280"/>
                </a:solidFill>
                <a:latin typeface="Calibri" pitchFamily="34" charset="0"/>
                <a:ea typeface="Calibri" pitchFamily="34" charset="-122"/>
                <a:cs typeface="Calibri" pitchFamily="34" charset="-120"/>
              </a:rPr>
              <a:t>MEASURED</a:t>
            </a:r>
            <a:endParaRPr lang="en-US" sz="950" dirty="0"/>
          </a:p>
        </p:txBody>
      </p:sp>
      <p:sp>
        <p:nvSpPr>
          <p:cNvPr id="17" name="Shape 15"/>
          <p:cNvSpPr/>
          <p:nvPr/>
        </p:nvSpPr>
        <p:spPr>
          <a:xfrm>
            <a:off x="3776472" y="2231136"/>
            <a:ext cx="1453896" cy="1664208"/>
          </a:xfrm>
          <a:prstGeom prst="roundRect">
            <a:avLst>
              <a:gd name="adj" fmla="val 566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8" name="Shape 16"/>
          <p:cNvSpPr/>
          <p:nvPr/>
        </p:nvSpPr>
        <p:spPr>
          <a:xfrm>
            <a:off x="4283964" y="2414016"/>
            <a:ext cx="438912" cy="438912"/>
          </a:xfrm>
          <a:prstGeom prst="ellipse">
            <a:avLst/>
          </a:prstGeom>
          <a:solidFill>
            <a:srgbClr val="0C6A73"/>
          </a:solidFill>
          <a:ln w="6350">
            <a:solidFill>
              <a:srgbClr val="0C6A73"/>
            </a:solidFill>
            <a:prstDash val="solid"/>
          </a:ln>
        </p:spPr>
      </p:sp>
      <p:sp>
        <p:nvSpPr>
          <p:cNvPr id="19" name="Text 17"/>
          <p:cNvSpPr/>
          <p:nvPr/>
        </p:nvSpPr>
        <p:spPr>
          <a:xfrm>
            <a:off x="4283964" y="24140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3831336" y="2944368"/>
            <a:ext cx="1344168" cy="548640"/>
          </a:xfrm>
          <a:prstGeom prst="rect">
            <a:avLst/>
          </a:prstGeom>
          <a:noFill/>
          <a:ln/>
        </p:spPr>
        <p:txBody>
          <a:bodyPr wrap="square" lIns="0" tIns="0" rIns="0" bIns="0" rtlCol="0" anchor="t"/>
          <a:lstStyle/>
          <a:p>
            <a:pPr algn="ctr" indent="0" marL="0">
              <a:lnSpc>
                <a:spcPct val="105000"/>
              </a:lnSpc>
              <a:buNone/>
            </a:pPr>
            <a:r>
              <a:rPr lang="en-US" sz="1150" b="1" dirty="0">
                <a:solidFill>
                  <a:srgbClr val="1C1E21"/>
                </a:solidFill>
                <a:latin typeface="Calibri" pitchFamily="34" charset="0"/>
                <a:ea typeface="Calibri" pitchFamily="34" charset="-122"/>
                <a:cs typeface="Calibri" pitchFamily="34" charset="-120"/>
              </a:rPr>
              <a:t>HLA mismatch</a:t>
            </a:r>
            <a:endParaRPr lang="en-US" sz="1150" dirty="0"/>
          </a:p>
        </p:txBody>
      </p:sp>
      <p:sp>
        <p:nvSpPr>
          <p:cNvPr id="21" name="Shape 19"/>
          <p:cNvSpPr/>
          <p:nvPr/>
        </p:nvSpPr>
        <p:spPr>
          <a:xfrm>
            <a:off x="3959352" y="3511296"/>
            <a:ext cx="1088136" cy="237744"/>
          </a:xfrm>
          <a:prstGeom prst="roundRect">
            <a:avLst>
              <a:gd name="adj" fmla="val 50000"/>
            </a:avLst>
          </a:prstGeom>
          <a:solidFill>
            <a:srgbClr val="FEF2F2"/>
          </a:solidFill>
          <a:ln w="6350">
            <a:solidFill>
              <a:srgbClr val="FEF2F2"/>
            </a:solidFill>
            <a:prstDash val="solid"/>
          </a:ln>
        </p:spPr>
      </p:sp>
      <p:sp>
        <p:nvSpPr>
          <p:cNvPr id="22" name="Text 20"/>
          <p:cNvSpPr/>
          <p:nvPr/>
        </p:nvSpPr>
        <p:spPr>
          <a:xfrm>
            <a:off x="3959352" y="3511296"/>
            <a:ext cx="1088136" cy="237744"/>
          </a:xfrm>
          <a:prstGeom prst="rect">
            <a:avLst/>
          </a:prstGeom>
          <a:noFill/>
          <a:ln/>
        </p:spPr>
        <p:txBody>
          <a:bodyPr wrap="square" lIns="0" tIns="0" rIns="0" bIns="0" rtlCol="0" anchor="ctr"/>
          <a:lstStyle/>
          <a:p>
            <a:pPr algn="ctr" indent="0" marL="0">
              <a:buNone/>
            </a:pPr>
            <a:r>
              <a:rPr lang="en-US" sz="950" b="1" dirty="0">
                <a:solidFill>
                  <a:srgbClr val="DC2626"/>
                </a:solidFill>
                <a:latin typeface="Calibri" pitchFamily="34" charset="0"/>
                <a:ea typeface="Calibri" pitchFamily="34" charset="-122"/>
                <a:cs typeface="Calibri" pitchFamily="34" charset="-120"/>
              </a:rPr>
              <a:t>GATE</a:t>
            </a:r>
            <a:endParaRPr lang="en-US" sz="950" dirty="0"/>
          </a:p>
        </p:txBody>
      </p:sp>
      <p:sp>
        <p:nvSpPr>
          <p:cNvPr id="23" name="Shape 21"/>
          <p:cNvSpPr/>
          <p:nvPr/>
        </p:nvSpPr>
        <p:spPr>
          <a:xfrm>
            <a:off x="5381244" y="2231136"/>
            <a:ext cx="1453896" cy="1664208"/>
          </a:xfrm>
          <a:prstGeom prst="roundRect">
            <a:avLst>
              <a:gd name="adj" fmla="val 566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24" name="Shape 22"/>
          <p:cNvSpPr/>
          <p:nvPr/>
        </p:nvSpPr>
        <p:spPr>
          <a:xfrm>
            <a:off x="5888736" y="2414016"/>
            <a:ext cx="438912" cy="438912"/>
          </a:xfrm>
          <a:prstGeom prst="ellipse">
            <a:avLst/>
          </a:prstGeom>
          <a:solidFill>
            <a:srgbClr val="0C6A73"/>
          </a:solidFill>
          <a:ln w="6350">
            <a:solidFill>
              <a:srgbClr val="0C6A73"/>
            </a:solidFill>
            <a:prstDash val="solid"/>
          </a:ln>
        </p:spPr>
      </p:sp>
      <p:sp>
        <p:nvSpPr>
          <p:cNvPr id="25" name="Text 23"/>
          <p:cNvSpPr/>
          <p:nvPr/>
        </p:nvSpPr>
        <p:spPr>
          <a:xfrm>
            <a:off x="5888736" y="24140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4"/>
          <p:cNvSpPr/>
          <p:nvPr/>
        </p:nvSpPr>
        <p:spPr>
          <a:xfrm>
            <a:off x="5436108" y="2944368"/>
            <a:ext cx="1344168" cy="548640"/>
          </a:xfrm>
          <a:prstGeom prst="rect">
            <a:avLst/>
          </a:prstGeom>
          <a:noFill/>
          <a:ln/>
        </p:spPr>
        <p:txBody>
          <a:bodyPr wrap="square" lIns="0" tIns="0" rIns="0" bIns="0" rtlCol="0" anchor="t"/>
          <a:lstStyle/>
          <a:p>
            <a:pPr algn="ctr" indent="0" marL="0">
              <a:lnSpc>
                <a:spcPct val="105000"/>
              </a:lnSpc>
              <a:buNone/>
            </a:pPr>
            <a:r>
              <a:rPr lang="en-US" sz="1150" b="1" dirty="0">
                <a:solidFill>
                  <a:srgbClr val="1C1E21"/>
                </a:solidFill>
                <a:latin typeface="Calibri" pitchFamily="34" charset="0"/>
                <a:ea typeface="Calibri" pitchFamily="34" charset="-122"/>
                <a:cs typeface="Calibri" pitchFamily="34" charset="-120"/>
              </a:rPr>
              <a:t>cPRA</a:t>
            </a:r>
            <a:endParaRPr lang="en-US" sz="1150" dirty="0"/>
          </a:p>
        </p:txBody>
      </p:sp>
      <p:sp>
        <p:nvSpPr>
          <p:cNvPr id="27" name="Shape 25"/>
          <p:cNvSpPr/>
          <p:nvPr/>
        </p:nvSpPr>
        <p:spPr>
          <a:xfrm>
            <a:off x="5564124" y="3511296"/>
            <a:ext cx="1088136" cy="237744"/>
          </a:xfrm>
          <a:prstGeom prst="roundRect">
            <a:avLst>
              <a:gd name="adj" fmla="val 50000"/>
            </a:avLst>
          </a:prstGeom>
          <a:solidFill>
            <a:srgbClr val="EDEFF1"/>
          </a:solidFill>
          <a:ln w="6350">
            <a:solidFill>
              <a:srgbClr val="EDEFF1"/>
            </a:solidFill>
            <a:prstDash val="solid"/>
          </a:ln>
        </p:spPr>
      </p:sp>
      <p:sp>
        <p:nvSpPr>
          <p:cNvPr id="28" name="Text 26"/>
          <p:cNvSpPr/>
          <p:nvPr/>
        </p:nvSpPr>
        <p:spPr>
          <a:xfrm>
            <a:off x="5564124" y="3511296"/>
            <a:ext cx="1088136" cy="237744"/>
          </a:xfrm>
          <a:prstGeom prst="rect">
            <a:avLst/>
          </a:prstGeom>
          <a:noFill/>
          <a:ln/>
        </p:spPr>
        <p:txBody>
          <a:bodyPr wrap="square" lIns="0" tIns="0" rIns="0" bIns="0" rtlCol="0" anchor="ctr"/>
          <a:lstStyle/>
          <a:p>
            <a:pPr algn="ctr" indent="0" marL="0">
              <a:buNone/>
            </a:pPr>
            <a:r>
              <a:rPr lang="en-US" sz="950" b="1" dirty="0">
                <a:solidFill>
                  <a:srgbClr val="6B7280"/>
                </a:solidFill>
                <a:latin typeface="Calibri" pitchFamily="34" charset="0"/>
                <a:ea typeface="Calibri" pitchFamily="34" charset="-122"/>
                <a:cs typeface="Calibri" pitchFamily="34" charset="-120"/>
              </a:rPr>
              <a:t>MEASURED</a:t>
            </a:r>
            <a:endParaRPr lang="en-US" sz="950" dirty="0"/>
          </a:p>
        </p:txBody>
      </p:sp>
      <p:sp>
        <p:nvSpPr>
          <p:cNvPr id="29" name="Shape 27"/>
          <p:cNvSpPr/>
          <p:nvPr/>
        </p:nvSpPr>
        <p:spPr>
          <a:xfrm>
            <a:off x="6986016" y="2231136"/>
            <a:ext cx="1453896" cy="1664208"/>
          </a:xfrm>
          <a:prstGeom prst="roundRect">
            <a:avLst>
              <a:gd name="adj" fmla="val 566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30" name="Shape 28"/>
          <p:cNvSpPr/>
          <p:nvPr/>
        </p:nvSpPr>
        <p:spPr>
          <a:xfrm>
            <a:off x="7493508" y="2414016"/>
            <a:ext cx="438912" cy="438912"/>
          </a:xfrm>
          <a:prstGeom prst="ellipse">
            <a:avLst/>
          </a:prstGeom>
          <a:solidFill>
            <a:srgbClr val="0C6A73"/>
          </a:solidFill>
          <a:ln w="6350">
            <a:solidFill>
              <a:srgbClr val="0C6A73"/>
            </a:solidFill>
            <a:prstDash val="solid"/>
          </a:ln>
        </p:spPr>
      </p:sp>
      <p:sp>
        <p:nvSpPr>
          <p:cNvPr id="31" name="Text 29"/>
          <p:cNvSpPr/>
          <p:nvPr/>
        </p:nvSpPr>
        <p:spPr>
          <a:xfrm>
            <a:off x="7493508" y="24140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2" name="Text 30"/>
          <p:cNvSpPr/>
          <p:nvPr/>
        </p:nvSpPr>
        <p:spPr>
          <a:xfrm>
            <a:off x="7040880" y="2944368"/>
            <a:ext cx="1344168" cy="548640"/>
          </a:xfrm>
          <a:prstGeom prst="rect">
            <a:avLst/>
          </a:prstGeom>
          <a:noFill/>
          <a:ln/>
        </p:spPr>
        <p:txBody>
          <a:bodyPr wrap="square" lIns="0" tIns="0" rIns="0" bIns="0" rtlCol="0" anchor="t"/>
          <a:lstStyle/>
          <a:p>
            <a:pPr algn="ctr" indent="0" marL="0">
              <a:lnSpc>
                <a:spcPct val="105000"/>
              </a:lnSpc>
              <a:buNone/>
            </a:pPr>
            <a:r>
              <a:rPr lang="en-US" sz="1150" b="1" dirty="0">
                <a:solidFill>
                  <a:srgbClr val="1C1E21"/>
                </a:solidFill>
                <a:latin typeface="Calibri" pitchFamily="34" charset="0"/>
                <a:ea typeface="Calibri" pitchFamily="34" charset="-122"/>
                <a:cs typeface="Calibri" pitchFamily="34" charset="-120"/>
              </a:rPr>
              <a:t>Donor antibody</a:t>
            </a:r>
            <a:endParaRPr lang="en-US" sz="1150" dirty="0"/>
          </a:p>
        </p:txBody>
      </p:sp>
      <p:sp>
        <p:nvSpPr>
          <p:cNvPr id="33" name="Shape 31"/>
          <p:cNvSpPr/>
          <p:nvPr/>
        </p:nvSpPr>
        <p:spPr>
          <a:xfrm>
            <a:off x="7168896" y="3511296"/>
            <a:ext cx="1088136" cy="237744"/>
          </a:xfrm>
          <a:prstGeom prst="roundRect">
            <a:avLst>
              <a:gd name="adj" fmla="val 50000"/>
            </a:avLst>
          </a:prstGeom>
          <a:solidFill>
            <a:srgbClr val="FEF2F2"/>
          </a:solidFill>
          <a:ln w="6350">
            <a:solidFill>
              <a:srgbClr val="FEF2F2"/>
            </a:solidFill>
            <a:prstDash val="solid"/>
          </a:ln>
        </p:spPr>
      </p:sp>
      <p:sp>
        <p:nvSpPr>
          <p:cNvPr id="34" name="Text 32"/>
          <p:cNvSpPr/>
          <p:nvPr/>
        </p:nvSpPr>
        <p:spPr>
          <a:xfrm>
            <a:off x="7168896" y="3511296"/>
            <a:ext cx="1088136" cy="237744"/>
          </a:xfrm>
          <a:prstGeom prst="rect">
            <a:avLst/>
          </a:prstGeom>
          <a:noFill/>
          <a:ln/>
        </p:spPr>
        <p:txBody>
          <a:bodyPr wrap="square" lIns="0" tIns="0" rIns="0" bIns="0" rtlCol="0" anchor="ctr"/>
          <a:lstStyle/>
          <a:p>
            <a:pPr algn="ctr" indent="0" marL="0">
              <a:buNone/>
            </a:pPr>
            <a:r>
              <a:rPr lang="en-US" sz="950" b="1" dirty="0">
                <a:solidFill>
                  <a:srgbClr val="DC2626"/>
                </a:solidFill>
                <a:latin typeface="Calibri" pitchFamily="34" charset="0"/>
                <a:ea typeface="Calibri" pitchFamily="34" charset="-122"/>
                <a:cs typeface="Calibri" pitchFamily="34" charset="-120"/>
              </a:rPr>
              <a:t>GATE</a:t>
            </a:r>
            <a:endParaRPr lang="en-US" sz="950" dirty="0"/>
          </a:p>
        </p:txBody>
      </p:sp>
      <p:sp>
        <p:nvSpPr>
          <p:cNvPr id="35" name="Shape 33"/>
          <p:cNvSpPr/>
          <p:nvPr/>
        </p:nvSpPr>
        <p:spPr>
          <a:xfrm>
            <a:off x="8590788" y="2231136"/>
            <a:ext cx="1453896" cy="1664208"/>
          </a:xfrm>
          <a:prstGeom prst="roundRect">
            <a:avLst>
              <a:gd name="adj" fmla="val 566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36" name="Shape 34"/>
          <p:cNvSpPr/>
          <p:nvPr/>
        </p:nvSpPr>
        <p:spPr>
          <a:xfrm>
            <a:off x="9098280" y="2414016"/>
            <a:ext cx="438912" cy="438912"/>
          </a:xfrm>
          <a:prstGeom prst="ellipse">
            <a:avLst/>
          </a:prstGeom>
          <a:solidFill>
            <a:srgbClr val="0C6A73"/>
          </a:solidFill>
          <a:ln w="6350">
            <a:solidFill>
              <a:srgbClr val="0C6A73"/>
            </a:solidFill>
            <a:prstDash val="solid"/>
          </a:ln>
        </p:spPr>
      </p:sp>
      <p:sp>
        <p:nvSpPr>
          <p:cNvPr id="37" name="Text 35"/>
          <p:cNvSpPr/>
          <p:nvPr/>
        </p:nvSpPr>
        <p:spPr>
          <a:xfrm>
            <a:off x="9098280" y="24140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8" name="Text 36"/>
          <p:cNvSpPr/>
          <p:nvPr/>
        </p:nvSpPr>
        <p:spPr>
          <a:xfrm>
            <a:off x="8645652" y="2944368"/>
            <a:ext cx="1344168" cy="548640"/>
          </a:xfrm>
          <a:prstGeom prst="rect">
            <a:avLst/>
          </a:prstGeom>
          <a:noFill/>
          <a:ln/>
        </p:spPr>
        <p:txBody>
          <a:bodyPr wrap="square" lIns="0" tIns="0" rIns="0" bIns="0" rtlCol="0" anchor="t"/>
          <a:lstStyle/>
          <a:p>
            <a:pPr algn="ctr" indent="0" marL="0">
              <a:lnSpc>
                <a:spcPct val="105000"/>
              </a:lnSpc>
              <a:buNone/>
            </a:pPr>
            <a:r>
              <a:rPr lang="en-US" sz="1150" b="1" dirty="0">
                <a:solidFill>
                  <a:srgbClr val="1C1E21"/>
                </a:solidFill>
                <a:latin typeface="Calibri" pitchFamily="34" charset="0"/>
                <a:ea typeface="Calibri" pitchFamily="34" charset="-122"/>
                <a:cs typeface="Calibri" pitchFamily="34" charset="-120"/>
              </a:rPr>
              <a:t>Crossmatch</a:t>
            </a:r>
            <a:endParaRPr lang="en-US" sz="1150" dirty="0"/>
          </a:p>
        </p:txBody>
      </p:sp>
      <p:sp>
        <p:nvSpPr>
          <p:cNvPr id="39" name="Shape 37"/>
          <p:cNvSpPr/>
          <p:nvPr/>
        </p:nvSpPr>
        <p:spPr>
          <a:xfrm>
            <a:off x="8773668" y="3511296"/>
            <a:ext cx="1088136" cy="237744"/>
          </a:xfrm>
          <a:prstGeom prst="roundRect">
            <a:avLst>
              <a:gd name="adj" fmla="val 50000"/>
            </a:avLst>
          </a:prstGeom>
          <a:solidFill>
            <a:srgbClr val="FEF2F2"/>
          </a:solidFill>
          <a:ln w="6350">
            <a:solidFill>
              <a:srgbClr val="FEF2F2"/>
            </a:solidFill>
            <a:prstDash val="solid"/>
          </a:ln>
        </p:spPr>
      </p:sp>
      <p:sp>
        <p:nvSpPr>
          <p:cNvPr id="40" name="Text 38"/>
          <p:cNvSpPr/>
          <p:nvPr/>
        </p:nvSpPr>
        <p:spPr>
          <a:xfrm>
            <a:off x="8773668" y="3511296"/>
            <a:ext cx="1088136" cy="237744"/>
          </a:xfrm>
          <a:prstGeom prst="rect">
            <a:avLst/>
          </a:prstGeom>
          <a:noFill/>
          <a:ln/>
        </p:spPr>
        <p:txBody>
          <a:bodyPr wrap="square" lIns="0" tIns="0" rIns="0" bIns="0" rtlCol="0" anchor="ctr"/>
          <a:lstStyle/>
          <a:p>
            <a:pPr algn="ctr" indent="0" marL="0">
              <a:buNone/>
            </a:pPr>
            <a:r>
              <a:rPr lang="en-US" sz="950" b="1" dirty="0">
                <a:solidFill>
                  <a:srgbClr val="DC2626"/>
                </a:solidFill>
                <a:latin typeface="Calibri" pitchFamily="34" charset="0"/>
                <a:ea typeface="Calibri" pitchFamily="34" charset="-122"/>
                <a:cs typeface="Calibri" pitchFamily="34" charset="-120"/>
              </a:rPr>
              <a:t>GATE</a:t>
            </a:r>
            <a:endParaRPr lang="en-US" sz="950" dirty="0"/>
          </a:p>
        </p:txBody>
      </p:sp>
      <p:sp>
        <p:nvSpPr>
          <p:cNvPr id="41" name="Shape 39"/>
          <p:cNvSpPr/>
          <p:nvPr/>
        </p:nvSpPr>
        <p:spPr>
          <a:xfrm>
            <a:off x="10195560" y="2231136"/>
            <a:ext cx="1453896" cy="1664208"/>
          </a:xfrm>
          <a:prstGeom prst="roundRect">
            <a:avLst>
              <a:gd name="adj" fmla="val 566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42" name="Shape 40"/>
          <p:cNvSpPr/>
          <p:nvPr/>
        </p:nvSpPr>
        <p:spPr>
          <a:xfrm>
            <a:off x="10703052" y="2414016"/>
            <a:ext cx="438912" cy="438912"/>
          </a:xfrm>
          <a:prstGeom prst="ellipse">
            <a:avLst/>
          </a:prstGeom>
          <a:solidFill>
            <a:srgbClr val="0C6A73"/>
          </a:solidFill>
          <a:ln w="6350">
            <a:solidFill>
              <a:srgbClr val="0C6A73"/>
            </a:solidFill>
            <a:prstDash val="solid"/>
          </a:ln>
        </p:spPr>
      </p:sp>
      <p:sp>
        <p:nvSpPr>
          <p:cNvPr id="43" name="Text 41"/>
          <p:cNvSpPr/>
          <p:nvPr/>
        </p:nvSpPr>
        <p:spPr>
          <a:xfrm>
            <a:off x="10703052" y="24140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4" name="Text 42"/>
          <p:cNvSpPr/>
          <p:nvPr/>
        </p:nvSpPr>
        <p:spPr>
          <a:xfrm>
            <a:off x="10250424" y="2944368"/>
            <a:ext cx="1344168" cy="548640"/>
          </a:xfrm>
          <a:prstGeom prst="rect">
            <a:avLst/>
          </a:prstGeom>
          <a:noFill/>
          <a:ln/>
        </p:spPr>
        <p:txBody>
          <a:bodyPr wrap="square" lIns="0" tIns="0" rIns="0" bIns="0" rtlCol="0" anchor="t"/>
          <a:lstStyle/>
          <a:p>
            <a:pPr algn="ctr" indent="0" marL="0">
              <a:lnSpc>
                <a:spcPct val="105000"/>
              </a:lnSpc>
              <a:buNone/>
            </a:pPr>
            <a:r>
              <a:rPr lang="en-US" sz="1150" b="1" dirty="0">
                <a:solidFill>
                  <a:srgbClr val="1C1E21"/>
                </a:solidFill>
                <a:latin typeface="Calibri" pitchFamily="34" charset="0"/>
                <a:ea typeface="Calibri" pitchFamily="34" charset="-122"/>
                <a:cs typeface="Calibri" pitchFamily="34" charset="-120"/>
              </a:rPr>
              <a:t>Risk level</a:t>
            </a:r>
            <a:endParaRPr lang="en-US" sz="1150" dirty="0"/>
          </a:p>
        </p:txBody>
      </p:sp>
      <p:sp>
        <p:nvSpPr>
          <p:cNvPr id="45" name="Shape 43"/>
          <p:cNvSpPr/>
          <p:nvPr/>
        </p:nvSpPr>
        <p:spPr>
          <a:xfrm>
            <a:off x="10378440" y="3511296"/>
            <a:ext cx="1088136" cy="237744"/>
          </a:xfrm>
          <a:prstGeom prst="roundRect">
            <a:avLst>
              <a:gd name="adj" fmla="val 50000"/>
            </a:avLst>
          </a:prstGeom>
          <a:solidFill>
            <a:srgbClr val="F0FDF4"/>
          </a:solidFill>
          <a:ln w="6350">
            <a:solidFill>
              <a:srgbClr val="F0FDF4"/>
            </a:solidFill>
            <a:prstDash val="solid"/>
          </a:ln>
        </p:spPr>
      </p:sp>
      <p:sp>
        <p:nvSpPr>
          <p:cNvPr id="46" name="Text 44"/>
          <p:cNvSpPr/>
          <p:nvPr/>
        </p:nvSpPr>
        <p:spPr>
          <a:xfrm>
            <a:off x="10378440" y="3511296"/>
            <a:ext cx="1088136" cy="237744"/>
          </a:xfrm>
          <a:prstGeom prst="rect">
            <a:avLst/>
          </a:prstGeom>
          <a:noFill/>
          <a:ln/>
        </p:spPr>
        <p:txBody>
          <a:bodyPr wrap="square" lIns="0" tIns="0" rIns="0" bIns="0" rtlCol="0" anchor="ctr"/>
          <a:lstStyle/>
          <a:p>
            <a:pPr algn="ctr" indent="0" marL="0">
              <a:buNone/>
            </a:pPr>
            <a:r>
              <a:rPr lang="en-US" sz="950" b="1" dirty="0">
                <a:solidFill>
                  <a:srgbClr val="16A34A"/>
                </a:solidFill>
                <a:latin typeface="Calibri" pitchFamily="34" charset="0"/>
                <a:ea typeface="Calibri" pitchFamily="34" charset="-122"/>
                <a:cs typeface="Calibri" pitchFamily="34" charset="-120"/>
              </a:rPr>
              <a:t>RESULT</a:t>
            </a:r>
            <a:endParaRPr lang="en-US" sz="950" dirty="0"/>
          </a:p>
        </p:txBody>
      </p:sp>
      <p:sp>
        <p:nvSpPr>
          <p:cNvPr id="47" name="Text 45"/>
          <p:cNvSpPr/>
          <p:nvPr/>
        </p:nvSpPr>
        <p:spPr>
          <a:xfrm>
            <a:off x="566928" y="4133088"/>
            <a:ext cx="3657600" cy="256032"/>
          </a:xfrm>
          <a:prstGeom prst="rect">
            <a:avLst/>
          </a:prstGeom>
          <a:noFill/>
          <a:ln/>
        </p:spPr>
        <p:txBody>
          <a:bodyPr wrap="square" lIns="0" tIns="0" rIns="0" bIns="0" rtlCol="0" anchor="ctr"/>
          <a:lstStyle/>
          <a:p>
            <a:pPr indent="0" marL="0">
              <a:buNone/>
            </a:pPr>
            <a:r>
              <a:rPr lang="en-US" sz="1150" b="1" dirty="0">
                <a:solidFill>
                  <a:srgbClr val="DC2626"/>
                </a:solidFill>
                <a:latin typeface="Calibri" pitchFamily="34" charset="0"/>
                <a:ea typeface="Calibri" pitchFamily="34" charset="-122"/>
                <a:cs typeface="Calibri" pitchFamily="34" charset="-120"/>
              </a:rPr>
              <a:t>GATE — can stop the check</a:t>
            </a:r>
            <a:endParaRPr lang="en-US" sz="1150" dirty="0"/>
          </a:p>
        </p:txBody>
      </p:sp>
      <p:sp>
        <p:nvSpPr>
          <p:cNvPr id="48" name="Text 46"/>
          <p:cNvSpPr/>
          <p:nvPr/>
        </p:nvSpPr>
        <p:spPr>
          <a:xfrm>
            <a:off x="4315968" y="4133088"/>
            <a:ext cx="4937760" cy="256032"/>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MEASURED — recorded and reported, never stops the check</a:t>
            </a:r>
            <a:endParaRPr lang="en-US" sz="1150" dirty="0"/>
          </a:p>
        </p:txBody>
      </p:sp>
      <p:sp>
        <p:nvSpPr>
          <p:cNvPr id="49" name="Shape 47"/>
          <p:cNvSpPr/>
          <p:nvPr/>
        </p:nvSpPr>
        <p:spPr>
          <a:xfrm>
            <a:off x="566928" y="4663440"/>
            <a:ext cx="11055096" cy="841248"/>
          </a:xfrm>
          <a:prstGeom prst="roundRect">
            <a:avLst>
              <a:gd name="adj" fmla="val 8696"/>
            </a:avLst>
          </a:prstGeom>
          <a:solidFill>
            <a:srgbClr val="E8F4F3"/>
          </a:solidFill>
          <a:ln w="11430">
            <a:solidFill>
              <a:srgbClr val="0C6A73"/>
            </a:solidFill>
            <a:prstDash val="solid"/>
          </a:ln>
        </p:spPr>
      </p:sp>
      <p:sp>
        <p:nvSpPr>
          <p:cNvPr id="50" name="Text 48"/>
          <p:cNvSpPr/>
          <p:nvPr/>
        </p:nvSpPr>
        <p:spPr>
          <a:xfrm>
            <a:off x="768096" y="4718304"/>
            <a:ext cx="10652760" cy="731520"/>
          </a:xfrm>
          <a:prstGeom prst="rect">
            <a:avLst/>
          </a:prstGeom>
          <a:noFill/>
          <a:ln/>
        </p:spPr>
        <p:txBody>
          <a:bodyPr wrap="square" lIns="0" tIns="0" rIns="0" bIns="0" rtlCol="0" anchor="ctr"/>
          <a:lstStyle/>
          <a:p>
            <a:pPr indent="0" marL="0">
              <a:lnSpc>
                <a:spcPct val="108000"/>
              </a:lnSpc>
              <a:buNone/>
            </a:pPr>
            <a:r>
              <a:rPr lang="en-US" sz="1150" dirty="0">
                <a:solidFill>
                  <a:srgbClr val="0C6A73"/>
                </a:solidFill>
                <a:latin typeface="Calibri" pitchFamily="34" charset="0"/>
                <a:ea typeface="Calibri" pitchFamily="34" charset="-122"/>
                <a:cs typeface="Calibri" pitchFamily="34" charset="-120"/>
              </a:rPr>
              <a:t>Steps 5 and 6 test this specific donor against this specific recipient. Steps 2 and 4 describe the recipient against the general population — useful context, but they say nothing about whether this donor works, so they are never allowed to reject a pairing.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THE FOUR GATES</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What actually stops a transplant</a:t>
            </a:r>
            <a:endParaRPr lang="en-US" sz="3000" dirty="0"/>
          </a:p>
        </p:txBody>
      </p:sp>
      <p:sp>
        <p:nvSpPr>
          <p:cNvPr id="4" name="Text 2"/>
          <p:cNvSpPr/>
          <p:nvPr/>
        </p:nvSpPr>
        <p:spPr>
          <a:xfrm>
            <a:off x="786384" y="1536192"/>
            <a:ext cx="2560320" cy="237744"/>
          </a:xfrm>
          <a:prstGeom prst="rect">
            <a:avLst/>
          </a:prstGeom>
          <a:noFill/>
          <a:ln/>
        </p:spPr>
        <p:txBody>
          <a:bodyPr wrap="square" lIns="0" tIns="0" rIns="0" bIns="0" rtlCol="0" anchor="ctr"/>
          <a:lstStyle/>
          <a:p>
            <a:pPr indent="0" marL="0">
              <a:buNone/>
            </a:pPr>
            <a:r>
              <a:rPr lang="en-US" sz="950" b="1" spc="120" kern="0" dirty="0">
                <a:solidFill>
                  <a:srgbClr val="6B7280"/>
                </a:solidFill>
                <a:latin typeface="Calibri" pitchFamily="34" charset="0"/>
                <a:ea typeface="Calibri" pitchFamily="34" charset="-122"/>
                <a:cs typeface="Calibri" pitchFamily="34" charset="-120"/>
              </a:rPr>
              <a:t>STEP</a:t>
            </a:r>
            <a:endParaRPr lang="en-US" sz="950" dirty="0"/>
          </a:p>
        </p:txBody>
      </p:sp>
      <p:sp>
        <p:nvSpPr>
          <p:cNvPr id="5" name="Text 3"/>
          <p:cNvSpPr/>
          <p:nvPr/>
        </p:nvSpPr>
        <p:spPr>
          <a:xfrm>
            <a:off x="3584448" y="1536192"/>
            <a:ext cx="4572000" cy="237744"/>
          </a:xfrm>
          <a:prstGeom prst="rect">
            <a:avLst/>
          </a:prstGeom>
          <a:noFill/>
          <a:ln/>
        </p:spPr>
        <p:txBody>
          <a:bodyPr wrap="square" lIns="0" tIns="0" rIns="0" bIns="0" rtlCol="0" anchor="ctr"/>
          <a:lstStyle/>
          <a:p>
            <a:pPr indent="0" marL="0">
              <a:buNone/>
            </a:pPr>
            <a:r>
              <a:rPr lang="en-US" sz="950" b="1" spc="120" kern="0" dirty="0">
                <a:solidFill>
                  <a:srgbClr val="6B7280"/>
                </a:solidFill>
                <a:latin typeface="Calibri" pitchFamily="34" charset="0"/>
                <a:ea typeface="Calibri" pitchFamily="34" charset="-122"/>
                <a:cs typeface="Calibri" pitchFamily="34" charset="-120"/>
              </a:rPr>
              <a:t>WHAT IT CHECKS</a:t>
            </a:r>
            <a:endParaRPr lang="en-US" sz="950" dirty="0"/>
          </a:p>
        </p:txBody>
      </p:sp>
      <p:sp>
        <p:nvSpPr>
          <p:cNvPr id="6" name="Text 4"/>
          <p:cNvSpPr/>
          <p:nvPr/>
        </p:nvSpPr>
        <p:spPr>
          <a:xfrm>
            <a:off x="8430768" y="1536192"/>
            <a:ext cx="2926080" cy="237744"/>
          </a:xfrm>
          <a:prstGeom prst="rect">
            <a:avLst/>
          </a:prstGeom>
          <a:noFill/>
          <a:ln/>
        </p:spPr>
        <p:txBody>
          <a:bodyPr wrap="square" lIns="0" tIns="0" rIns="0" bIns="0" rtlCol="0" anchor="ctr"/>
          <a:lstStyle/>
          <a:p>
            <a:pPr indent="0" marL="0">
              <a:buNone/>
            </a:pPr>
            <a:r>
              <a:rPr lang="en-US" sz="950" b="1" spc="120" kern="0" dirty="0">
                <a:solidFill>
                  <a:srgbClr val="6B7280"/>
                </a:solidFill>
                <a:latin typeface="Calibri" pitchFamily="34" charset="0"/>
                <a:ea typeface="Calibri" pitchFamily="34" charset="-122"/>
                <a:cs typeface="Calibri" pitchFamily="34" charset="-120"/>
              </a:rPr>
              <a:t>WHAT STOPS THE CHECK</a:t>
            </a:r>
            <a:endParaRPr lang="en-US" sz="950" dirty="0"/>
          </a:p>
        </p:txBody>
      </p:sp>
      <p:sp>
        <p:nvSpPr>
          <p:cNvPr id="7" name="Shape 5"/>
          <p:cNvSpPr/>
          <p:nvPr/>
        </p:nvSpPr>
        <p:spPr>
          <a:xfrm>
            <a:off x="566928" y="1847088"/>
            <a:ext cx="11055096" cy="859536"/>
          </a:xfrm>
          <a:prstGeom prst="roundRect">
            <a:avLst>
              <a:gd name="adj" fmla="val 9574"/>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8" name="Text 6"/>
          <p:cNvSpPr/>
          <p:nvPr/>
        </p:nvSpPr>
        <p:spPr>
          <a:xfrm>
            <a:off x="786384" y="1938528"/>
            <a:ext cx="2651760" cy="676656"/>
          </a:xfrm>
          <a:prstGeom prst="rect">
            <a:avLst/>
          </a:prstGeom>
          <a:noFill/>
          <a:ln/>
        </p:spPr>
        <p:txBody>
          <a:bodyPr wrap="square" lIns="0" tIns="0" rIns="0" bIns="0" rtlCol="0" anchor="ctr"/>
          <a:lstStyle/>
          <a:p>
            <a:pPr indent="0" marL="0">
              <a:buNone/>
            </a:pPr>
            <a:r>
              <a:rPr lang="en-US" sz="1250" b="1" dirty="0">
                <a:solidFill>
                  <a:srgbClr val="1C1E21"/>
                </a:solidFill>
                <a:latin typeface="Calibri" pitchFamily="34" charset="0"/>
                <a:ea typeface="Calibri" pitchFamily="34" charset="-122"/>
                <a:cs typeface="Calibri" pitchFamily="34" charset="-120"/>
              </a:rPr>
              <a:t>Blood group (ABO)</a:t>
            </a:r>
            <a:endParaRPr lang="en-US" sz="1250" dirty="0"/>
          </a:p>
        </p:txBody>
      </p:sp>
      <p:sp>
        <p:nvSpPr>
          <p:cNvPr id="9" name="Text 7"/>
          <p:cNvSpPr/>
          <p:nvPr/>
        </p:nvSpPr>
        <p:spPr>
          <a:xfrm>
            <a:off x="3584448" y="1938528"/>
            <a:ext cx="4663440" cy="676656"/>
          </a:xfrm>
          <a:prstGeom prst="rect">
            <a:avLst/>
          </a:prstGeom>
          <a:noFill/>
          <a:ln/>
        </p:spPr>
        <p:txBody>
          <a:bodyPr wrap="square" lIns="0" tIns="0" rIns="0" bIns="0" rtlCol="0" anchor="ctr"/>
          <a:lstStyle/>
          <a:p>
            <a:pPr indent="0" marL="0">
              <a:lnSpc>
                <a:spcPct val="108000"/>
              </a:lnSpc>
              <a:buNone/>
            </a:pPr>
            <a:r>
              <a:rPr lang="en-US" sz="1200" dirty="0">
                <a:solidFill>
                  <a:srgbClr val="6B7280"/>
                </a:solidFill>
                <a:latin typeface="Calibri" pitchFamily="34" charset="0"/>
                <a:ea typeface="Calibri" pitchFamily="34" charset="-122"/>
                <a:cs typeface="Calibri" pitchFamily="34" charset="-120"/>
              </a:rPr>
              <a:t>Recipient and donor ABO compatibility.</a:t>
            </a:r>
            <a:endParaRPr lang="en-US" sz="1200" dirty="0"/>
          </a:p>
        </p:txBody>
      </p:sp>
      <p:sp>
        <p:nvSpPr>
          <p:cNvPr id="10" name="Text 8"/>
          <p:cNvSpPr/>
          <p:nvPr/>
        </p:nvSpPr>
        <p:spPr>
          <a:xfrm>
            <a:off x="8430768" y="1938528"/>
            <a:ext cx="3017520" cy="676656"/>
          </a:xfrm>
          <a:prstGeom prst="rect">
            <a:avLst/>
          </a:prstGeom>
          <a:noFill/>
          <a:ln/>
        </p:spPr>
        <p:txBody>
          <a:bodyPr wrap="square" lIns="0" tIns="0" rIns="0" bIns="0" rtlCol="0" anchor="ctr"/>
          <a:lstStyle/>
          <a:p>
            <a:pPr indent="0" marL="0">
              <a:lnSpc>
                <a:spcPct val="108000"/>
              </a:lnSpc>
              <a:buNone/>
            </a:pPr>
            <a:r>
              <a:rPr lang="en-US" sz="1200" b="1" dirty="0">
                <a:solidFill>
                  <a:srgbClr val="DC2626"/>
                </a:solidFill>
                <a:latin typeface="Calibri" pitchFamily="34" charset="0"/>
                <a:ea typeface="Calibri" pitchFamily="34" charset="-122"/>
                <a:cs typeface="Calibri" pitchFamily="34" charset="-120"/>
              </a:rPr>
              <a:t>Any incompatible combination.</a:t>
            </a:r>
            <a:endParaRPr lang="en-US" sz="1200" dirty="0"/>
          </a:p>
        </p:txBody>
      </p:sp>
      <p:sp>
        <p:nvSpPr>
          <p:cNvPr id="11" name="Shape 9"/>
          <p:cNvSpPr/>
          <p:nvPr/>
        </p:nvSpPr>
        <p:spPr>
          <a:xfrm>
            <a:off x="566928" y="2852928"/>
            <a:ext cx="11055096" cy="859536"/>
          </a:xfrm>
          <a:prstGeom prst="roundRect">
            <a:avLst>
              <a:gd name="adj" fmla="val 9574"/>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2" name="Text 10"/>
          <p:cNvSpPr/>
          <p:nvPr/>
        </p:nvSpPr>
        <p:spPr>
          <a:xfrm>
            <a:off x="786384" y="2944368"/>
            <a:ext cx="2651760" cy="676656"/>
          </a:xfrm>
          <a:prstGeom prst="rect">
            <a:avLst/>
          </a:prstGeom>
          <a:noFill/>
          <a:ln/>
        </p:spPr>
        <p:txBody>
          <a:bodyPr wrap="square" lIns="0" tIns="0" rIns="0" bIns="0" rtlCol="0" anchor="ctr"/>
          <a:lstStyle/>
          <a:p>
            <a:pPr indent="0" marL="0">
              <a:buNone/>
            </a:pPr>
            <a:r>
              <a:rPr lang="en-US" sz="1250" b="1" dirty="0">
                <a:solidFill>
                  <a:srgbClr val="1C1E21"/>
                </a:solidFill>
                <a:latin typeface="Calibri" pitchFamily="34" charset="0"/>
                <a:ea typeface="Calibri" pitchFamily="34" charset="-122"/>
                <a:cs typeface="Calibri" pitchFamily="34" charset="-120"/>
              </a:rPr>
              <a:t>HLA mismatch</a:t>
            </a:r>
            <a:endParaRPr lang="en-US" sz="1250" dirty="0"/>
          </a:p>
        </p:txBody>
      </p:sp>
      <p:sp>
        <p:nvSpPr>
          <p:cNvPr id="13" name="Text 11"/>
          <p:cNvSpPr/>
          <p:nvPr/>
        </p:nvSpPr>
        <p:spPr>
          <a:xfrm>
            <a:off x="3584448" y="2944368"/>
            <a:ext cx="4663440" cy="676656"/>
          </a:xfrm>
          <a:prstGeom prst="rect">
            <a:avLst/>
          </a:prstGeom>
          <a:noFill/>
          <a:ln/>
        </p:spPr>
        <p:txBody>
          <a:bodyPr wrap="square" lIns="0" tIns="0" rIns="0" bIns="0" rtlCol="0" anchor="ctr"/>
          <a:lstStyle/>
          <a:p>
            <a:pPr indent="0" marL="0">
              <a:lnSpc>
                <a:spcPct val="108000"/>
              </a:lnSpc>
              <a:buNone/>
            </a:pPr>
            <a:r>
              <a:rPr lang="en-US" sz="1200" dirty="0">
                <a:solidFill>
                  <a:srgbClr val="6B7280"/>
                </a:solidFill>
                <a:latin typeface="Calibri" pitchFamily="34" charset="0"/>
                <a:ea typeface="Calibri" pitchFamily="34" charset="-122"/>
                <a:cs typeface="Calibri" pitchFamily="34" charset="-120"/>
              </a:rPr>
              <a:t>Donor antigens absent in the recipient, counted across the A, B and DRB1 loci.</a:t>
            </a:r>
            <a:endParaRPr lang="en-US" sz="1200" dirty="0"/>
          </a:p>
        </p:txBody>
      </p:sp>
      <p:sp>
        <p:nvSpPr>
          <p:cNvPr id="14" name="Text 12"/>
          <p:cNvSpPr/>
          <p:nvPr/>
        </p:nvSpPr>
        <p:spPr>
          <a:xfrm>
            <a:off x="8430768" y="2944368"/>
            <a:ext cx="3017520" cy="676656"/>
          </a:xfrm>
          <a:prstGeom prst="rect">
            <a:avLst/>
          </a:prstGeom>
          <a:noFill/>
          <a:ln/>
        </p:spPr>
        <p:txBody>
          <a:bodyPr wrap="square" lIns="0" tIns="0" rIns="0" bIns="0" rtlCol="0" anchor="ctr"/>
          <a:lstStyle/>
          <a:p>
            <a:pPr indent="0" marL="0">
              <a:lnSpc>
                <a:spcPct val="108000"/>
              </a:lnSpc>
              <a:buNone/>
            </a:pPr>
            <a:r>
              <a:rPr lang="en-US" sz="1200" b="1" dirty="0">
                <a:solidFill>
                  <a:srgbClr val="DC2626"/>
                </a:solidFill>
                <a:latin typeface="Calibri" pitchFamily="34" charset="0"/>
                <a:ea typeface="Calibri" pitchFamily="34" charset="-122"/>
                <a:cs typeface="Calibri" pitchFamily="34" charset="-120"/>
              </a:rPr>
              <a:t>A full 6 of 6 mismatch.</a:t>
            </a:r>
            <a:endParaRPr lang="en-US" sz="1200" dirty="0"/>
          </a:p>
        </p:txBody>
      </p:sp>
      <p:sp>
        <p:nvSpPr>
          <p:cNvPr id="15" name="Shape 13"/>
          <p:cNvSpPr/>
          <p:nvPr/>
        </p:nvSpPr>
        <p:spPr>
          <a:xfrm>
            <a:off x="566928" y="3858768"/>
            <a:ext cx="11055096" cy="859536"/>
          </a:xfrm>
          <a:prstGeom prst="roundRect">
            <a:avLst>
              <a:gd name="adj" fmla="val 9574"/>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6" name="Text 14"/>
          <p:cNvSpPr/>
          <p:nvPr/>
        </p:nvSpPr>
        <p:spPr>
          <a:xfrm>
            <a:off x="786384" y="3950208"/>
            <a:ext cx="2651760" cy="676656"/>
          </a:xfrm>
          <a:prstGeom prst="rect">
            <a:avLst/>
          </a:prstGeom>
          <a:noFill/>
          <a:ln/>
        </p:spPr>
        <p:txBody>
          <a:bodyPr wrap="square" lIns="0" tIns="0" rIns="0" bIns="0" rtlCol="0" anchor="ctr"/>
          <a:lstStyle/>
          <a:p>
            <a:pPr indent="0" marL="0">
              <a:buNone/>
            </a:pPr>
            <a:r>
              <a:rPr lang="en-US" sz="1250" b="1" dirty="0">
                <a:solidFill>
                  <a:srgbClr val="1C1E21"/>
                </a:solidFill>
                <a:latin typeface="Calibri" pitchFamily="34" charset="0"/>
                <a:ea typeface="Calibri" pitchFamily="34" charset="-122"/>
                <a:cs typeface="Calibri" pitchFamily="34" charset="-120"/>
              </a:rPr>
              <a:t>Donor-specific antibody</a:t>
            </a:r>
            <a:endParaRPr lang="en-US" sz="1250" dirty="0"/>
          </a:p>
        </p:txBody>
      </p:sp>
      <p:sp>
        <p:nvSpPr>
          <p:cNvPr id="17" name="Text 15"/>
          <p:cNvSpPr/>
          <p:nvPr/>
        </p:nvSpPr>
        <p:spPr>
          <a:xfrm>
            <a:off x="3584448" y="3950208"/>
            <a:ext cx="4663440" cy="676656"/>
          </a:xfrm>
          <a:prstGeom prst="rect">
            <a:avLst/>
          </a:prstGeom>
          <a:noFill/>
          <a:ln/>
        </p:spPr>
        <p:txBody>
          <a:bodyPr wrap="square" lIns="0" tIns="0" rIns="0" bIns="0" rtlCol="0" anchor="ctr"/>
          <a:lstStyle/>
          <a:p>
            <a:pPr indent="0" marL="0">
              <a:lnSpc>
                <a:spcPct val="108000"/>
              </a:lnSpc>
              <a:buNone/>
            </a:pPr>
            <a:r>
              <a:rPr lang="en-US" sz="1200" dirty="0">
                <a:solidFill>
                  <a:srgbClr val="6B7280"/>
                </a:solidFill>
                <a:latin typeface="Calibri" pitchFamily="34" charset="0"/>
                <a:ea typeface="Calibri" pitchFamily="34" charset="-122"/>
                <a:cs typeface="Calibri" pitchFamily="34" charset="-120"/>
              </a:rPr>
              <a:t>Recipient antibodies directed at this donor's antigens, graded by MFI strength.</a:t>
            </a:r>
            <a:endParaRPr lang="en-US" sz="1200" dirty="0"/>
          </a:p>
        </p:txBody>
      </p:sp>
      <p:sp>
        <p:nvSpPr>
          <p:cNvPr id="18" name="Text 16"/>
          <p:cNvSpPr/>
          <p:nvPr/>
        </p:nvSpPr>
        <p:spPr>
          <a:xfrm>
            <a:off x="8430768" y="3950208"/>
            <a:ext cx="3017520" cy="676656"/>
          </a:xfrm>
          <a:prstGeom prst="rect">
            <a:avLst/>
          </a:prstGeom>
          <a:noFill/>
          <a:ln/>
        </p:spPr>
        <p:txBody>
          <a:bodyPr wrap="square" lIns="0" tIns="0" rIns="0" bIns="0" rtlCol="0" anchor="ctr"/>
          <a:lstStyle/>
          <a:p>
            <a:pPr indent="0" marL="0">
              <a:lnSpc>
                <a:spcPct val="108000"/>
              </a:lnSpc>
              <a:buNone/>
            </a:pPr>
            <a:r>
              <a:rPr lang="en-US" sz="1200" b="1" dirty="0">
                <a:solidFill>
                  <a:srgbClr val="DC2626"/>
                </a:solidFill>
                <a:latin typeface="Calibri" pitchFamily="34" charset="0"/>
                <a:ea typeface="Calibri" pitchFamily="34" charset="-122"/>
                <a:cs typeface="Calibri" pitchFamily="34" charset="-120"/>
              </a:rPr>
              <a:t>Strong DSA only — MFI 5,000 and above.</a:t>
            </a:r>
            <a:endParaRPr lang="en-US" sz="1200" dirty="0"/>
          </a:p>
        </p:txBody>
      </p:sp>
      <p:sp>
        <p:nvSpPr>
          <p:cNvPr id="19" name="Shape 17"/>
          <p:cNvSpPr/>
          <p:nvPr/>
        </p:nvSpPr>
        <p:spPr>
          <a:xfrm>
            <a:off x="566928" y="4864608"/>
            <a:ext cx="11055096" cy="859536"/>
          </a:xfrm>
          <a:prstGeom prst="roundRect">
            <a:avLst>
              <a:gd name="adj" fmla="val 9574"/>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20" name="Text 18"/>
          <p:cNvSpPr/>
          <p:nvPr/>
        </p:nvSpPr>
        <p:spPr>
          <a:xfrm>
            <a:off x="786384" y="4956048"/>
            <a:ext cx="2651760" cy="676656"/>
          </a:xfrm>
          <a:prstGeom prst="rect">
            <a:avLst/>
          </a:prstGeom>
          <a:noFill/>
          <a:ln/>
        </p:spPr>
        <p:txBody>
          <a:bodyPr wrap="square" lIns="0" tIns="0" rIns="0" bIns="0" rtlCol="0" anchor="ctr"/>
          <a:lstStyle/>
          <a:p>
            <a:pPr indent="0" marL="0">
              <a:buNone/>
            </a:pPr>
            <a:r>
              <a:rPr lang="en-US" sz="1250" b="1" dirty="0">
                <a:solidFill>
                  <a:srgbClr val="1C1E21"/>
                </a:solidFill>
                <a:latin typeface="Calibri" pitchFamily="34" charset="0"/>
                <a:ea typeface="Calibri" pitchFamily="34" charset="-122"/>
                <a:cs typeface="Calibri" pitchFamily="34" charset="-120"/>
              </a:rPr>
              <a:t>Crossmatch</a:t>
            </a:r>
            <a:endParaRPr lang="en-US" sz="1250" dirty="0"/>
          </a:p>
        </p:txBody>
      </p:sp>
      <p:sp>
        <p:nvSpPr>
          <p:cNvPr id="21" name="Text 19"/>
          <p:cNvSpPr/>
          <p:nvPr/>
        </p:nvSpPr>
        <p:spPr>
          <a:xfrm>
            <a:off x="3584448" y="4956048"/>
            <a:ext cx="4663440" cy="676656"/>
          </a:xfrm>
          <a:prstGeom prst="rect">
            <a:avLst/>
          </a:prstGeom>
          <a:noFill/>
          <a:ln/>
        </p:spPr>
        <p:txBody>
          <a:bodyPr wrap="square" lIns="0" tIns="0" rIns="0" bIns="0" rtlCol="0" anchor="ctr"/>
          <a:lstStyle/>
          <a:p>
            <a:pPr indent="0" marL="0">
              <a:lnSpc>
                <a:spcPct val="108000"/>
              </a:lnSpc>
              <a:buNone/>
            </a:pPr>
            <a:r>
              <a:rPr lang="en-US" sz="1200" dirty="0">
                <a:solidFill>
                  <a:srgbClr val="6B7280"/>
                </a:solidFill>
                <a:latin typeface="Calibri" pitchFamily="34" charset="0"/>
                <a:ea typeface="Calibri" pitchFamily="34" charset="-122"/>
                <a:cs typeface="Calibri" pitchFamily="34" charset="-120"/>
              </a:rPr>
              <a:t>The same-day laboratory result, entered by the doctor for this pairing.</a:t>
            </a:r>
            <a:endParaRPr lang="en-US" sz="1200" dirty="0"/>
          </a:p>
        </p:txBody>
      </p:sp>
      <p:sp>
        <p:nvSpPr>
          <p:cNvPr id="22" name="Text 20"/>
          <p:cNvSpPr/>
          <p:nvPr/>
        </p:nvSpPr>
        <p:spPr>
          <a:xfrm>
            <a:off x="8430768" y="4956048"/>
            <a:ext cx="3017520" cy="676656"/>
          </a:xfrm>
          <a:prstGeom prst="rect">
            <a:avLst/>
          </a:prstGeom>
          <a:noFill/>
          <a:ln/>
        </p:spPr>
        <p:txBody>
          <a:bodyPr wrap="square" lIns="0" tIns="0" rIns="0" bIns="0" rtlCol="0" anchor="ctr"/>
          <a:lstStyle/>
          <a:p>
            <a:pPr indent="0" marL="0">
              <a:lnSpc>
                <a:spcPct val="108000"/>
              </a:lnSpc>
              <a:buNone/>
            </a:pPr>
            <a:r>
              <a:rPr lang="en-US" sz="1200" b="1" dirty="0">
                <a:solidFill>
                  <a:srgbClr val="DC2626"/>
                </a:solidFill>
                <a:latin typeface="Calibri" pitchFamily="34" charset="0"/>
                <a:ea typeface="Calibri" pitchFamily="34" charset="-122"/>
                <a:cs typeface="Calibri" pitchFamily="34" charset="-120"/>
              </a:rPr>
              <a:t>A positive crossmatch.</a:t>
            </a:r>
            <a:endParaRPr lang="en-US" sz="1200" dirty="0"/>
          </a:p>
        </p:txBody>
      </p:sp>
      <p:sp>
        <p:nvSpPr>
          <p:cNvPr id="23" name="Shape 21"/>
          <p:cNvSpPr/>
          <p:nvPr/>
        </p:nvSpPr>
        <p:spPr>
          <a:xfrm>
            <a:off x="566928" y="5943600"/>
            <a:ext cx="11055096" cy="603504"/>
          </a:xfrm>
          <a:prstGeom prst="roundRect">
            <a:avLst>
              <a:gd name="adj" fmla="val 12121"/>
            </a:avLst>
          </a:prstGeom>
          <a:solidFill>
            <a:srgbClr val="FFFBEB"/>
          </a:solidFill>
          <a:ln w="11430">
            <a:solidFill>
              <a:srgbClr val="D97706"/>
            </a:solidFill>
            <a:prstDash val="solid"/>
          </a:ln>
        </p:spPr>
      </p:sp>
      <p:sp>
        <p:nvSpPr>
          <p:cNvPr id="24" name="Text 22"/>
          <p:cNvSpPr/>
          <p:nvPr/>
        </p:nvSpPr>
        <p:spPr>
          <a:xfrm>
            <a:off x="768096" y="5998464"/>
            <a:ext cx="10652760" cy="493776"/>
          </a:xfrm>
          <a:prstGeom prst="rect">
            <a:avLst/>
          </a:prstGeom>
          <a:noFill/>
          <a:ln/>
        </p:spPr>
        <p:txBody>
          <a:bodyPr wrap="square" lIns="0" tIns="0" rIns="0" bIns="0" rtlCol="0" anchor="ctr"/>
          <a:lstStyle/>
          <a:p>
            <a:pPr indent="0" marL="0">
              <a:lnSpc>
                <a:spcPct val="108000"/>
              </a:lnSpc>
              <a:buNone/>
            </a:pPr>
            <a:r>
              <a:rPr lang="en-US" sz="1150" dirty="0">
                <a:solidFill>
                  <a:srgbClr val="D97706"/>
                </a:solidFill>
                <a:latin typeface="Calibri" pitchFamily="34" charset="0"/>
                <a:ea typeface="Calibri" pitchFamily="34" charset="-122"/>
                <a:cs typeface="Calibri" pitchFamily="34" charset="-120"/>
              </a:rPr>
              <a:t>Weak (MFI 1,000–1,999) and moderate (2,000–4,999) antibodies no longer halt the check. They flag the pairing for desensitisation review and the check continues to crossmatch.</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MEASURED, NOT GATING</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Two things the system records but will not act on</a:t>
            </a:r>
            <a:endParaRPr lang="en-US" sz="3000" dirty="0"/>
          </a:p>
        </p:txBody>
      </p:sp>
      <p:sp>
        <p:nvSpPr>
          <p:cNvPr id="4" name="Text 2"/>
          <p:cNvSpPr/>
          <p:nvPr/>
        </p:nvSpPr>
        <p:spPr>
          <a:xfrm>
            <a:off x="566928" y="1225296"/>
            <a:ext cx="10689336" cy="402336"/>
          </a:xfrm>
          <a:prstGeom prst="rect">
            <a:avLst/>
          </a:prstGeom>
          <a:noFill/>
          <a:ln/>
        </p:spPr>
        <p:txBody>
          <a:bodyPr wrap="square" lIns="0" tIns="0" rIns="0" bIns="0" rtlCol="0" anchor="ctr"/>
          <a:lstStyle/>
          <a:p>
            <a:pPr indent="0" marL="0">
              <a:lnSpc>
                <a:spcPct val="112000"/>
              </a:lnSpc>
              <a:buNone/>
            </a:pPr>
            <a:r>
              <a:rPr lang="en-US" sz="1350" dirty="0">
                <a:solidFill>
                  <a:srgbClr val="6B7280"/>
                </a:solidFill>
                <a:latin typeface="Calibri" pitchFamily="34" charset="0"/>
                <a:ea typeface="Calibri" pitchFamily="34" charset="-122"/>
                <a:cs typeface="Calibri" pitchFamily="34" charset="-120"/>
              </a:rPr>
              <a:t>Both are clinically useful. Neither describes this particular donor, so neither is allowed to reject the pairing.</a:t>
            </a:r>
            <a:endParaRPr lang="en-US" sz="1350" dirty="0"/>
          </a:p>
        </p:txBody>
      </p:sp>
      <p:sp>
        <p:nvSpPr>
          <p:cNvPr id="5" name="Shape 3"/>
          <p:cNvSpPr/>
          <p:nvPr/>
        </p:nvSpPr>
        <p:spPr>
          <a:xfrm>
            <a:off x="566928" y="2194560"/>
            <a:ext cx="5394960" cy="2514600"/>
          </a:xfrm>
          <a:prstGeom prst="roundRect">
            <a:avLst>
              <a:gd name="adj" fmla="val 3273"/>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6" name="Shape 4"/>
          <p:cNvSpPr/>
          <p:nvPr/>
        </p:nvSpPr>
        <p:spPr>
          <a:xfrm>
            <a:off x="841248" y="2432304"/>
            <a:ext cx="402336" cy="402336"/>
          </a:xfrm>
          <a:prstGeom prst="ellipse">
            <a:avLst/>
          </a:prstGeom>
          <a:solidFill>
            <a:srgbClr val="0C6A73"/>
          </a:solidFill>
          <a:ln w="6350">
            <a:solidFill>
              <a:srgbClr val="0C6A73"/>
            </a:solidFill>
            <a:prstDash val="solid"/>
          </a:ln>
        </p:spPr>
      </p:sp>
      <p:sp>
        <p:nvSpPr>
          <p:cNvPr id="7" name="Text 5"/>
          <p:cNvSpPr/>
          <p:nvPr/>
        </p:nvSpPr>
        <p:spPr>
          <a:xfrm>
            <a:off x="841248" y="24323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Text 6"/>
          <p:cNvSpPr/>
          <p:nvPr/>
        </p:nvSpPr>
        <p:spPr>
          <a:xfrm>
            <a:off x="1408176" y="2450592"/>
            <a:ext cx="4297680" cy="384048"/>
          </a:xfrm>
          <a:prstGeom prst="rect">
            <a:avLst/>
          </a:prstGeom>
          <a:noFill/>
          <a:ln/>
        </p:spPr>
        <p:txBody>
          <a:bodyPr wrap="square" lIns="0" tIns="0" rIns="0" bIns="0" rtlCol="0" anchor="ctr"/>
          <a:lstStyle/>
          <a:p>
            <a:pPr indent="0" marL="0">
              <a:buNone/>
            </a:pPr>
            <a:r>
              <a:rPr lang="en-US" sz="1800" b="1" dirty="0">
                <a:solidFill>
                  <a:srgbClr val="1C1E21"/>
                </a:solidFill>
                <a:latin typeface="Cambria" pitchFamily="34" charset="0"/>
                <a:ea typeface="Cambria" pitchFamily="34" charset="-122"/>
                <a:cs typeface="Cambria" pitchFamily="34" charset="-120"/>
              </a:rPr>
              <a:t>Sensitising history</a:t>
            </a:r>
            <a:endParaRPr lang="en-US" sz="1800" dirty="0"/>
          </a:p>
        </p:txBody>
      </p:sp>
      <p:sp>
        <p:nvSpPr>
          <p:cNvPr id="9" name="Text 7"/>
          <p:cNvSpPr/>
          <p:nvPr/>
        </p:nvSpPr>
        <p:spPr>
          <a:xfrm>
            <a:off x="841248" y="2962656"/>
            <a:ext cx="4846320" cy="1554480"/>
          </a:xfrm>
          <a:prstGeom prst="rect">
            <a:avLst/>
          </a:prstGeom>
          <a:noFill/>
          <a:ln/>
        </p:spPr>
        <p:txBody>
          <a:bodyPr wrap="square" lIns="0" tIns="0" rIns="0" bIns="0" rtlCol="0" anchor="ctr"/>
          <a:lstStyle/>
          <a:p>
            <a:pPr indent="0" marL="0">
              <a:lnSpc>
                <a:spcPct val="114000"/>
              </a:lnSpc>
              <a:buNone/>
            </a:pPr>
            <a:r>
              <a:rPr lang="en-US" sz="1200" b="1" dirty="0">
                <a:solidFill>
                  <a:srgbClr val="1C1E21"/>
                </a:solidFill>
                <a:latin typeface="Calibri" pitchFamily="34" charset="0"/>
                <a:ea typeface="Calibri" pitchFamily="34" charset="-122"/>
                <a:cs typeface="Calibri" pitchFamily="34" charset="-120"/>
              </a:rPr>
              <a:t>Previous transplant · 2.0    Pregnancy · 1.0    Transfusion · 0.5</a:t>
            </a:r>
            <a:endParaRPr lang="en-US" sz="1200" dirty="0"/>
          </a:p>
          <a:p>
            <a:pPr indent="0" marL="0">
              <a:lnSpc>
                <a:spcPct val="114000"/>
              </a:lnSpc>
              <a:buNone/>
            </a:pPr>
            <a:endParaRPr lang="en-US" sz="1200" dirty="0"/>
          </a:p>
          <a:p>
            <a:pPr indent="0" marL="0">
              <a:lnSpc>
                <a:spcPct val="114000"/>
              </a:lnSpc>
              <a:buNone/>
            </a:pPr>
            <a:r>
              <a:rPr lang="en-US" sz="1200" dirty="0">
                <a:solidFill>
                  <a:srgbClr val="6B7280"/>
                </a:solidFill>
                <a:latin typeface="Calibri" pitchFamily="34" charset="0"/>
                <a:ea typeface="Calibri" pitchFamily="34" charset="-122"/>
                <a:cs typeface="Calibri" pitchFamily="34" charset="-120"/>
              </a:rPr>
              <a:t>Recorded and shown on every report, but it never halts a check. Turning it into an accept/reject rule needs a clinical threshold that has not been agreed — so the system does not invent one.</a:t>
            </a:r>
            <a:endParaRPr lang="en-US" sz="1200" dirty="0"/>
          </a:p>
        </p:txBody>
      </p:sp>
      <p:sp>
        <p:nvSpPr>
          <p:cNvPr id="10" name="Shape 8"/>
          <p:cNvSpPr/>
          <p:nvPr/>
        </p:nvSpPr>
        <p:spPr>
          <a:xfrm>
            <a:off x="6227064" y="2194560"/>
            <a:ext cx="5394960" cy="2514600"/>
          </a:xfrm>
          <a:prstGeom prst="roundRect">
            <a:avLst>
              <a:gd name="adj" fmla="val 3273"/>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1" name="Shape 9"/>
          <p:cNvSpPr/>
          <p:nvPr/>
        </p:nvSpPr>
        <p:spPr>
          <a:xfrm>
            <a:off x="6501384" y="2432304"/>
            <a:ext cx="402336" cy="402336"/>
          </a:xfrm>
          <a:prstGeom prst="ellipse">
            <a:avLst/>
          </a:prstGeom>
          <a:solidFill>
            <a:srgbClr val="0C6A73"/>
          </a:solidFill>
          <a:ln w="6350">
            <a:solidFill>
              <a:srgbClr val="0C6A73"/>
            </a:solidFill>
            <a:prstDash val="solid"/>
          </a:ln>
        </p:spPr>
      </p:sp>
      <p:sp>
        <p:nvSpPr>
          <p:cNvPr id="12" name="Text 10"/>
          <p:cNvSpPr/>
          <p:nvPr/>
        </p:nvSpPr>
        <p:spPr>
          <a:xfrm>
            <a:off x="6501384" y="24323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3" name="Text 11"/>
          <p:cNvSpPr/>
          <p:nvPr/>
        </p:nvSpPr>
        <p:spPr>
          <a:xfrm>
            <a:off x="7068312" y="2450592"/>
            <a:ext cx="4297680" cy="384048"/>
          </a:xfrm>
          <a:prstGeom prst="rect">
            <a:avLst/>
          </a:prstGeom>
          <a:noFill/>
          <a:ln/>
        </p:spPr>
        <p:txBody>
          <a:bodyPr wrap="square" lIns="0" tIns="0" rIns="0" bIns="0" rtlCol="0" anchor="ctr"/>
          <a:lstStyle/>
          <a:p>
            <a:pPr indent="0" marL="0">
              <a:buNone/>
            </a:pPr>
            <a:r>
              <a:rPr lang="en-US" sz="1800" b="1" dirty="0">
                <a:solidFill>
                  <a:srgbClr val="1C1E21"/>
                </a:solidFill>
                <a:latin typeface="Cambria" pitchFamily="34" charset="0"/>
                <a:ea typeface="Cambria" pitchFamily="34" charset="-122"/>
                <a:cs typeface="Cambria" pitchFamily="34" charset="-120"/>
              </a:rPr>
              <a:t>cPRA</a:t>
            </a:r>
            <a:endParaRPr lang="en-US" sz="1800" dirty="0"/>
          </a:p>
        </p:txBody>
      </p:sp>
      <p:sp>
        <p:nvSpPr>
          <p:cNvPr id="14" name="Text 12"/>
          <p:cNvSpPr/>
          <p:nvPr/>
        </p:nvSpPr>
        <p:spPr>
          <a:xfrm>
            <a:off x="6501384" y="2962656"/>
            <a:ext cx="4846320" cy="1554480"/>
          </a:xfrm>
          <a:prstGeom prst="rect">
            <a:avLst/>
          </a:prstGeom>
          <a:noFill/>
          <a:ln/>
        </p:spPr>
        <p:txBody>
          <a:bodyPr wrap="square" lIns="0" tIns="0" rIns="0" bIns="0" rtlCol="0" anchor="ctr"/>
          <a:lstStyle/>
          <a:p>
            <a:pPr indent="0" marL="0">
              <a:lnSpc>
                <a:spcPct val="114000"/>
              </a:lnSpc>
              <a:buNone/>
            </a:pPr>
            <a:r>
              <a:rPr lang="en-US" sz="1200" b="1" dirty="0">
                <a:solidFill>
                  <a:srgbClr val="1C1E21"/>
                </a:solidFill>
                <a:latin typeface="Calibri" pitchFamily="34" charset="0"/>
                <a:ea typeface="Calibri" pitchFamily="34" charset="-122"/>
                <a:cs typeface="Calibri" pitchFamily="34" charset="-120"/>
              </a:rPr>
              <a:t>Calculated against a Sri Lankan reference population</a:t>
            </a:r>
            <a:endParaRPr lang="en-US" sz="1200" dirty="0"/>
          </a:p>
          <a:p>
            <a:pPr indent="0" marL="0">
              <a:lnSpc>
                <a:spcPct val="114000"/>
              </a:lnSpc>
              <a:buNone/>
            </a:pPr>
            <a:endParaRPr lang="en-US" sz="1200" dirty="0"/>
          </a:p>
          <a:p>
            <a:pPr indent="0" marL="0">
              <a:lnSpc>
                <a:spcPct val="114000"/>
              </a:lnSpc>
              <a:buNone/>
            </a:pPr>
            <a:r>
              <a:rPr lang="en-US" sz="1200" dirty="0">
                <a:solidFill>
                  <a:srgbClr val="6B7280"/>
                </a:solidFill>
                <a:latin typeface="Calibri" pitchFamily="34" charset="0"/>
                <a:ea typeface="Calibri" pitchFamily="34" charset="-122"/>
                <a:cs typeface="Calibri" pitchFamily="34" charset="-120"/>
              </a:rPr>
              <a:t>714 adult blood-bank donors from all 26 districts, typed at all seven loci (Grifoni et al., Hum Immunol 2018). Most systems of this kind use a North American or European table, which misstates how hard a Sri Lankan patient is to match.</a:t>
            </a:r>
            <a:endParaRPr lang="en-US" sz="1200" dirty="0"/>
          </a:p>
        </p:txBody>
      </p:sp>
      <p:sp>
        <p:nvSpPr>
          <p:cNvPr id="15" name="Shape 13"/>
          <p:cNvSpPr/>
          <p:nvPr/>
        </p:nvSpPr>
        <p:spPr>
          <a:xfrm>
            <a:off x="566928" y="4974336"/>
            <a:ext cx="11055096" cy="914400"/>
          </a:xfrm>
          <a:prstGeom prst="roundRect">
            <a:avLst>
              <a:gd name="adj" fmla="val 8000"/>
            </a:avLst>
          </a:prstGeom>
          <a:solidFill>
            <a:srgbClr val="E8F4F3"/>
          </a:solidFill>
          <a:ln w="11430">
            <a:solidFill>
              <a:srgbClr val="0C6A73"/>
            </a:solidFill>
            <a:prstDash val="solid"/>
          </a:ln>
        </p:spPr>
      </p:sp>
      <p:sp>
        <p:nvSpPr>
          <p:cNvPr id="16" name="Text 14"/>
          <p:cNvSpPr/>
          <p:nvPr/>
        </p:nvSpPr>
        <p:spPr>
          <a:xfrm>
            <a:off x="768096" y="5029200"/>
            <a:ext cx="10652760" cy="804672"/>
          </a:xfrm>
          <a:prstGeom prst="rect">
            <a:avLst/>
          </a:prstGeom>
          <a:noFill/>
          <a:ln/>
        </p:spPr>
        <p:txBody>
          <a:bodyPr wrap="square" lIns="0" tIns="0" rIns="0" bIns="0" rtlCol="0" anchor="ctr"/>
          <a:lstStyle/>
          <a:p>
            <a:pPr indent="0" marL="0">
              <a:lnSpc>
                <a:spcPct val="108000"/>
              </a:lnSpc>
              <a:buNone/>
            </a:pPr>
            <a:r>
              <a:rPr lang="en-US" sz="1150" dirty="0">
                <a:solidFill>
                  <a:srgbClr val="0C6A73"/>
                </a:solidFill>
                <a:latin typeface="Calibri" pitchFamily="34" charset="0"/>
                <a:ea typeface="Calibri" pitchFamily="34" charset="-122"/>
                <a:cs typeface="Calibri" pitchFamily="34" charset="-120"/>
              </a:rPr>
              <a:t>cPRA once rejected a pairing outright above 60%. That was removed: cPRA measures how hard a patient is to match against the population, not whether this donor works. Using it as a gate meant the more sensitised a patient was, the more certainly the system refused the one compatible donor they had found.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THE REPORT</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Every check ends in one of four answers</a:t>
            </a:r>
            <a:endParaRPr lang="en-US" sz="3000" dirty="0"/>
          </a:p>
        </p:txBody>
      </p:sp>
      <p:sp>
        <p:nvSpPr>
          <p:cNvPr id="4" name="Text 2"/>
          <p:cNvSpPr/>
          <p:nvPr/>
        </p:nvSpPr>
        <p:spPr>
          <a:xfrm>
            <a:off x="566928" y="1225296"/>
            <a:ext cx="10689336" cy="402336"/>
          </a:xfrm>
          <a:prstGeom prst="rect">
            <a:avLst/>
          </a:prstGeom>
          <a:noFill/>
          <a:ln/>
        </p:spPr>
        <p:txBody>
          <a:bodyPr wrap="square" lIns="0" tIns="0" rIns="0" bIns="0" rtlCol="0" anchor="ctr"/>
          <a:lstStyle/>
          <a:p>
            <a:pPr indent="0" marL="0">
              <a:lnSpc>
                <a:spcPct val="112000"/>
              </a:lnSpc>
              <a:buNone/>
            </a:pPr>
            <a:r>
              <a:rPr lang="en-US" sz="1350" dirty="0">
                <a:solidFill>
                  <a:srgbClr val="6B7280"/>
                </a:solidFill>
                <a:latin typeface="Calibri" pitchFamily="34" charset="0"/>
                <a:ea typeface="Calibri" pitchFamily="34" charset="-122"/>
                <a:cs typeface="Calibri" pitchFamily="34" charset="-120"/>
              </a:rPr>
              <a:t>Each verdict names the step that decided it and what to do next. "Cannot assess" is deliberately not styled as a rejection — it means the workup continues.</a:t>
            </a:r>
            <a:endParaRPr lang="en-US" sz="1350" dirty="0"/>
          </a:p>
        </p:txBody>
      </p:sp>
      <p:sp>
        <p:nvSpPr>
          <p:cNvPr id="5" name="Shape 3"/>
          <p:cNvSpPr/>
          <p:nvPr/>
        </p:nvSpPr>
        <p:spPr>
          <a:xfrm>
            <a:off x="566928" y="2304288"/>
            <a:ext cx="2633472" cy="2487168"/>
          </a:xfrm>
          <a:prstGeom prst="roundRect">
            <a:avLst>
              <a:gd name="adj" fmla="val 3309"/>
            </a:avLst>
          </a:prstGeom>
          <a:solidFill>
            <a:srgbClr val="FEF2F2"/>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6" name="Shape 4"/>
          <p:cNvSpPr/>
          <p:nvPr/>
        </p:nvSpPr>
        <p:spPr>
          <a:xfrm>
            <a:off x="822960" y="2560320"/>
            <a:ext cx="274320" cy="274320"/>
          </a:xfrm>
          <a:prstGeom prst="ellipse">
            <a:avLst/>
          </a:prstGeom>
          <a:solidFill>
            <a:srgbClr val="DC2626"/>
          </a:solidFill>
          <a:ln w="12700">
            <a:solidFill>
              <a:srgbClr val="DC2626"/>
            </a:solidFill>
            <a:prstDash val="solid"/>
          </a:ln>
        </p:spPr>
      </p:sp>
      <p:sp>
        <p:nvSpPr>
          <p:cNvPr id="7" name="Text 5"/>
          <p:cNvSpPr/>
          <p:nvPr/>
        </p:nvSpPr>
        <p:spPr>
          <a:xfrm>
            <a:off x="822960" y="2962656"/>
            <a:ext cx="2121408" cy="731520"/>
          </a:xfrm>
          <a:prstGeom prst="rect">
            <a:avLst/>
          </a:prstGeom>
          <a:noFill/>
          <a:ln/>
        </p:spPr>
        <p:txBody>
          <a:bodyPr wrap="square" lIns="0" tIns="0" rIns="0" bIns="0" rtlCol="0" anchor="ctr"/>
          <a:lstStyle/>
          <a:p>
            <a:pPr indent="0" marL="0">
              <a:lnSpc>
                <a:spcPct val="98000"/>
              </a:lnSpc>
              <a:buNone/>
            </a:pPr>
            <a:r>
              <a:rPr lang="en-US" sz="1700" b="1" dirty="0">
                <a:solidFill>
                  <a:srgbClr val="DC2626"/>
                </a:solidFill>
                <a:latin typeface="Cambria" pitchFamily="34" charset="0"/>
                <a:ea typeface="Cambria" pitchFamily="34" charset="-122"/>
                <a:cs typeface="Cambria" pitchFamily="34" charset="-120"/>
              </a:rPr>
              <a:t>Not Compatible</a:t>
            </a:r>
            <a:endParaRPr lang="en-US" sz="1700" dirty="0"/>
          </a:p>
        </p:txBody>
      </p:sp>
      <p:sp>
        <p:nvSpPr>
          <p:cNvPr id="8" name="Text 6"/>
          <p:cNvSpPr/>
          <p:nvPr/>
        </p:nvSpPr>
        <p:spPr>
          <a:xfrm>
            <a:off x="822960" y="3694176"/>
            <a:ext cx="2121408" cy="969264"/>
          </a:xfrm>
          <a:prstGeom prst="rect">
            <a:avLst/>
          </a:prstGeom>
          <a:noFill/>
          <a:ln/>
        </p:spPr>
        <p:txBody>
          <a:bodyPr wrap="square" lIns="0" tIns="0" rIns="0" bIns="0" rtlCol="0" anchor="ctr"/>
          <a:lstStyle/>
          <a:p>
            <a:pPr indent="0" marL="0">
              <a:lnSpc>
                <a:spcPct val="112000"/>
              </a:lnSpc>
              <a:buNone/>
            </a:pPr>
            <a:r>
              <a:rPr lang="en-US" sz="1150" dirty="0">
                <a:solidFill>
                  <a:srgbClr val="1C1E21"/>
                </a:solidFill>
                <a:latin typeface="Calibri" pitchFamily="34" charset="0"/>
                <a:ea typeface="Calibri" pitchFamily="34" charset="-122"/>
                <a:cs typeface="Calibri" pitchFamily="34" charset="-120"/>
              </a:rPr>
              <a:t>A hard gate failed. This donor cannot proceed — consider the paired exchange pool, or search for another donor.</a:t>
            </a:r>
            <a:endParaRPr lang="en-US" sz="1150" dirty="0"/>
          </a:p>
        </p:txBody>
      </p:sp>
      <p:sp>
        <p:nvSpPr>
          <p:cNvPr id="9" name="Shape 7"/>
          <p:cNvSpPr/>
          <p:nvPr/>
        </p:nvSpPr>
        <p:spPr>
          <a:xfrm>
            <a:off x="3369564" y="2304288"/>
            <a:ext cx="2633472" cy="2487168"/>
          </a:xfrm>
          <a:prstGeom prst="roundRect">
            <a:avLst>
              <a:gd name="adj" fmla="val 3309"/>
            </a:avLst>
          </a:prstGeom>
          <a:solidFill>
            <a:srgbClr val="EFF6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0" name="Shape 8"/>
          <p:cNvSpPr/>
          <p:nvPr/>
        </p:nvSpPr>
        <p:spPr>
          <a:xfrm>
            <a:off x="3625596" y="2560320"/>
            <a:ext cx="274320" cy="274320"/>
          </a:xfrm>
          <a:prstGeom prst="ellipse">
            <a:avLst/>
          </a:prstGeom>
          <a:solidFill>
            <a:srgbClr val="2563EB"/>
          </a:solidFill>
          <a:ln w="12700">
            <a:solidFill>
              <a:srgbClr val="2563EB"/>
            </a:solidFill>
            <a:prstDash val="solid"/>
          </a:ln>
        </p:spPr>
      </p:sp>
      <p:sp>
        <p:nvSpPr>
          <p:cNvPr id="11" name="Text 9"/>
          <p:cNvSpPr/>
          <p:nvPr/>
        </p:nvSpPr>
        <p:spPr>
          <a:xfrm>
            <a:off x="3625596" y="2962656"/>
            <a:ext cx="2121408" cy="731520"/>
          </a:xfrm>
          <a:prstGeom prst="rect">
            <a:avLst/>
          </a:prstGeom>
          <a:noFill/>
          <a:ln/>
        </p:spPr>
        <p:txBody>
          <a:bodyPr wrap="square" lIns="0" tIns="0" rIns="0" bIns="0" rtlCol="0" anchor="ctr"/>
          <a:lstStyle/>
          <a:p>
            <a:pPr indent="0" marL="0">
              <a:lnSpc>
                <a:spcPct val="98000"/>
              </a:lnSpc>
              <a:buNone/>
            </a:pPr>
            <a:r>
              <a:rPr lang="en-US" sz="1700" b="1" dirty="0">
                <a:solidFill>
                  <a:srgbClr val="2563EB"/>
                </a:solidFill>
                <a:latin typeface="Cambria" pitchFamily="34" charset="0"/>
                <a:ea typeface="Cambria" pitchFamily="34" charset="-122"/>
                <a:cs typeface="Cambria" pitchFamily="34" charset="-120"/>
              </a:rPr>
              <a:t>Cannot Assess</a:t>
            </a:r>
            <a:endParaRPr lang="en-US" sz="1700" dirty="0"/>
          </a:p>
        </p:txBody>
      </p:sp>
      <p:sp>
        <p:nvSpPr>
          <p:cNvPr id="12" name="Text 10"/>
          <p:cNvSpPr/>
          <p:nvPr/>
        </p:nvSpPr>
        <p:spPr>
          <a:xfrm>
            <a:off x="3625596" y="3694176"/>
            <a:ext cx="2121408" cy="969264"/>
          </a:xfrm>
          <a:prstGeom prst="rect">
            <a:avLst/>
          </a:prstGeom>
          <a:noFill/>
          <a:ln/>
        </p:spPr>
        <p:txBody>
          <a:bodyPr wrap="square" lIns="0" tIns="0" rIns="0" bIns="0" rtlCol="0" anchor="ctr"/>
          <a:lstStyle/>
          <a:p>
            <a:pPr indent="0" marL="0">
              <a:lnSpc>
                <a:spcPct val="112000"/>
              </a:lnSpc>
              <a:buNone/>
            </a:pPr>
            <a:r>
              <a:rPr lang="en-US" sz="1150" dirty="0">
                <a:solidFill>
                  <a:srgbClr val="1C1E21"/>
                </a:solidFill>
                <a:latin typeface="Calibri" pitchFamily="34" charset="0"/>
                <a:ea typeface="Calibri" pitchFamily="34" charset="-122"/>
                <a:cs typeface="Calibri" pitchFamily="34" charset="-120"/>
              </a:rPr>
              <a:t>Something required is missing or not yet done, most often the crossmatch or a piece of HLA typing. Not a rejection.</a:t>
            </a:r>
            <a:endParaRPr lang="en-US" sz="1150" dirty="0"/>
          </a:p>
        </p:txBody>
      </p:sp>
      <p:sp>
        <p:nvSpPr>
          <p:cNvPr id="13" name="Shape 11"/>
          <p:cNvSpPr/>
          <p:nvPr/>
        </p:nvSpPr>
        <p:spPr>
          <a:xfrm>
            <a:off x="6172200" y="2304288"/>
            <a:ext cx="2633472" cy="2487168"/>
          </a:xfrm>
          <a:prstGeom prst="roundRect">
            <a:avLst>
              <a:gd name="adj" fmla="val 3309"/>
            </a:avLst>
          </a:prstGeom>
          <a:solidFill>
            <a:srgbClr val="FFFBEB"/>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4" name="Shape 12"/>
          <p:cNvSpPr/>
          <p:nvPr/>
        </p:nvSpPr>
        <p:spPr>
          <a:xfrm>
            <a:off x="6428232" y="2560320"/>
            <a:ext cx="274320" cy="274320"/>
          </a:xfrm>
          <a:prstGeom prst="ellipse">
            <a:avLst/>
          </a:prstGeom>
          <a:solidFill>
            <a:srgbClr val="D97706"/>
          </a:solidFill>
          <a:ln w="12700">
            <a:solidFill>
              <a:srgbClr val="D97706"/>
            </a:solidFill>
            <a:prstDash val="solid"/>
          </a:ln>
        </p:spPr>
      </p:sp>
      <p:sp>
        <p:nvSpPr>
          <p:cNvPr id="15" name="Text 13"/>
          <p:cNvSpPr/>
          <p:nvPr/>
        </p:nvSpPr>
        <p:spPr>
          <a:xfrm>
            <a:off x="6428232" y="2962656"/>
            <a:ext cx="2121408" cy="731520"/>
          </a:xfrm>
          <a:prstGeom prst="rect">
            <a:avLst/>
          </a:prstGeom>
          <a:noFill/>
          <a:ln/>
        </p:spPr>
        <p:txBody>
          <a:bodyPr wrap="square" lIns="0" tIns="0" rIns="0" bIns="0" rtlCol="0" anchor="ctr"/>
          <a:lstStyle/>
          <a:p>
            <a:pPr indent="0" marL="0">
              <a:lnSpc>
                <a:spcPct val="98000"/>
              </a:lnSpc>
              <a:buNone/>
            </a:pPr>
            <a:r>
              <a:rPr lang="en-US" sz="1700" b="1" dirty="0">
                <a:solidFill>
                  <a:srgbClr val="D97706"/>
                </a:solidFill>
                <a:latin typeface="Cambria" pitchFamily="34" charset="0"/>
                <a:ea typeface="Cambria" pitchFamily="34" charset="-122"/>
                <a:cs typeface="Cambria" pitchFamily="34" charset="-120"/>
              </a:rPr>
              <a:t>Proceed with Caution</a:t>
            </a:r>
            <a:endParaRPr lang="en-US" sz="1700" dirty="0"/>
          </a:p>
        </p:txBody>
      </p:sp>
      <p:sp>
        <p:nvSpPr>
          <p:cNvPr id="16" name="Text 14"/>
          <p:cNvSpPr/>
          <p:nvPr/>
        </p:nvSpPr>
        <p:spPr>
          <a:xfrm>
            <a:off x="6428232" y="3694176"/>
            <a:ext cx="2121408" cy="969264"/>
          </a:xfrm>
          <a:prstGeom prst="rect">
            <a:avLst/>
          </a:prstGeom>
          <a:noFill/>
          <a:ln/>
        </p:spPr>
        <p:txBody>
          <a:bodyPr wrap="square" lIns="0" tIns="0" rIns="0" bIns="0" rtlCol="0" anchor="ctr"/>
          <a:lstStyle/>
          <a:p>
            <a:pPr indent="0" marL="0">
              <a:lnSpc>
                <a:spcPct val="112000"/>
              </a:lnSpc>
              <a:buNone/>
            </a:pPr>
            <a:r>
              <a:rPr lang="en-US" sz="1150" dirty="0">
                <a:solidFill>
                  <a:srgbClr val="1C1E21"/>
                </a:solidFill>
                <a:latin typeface="Calibri" pitchFamily="34" charset="0"/>
                <a:ea typeface="Calibri" pitchFamily="34" charset="-122"/>
                <a:cs typeface="Calibri" pitchFamily="34" charset="-120"/>
              </a:rPr>
              <a:t>Every gate cleared, but a finding needs review before scheduling — typically a moderate DSA or a highly sensitised recipient.</a:t>
            </a:r>
            <a:endParaRPr lang="en-US" sz="1150" dirty="0"/>
          </a:p>
        </p:txBody>
      </p:sp>
      <p:sp>
        <p:nvSpPr>
          <p:cNvPr id="17" name="Shape 15"/>
          <p:cNvSpPr/>
          <p:nvPr/>
        </p:nvSpPr>
        <p:spPr>
          <a:xfrm>
            <a:off x="8974836" y="2304288"/>
            <a:ext cx="2633472" cy="2487168"/>
          </a:xfrm>
          <a:prstGeom prst="roundRect">
            <a:avLst>
              <a:gd name="adj" fmla="val 3309"/>
            </a:avLst>
          </a:prstGeom>
          <a:solidFill>
            <a:srgbClr val="F0FDF4"/>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8" name="Shape 16"/>
          <p:cNvSpPr/>
          <p:nvPr/>
        </p:nvSpPr>
        <p:spPr>
          <a:xfrm>
            <a:off x="9230868" y="2560320"/>
            <a:ext cx="274320" cy="274320"/>
          </a:xfrm>
          <a:prstGeom prst="ellipse">
            <a:avLst/>
          </a:prstGeom>
          <a:solidFill>
            <a:srgbClr val="16A34A"/>
          </a:solidFill>
          <a:ln w="12700">
            <a:solidFill>
              <a:srgbClr val="16A34A"/>
            </a:solidFill>
            <a:prstDash val="solid"/>
          </a:ln>
        </p:spPr>
      </p:sp>
      <p:sp>
        <p:nvSpPr>
          <p:cNvPr id="19" name="Text 17"/>
          <p:cNvSpPr/>
          <p:nvPr/>
        </p:nvSpPr>
        <p:spPr>
          <a:xfrm>
            <a:off x="9230868" y="2962656"/>
            <a:ext cx="2121408" cy="731520"/>
          </a:xfrm>
          <a:prstGeom prst="rect">
            <a:avLst/>
          </a:prstGeom>
          <a:noFill/>
          <a:ln/>
        </p:spPr>
        <p:txBody>
          <a:bodyPr wrap="square" lIns="0" tIns="0" rIns="0" bIns="0" rtlCol="0" anchor="ctr"/>
          <a:lstStyle/>
          <a:p>
            <a:pPr indent="0" marL="0">
              <a:lnSpc>
                <a:spcPct val="98000"/>
              </a:lnSpc>
              <a:buNone/>
            </a:pPr>
            <a:r>
              <a:rPr lang="en-US" sz="1700" b="1" dirty="0">
                <a:solidFill>
                  <a:srgbClr val="16A34A"/>
                </a:solidFill>
                <a:latin typeface="Cambria" pitchFamily="34" charset="0"/>
                <a:ea typeface="Cambria" pitchFamily="34" charset="-122"/>
                <a:cs typeface="Cambria" pitchFamily="34" charset="-120"/>
              </a:rPr>
              <a:t>Compatible</a:t>
            </a:r>
            <a:endParaRPr lang="en-US" sz="1700" dirty="0"/>
          </a:p>
        </p:txBody>
      </p:sp>
      <p:sp>
        <p:nvSpPr>
          <p:cNvPr id="20" name="Text 18"/>
          <p:cNvSpPr/>
          <p:nvPr/>
        </p:nvSpPr>
        <p:spPr>
          <a:xfrm>
            <a:off x="9230868" y="3694176"/>
            <a:ext cx="2121408" cy="969264"/>
          </a:xfrm>
          <a:prstGeom prst="rect">
            <a:avLst/>
          </a:prstGeom>
          <a:noFill/>
          <a:ln/>
        </p:spPr>
        <p:txBody>
          <a:bodyPr wrap="square" lIns="0" tIns="0" rIns="0" bIns="0" rtlCol="0" anchor="ctr"/>
          <a:lstStyle/>
          <a:p>
            <a:pPr indent="0" marL="0">
              <a:lnSpc>
                <a:spcPct val="112000"/>
              </a:lnSpc>
              <a:buNone/>
            </a:pPr>
            <a:r>
              <a:rPr lang="en-US" sz="1150" dirty="0">
                <a:solidFill>
                  <a:srgbClr val="1C1E21"/>
                </a:solidFill>
                <a:latin typeface="Calibri" pitchFamily="34" charset="0"/>
                <a:ea typeface="Calibri" pitchFamily="34" charset="-122"/>
                <a:cs typeface="Calibri" pitchFamily="34" charset="-120"/>
              </a:rPr>
              <a:t>Every gate cleared with no review flags, and a final risk level was assigned.</a:t>
            </a:r>
            <a:endParaRPr lang="en-US" sz="1150" dirty="0"/>
          </a:p>
        </p:txBody>
      </p:sp>
      <p:sp>
        <p:nvSpPr>
          <p:cNvPr id="21" name="Shape 19"/>
          <p:cNvSpPr/>
          <p:nvPr/>
        </p:nvSpPr>
        <p:spPr>
          <a:xfrm>
            <a:off x="566928" y="5084064"/>
            <a:ext cx="11055096" cy="786384"/>
          </a:xfrm>
          <a:prstGeom prst="roundRect">
            <a:avLst>
              <a:gd name="adj" fmla="val 9302"/>
            </a:avLst>
          </a:prstGeom>
          <a:solidFill>
            <a:srgbClr val="E8F4F3"/>
          </a:solidFill>
          <a:ln w="11430">
            <a:solidFill>
              <a:srgbClr val="0C6A73"/>
            </a:solidFill>
            <a:prstDash val="solid"/>
          </a:ln>
        </p:spPr>
      </p:sp>
      <p:sp>
        <p:nvSpPr>
          <p:cNvPr id="22" name="Text 20"/>
          <p:cNvSpPr/>
          <p:nvPr/>
        </p:nvSpPr>
        <p:spPr>
          <a:xfrm>
            <a:off x="768096" y="5138928"/>
            <a:ext cx="10652760" cy="676656"/>
          </a:xfrm>
          <a:prstGeom prst="rect">
            <a:avLst/>
          </a:prstGeom>
          <a:noFill/>
          <a:ln/>
        </p:spPr>
        <p:txBody>
          <a:bodyPr wrap="square" lIns="0" tIns="0" rIns="0" bIns="0" rtlCol="0" anchor="ctr"/>
          <a:lstStyle/>
          <a:p>
            <a:pPr indent="0" marL="0">
              <a:lnSpc>
                <a:spcPct val="108000"/>
              </a:lnSpc>
              <a:buNone/>
            </a:pPr>
            <a:r>
              <a:rPr lang="en-US" sz="1150" dirty="0">
                <a:solidFill>
                  <a:srgbClr val="0C6A73"/>
                </a:solidFill>
                <a:latin typeface="Calibri" pitchFamily="34" charset="0"/>
                <a:ea typeface="Calibri" pitchFamily="34" charset="-122"/>
                <a:cs typeface="Calibri" pitchFamily="34" charset="-120"/>
              </a:rPr>
              <a:t>The report also shows the seven steps as an expandable timeline — the patient and donor values used at each step, so a clinician can check the system's working rather than take the verdict on trust.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THE SCORING LAYER</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Three published scores, three different questions</a:t>
            </a:r>
            <a:endParaRPr lang="en-US" sz="3000" dirty="0"/>
          </a:p>
        </p:txBody>
      </p:sp>
      <p:sp>
        <p:nvSpPr>
          <p:cNvPr id="4" name="Text 2"/>
          <p:cNvSpPr/>
          <p:nvPr/>
        </p:nvSpPr>
        <p:spPr>
          <a:xfrm>
            <a:off x="566928" y="1225296"/>
            <a:ext cx="10689336" cy="402336"/>
          </a:xfrm>
          <a:prstGeom prst="rect">
            <a:avLst/>
          </a:prstGeom>
          <a:noFill/>
          <a:ln/>
        </p:spPr>
        <p:txBody>
          <a:bodyPr wrap="square" lIns="0" tIns="0" rIns="0" bIns="0" rtlCol="0" anchor="ctr"/>
          <a:lstStyle/>
          <a:p>
            <a:pPr indent="0" marL="0">
              <a:lnSpc>
                <a:spcPct val="112000"/>
              </a:lnSpc>
              <a:buNone/>
            </a:pPr>
            <a:r>
              <a:rPr lang="en-US" sz="1350" dirty="0">
                <a:solidFill>
                  <a:srgbClr val="6B7280"/>
                </a:solidFill>
                <a:latin typeface="Calibri" pitchFamily="34" charset="0"/>
                <a:ea typeface="Calibri" pitchFamily="34" charset="-122"/>
                <a:cs typeface="Calibri" pitchFamily="34" charset="-120"/>
              </a:rPr>
              <a:t>No score in this system was invented for it. Each one is taken from a peer-reviewed source, and the citation is shown on the screen where the number appears.</a:t>
            </a:r>
            <a:endParaRPr lang="en-US" sz="1350" dirty="0"/>
          </a:p>
        </p:txBody>
      </p:sp>
      <p:sp>
        <p:nvSpPr>
          <p:cNvPr id="5" name="Text 3"/>
          <p:cNvSpPr/>
          <p:nvPr/>
        </p:nvSpPr>
        <p:spPr>
          <a:xfrm>
            <a:off x="786384" y="2103120"/>
            <a:ext cx="1463040" cy="219456"/>
          </a:xfrm>
          <a:prstGeom prst="rect">
            <a:avLst/>
          </a:prstGeom>
          <a:noFill/>
          <a:ln/>
        </p:spPr>
        <p:txBody>
          <a:bodyPr wrap="square" lIns="0" tIns="0" rIns="0" bIns="0" rtlCol="0" anchor="ctr"/>
          <a:lstStyle/>
          <a:p>
            <a:pPr indent="0" marL="0">
              <a:buNone/>
            </a:pPr>
            <a:r>
              <a:rPr lang="en-US" sz="950" b="1" spc="120" kern="0" dirty="0">
                <a:solidFill>
                  <a:srgbClr val="6B7280"/>
                </a:solidFill>
                <a:latin typeface="Calibri" pitchFamily="34" charset="0"/>
                <a:ea typeface="Calibri" pitchFamily="34" charset="-122"/>
                <a:cs typeface="Calibri" pitchFamily="34" charset="-120"/>
              </a:rPr>
              <a:t>SCORE</a:t>
            </a:r>
            <a:endParaRPr lang="en-US" sz="950" dirty="0"/>
          </a:p>
        </p:txBody>
      </p:sp>
      <p:sp>
        <p:nvSpPr>
          <p:cNvPr id="6" name="Text 4"/>
          <p:cNvSpPr/>
          <p:nvPr/>
        </p:nvSpPr>
        <p:spPr>
          <a:xfrm>
            <a:off x="2350008" y="2103120"/>
            <a:ext cx="4023360" cy="219456"/>
          </a:xfrm>
          <a:prstGeom prst="rect">
            <a:avLst/>
          </a:prstGeom>
          <a:noFill/>
          <a:ln/>
        </p:spPr>
        <p:txBody>
          <a:bodyPr wrap="square" lIns="0" tIns="0" rIns="0" bIns="0" rtlCol="0" anchor="ctr"/>
          <a:lstStyle/>
          <a:p>
            <a:pPr indent="0" marL="0">
              <a:buNone/>
            </a:pPr>
            <a:r>
              <a:rPr lang="en-US" sz="950" b="1" spc="120" kern="0" dirty="0">
                <a:solidFill>
                  <a:srgbClr val="6B7280"/>
                </a:solidFill>
                <a:latin typeface="Calibri" pitchFamily="34" charset="0"/>
                <a:ea typeface="Calibri" pitchFamily="34" charset="-122"/>
                <a:cs typeface="Calibri" pitchFamily="34" charset="-120"/>
              </a:rPr>
              <a:t>QUESTION IT ANSWERS</a:t>
            </a:r>
            <a:endParaRPr lang="en-US" sz="950" dirty="0"/>
          </a:p>
        </p:txBody>
      </p:sp>
      <p:sp>
        <p:nvSpPr>
          <p:cNvPr id="7" name="Text 5"/>
          <p:cNvSpPr/>
          <p:nvPr/>
        </p:nvSpPr>
        <p:spPr>
          <a:xfrm>
            <a:off x="6510528" y="2103120"/>
            <a:ext cx="1828800" cy="219456"/>
          </a:xfrm>
          <a:prstGeom prst="rect">
            <a:avLst/>
          </a:prstGeom>
          <a:noFill/>
          <a:ln/>
        </p:spPr>
        <p:txBody>
          <a:bodyPr wrap="square" lIns="0" tIns="0" rIns="0" bIns="0" rtlCol="0" anchor="ctr"/>
          <a:lstStyle/>
          <a:p>
            <a:pPr indent="0" marL="0">
              <a:buNone/>
            </a:pPr>
            <a:r>
              <a:rPr lang="en-US" sz="950" b="1" spc="120" kern="0" dirty="0">
                <a:solidFill>
                  <a:srgbClr val="6B7280"/>
                </a:solidFill>
                <a:latin typeface="Calibri" pitchFamily="34" charset="0"/>
                <a:ea typeface="Calibri" pitchFamily="34" charset="-122"/>
                <a:cs typeface="Calibri" pitchFamily="34" charset="-120"/>
              </a:rPr>
              <a:t>SCALE</a:t>
            </a:r>
            <a:endParaRPr lang="en-US" sz="950" dirty="0"/>
          </a:p>
        </p:txBody>
      </p:sp>
      <p:sp>
        <p:nvSpPr>
          <p:cNvPr id="8" name="Text 6"/>
          <p:cNvSpPr/>
          <p:nvPr/>
        </p:nvSpPr>
        <p:spPr>
          <a:xfrm>
            <a:off x="8476488" y="2103120"/>
            <a:ext cx="2926080" cy="219456"/>
          </a:xfrm>
          <a:prstGeom prst="rect">
            <a:avLst/>
          </a:prstGeom>
          <a:noFill/>
          <a:ln/>
        </p:spPr>
        <p:txBody>
          <a:bodyPr wrap="square" lIns="0" tIns="0" rIns="0" bIns="0" rtlCol="0" anchor="ctr"/>
          <a:lstStyle/>
          <a:p>
            <a:pPr indent="0" marL="0">
              <a:buNone/>
            </a:pPr>
            <a:r>
              <a:rPr lang="en-US" sz="950" b="1" spc="120" kern="0" dirty="0">
                <a:solidFill>
                  <a:srgbClr val="6B7280"/>
                </a:solidFill>
                <a:latin typeface="Calibri" pitchFamily="34" charset="0"/>
                <a:ea typeface="Calibri" pitchFamily="34" charset="-122"/>
                <a:cs typeface="Calibri" pitchFamily="34" charset="-120"/>
              </a:rPr>
              <a:t>SOURCE</a:t>
            </a:r>
            <a:endParaRPr lang="en-US" sz="950" dirty="0"/>
          </a:p>
        </p:txBody>
      </p:sp>
      <p:sp>
        <p:nvSpPr>
          <p:cNvPr id="9" name="Shape 7"/>
          <p:cNvSpPr/>
          <p:nvPr/>
        </p:nvSpPr>
        <p:spPr>
          <a:xfrm>
            <a:off x="566928" y="2395728"/>
            <a:ext cx="11055096" cy="969264"/>
          </a:xfrm>
          <a:prstGeom prst="roundRect">
            <a:avLst>
              <a:gd name="adj" fmla="val 8491"/>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0" name="Text 8"/>
          <p:cNvSpPr/>
          <p:nvPr/>
        </p:nvSpPr>
        <p:spPr>
          <a:xfrm>
            <a:off x="786384" y="2468880"/>
            <a:ext cx="1554480" cy="822960"/>
          </a:xfrm>
          <a:prstGeom prst="rect">
            <a:avLst/>
          </a:prstGeom>
          <a:noFill/>
          <a:ln/>
        </p:spPr>
        <p:txBody>
          <a:bodyPr wrap="square" lIns="0" tIns="0" rIns="0" bIns="0" rtlCol="0" anchor="ctr"/>
          <a:lstStyle/>
          <a:p>
            <a:pPr indent="0" marL="0">
              <a:buNone/>
            </a:pPr>
            <a:r>
              <a:rPr lang="en-US" sz="1600" b="1" dirty="0">
                <a:solidFill>
                  <a:srgbClr val="0C6A73"/>
                </a:solidFill>
                <a:latin typeface="Cambria" pitchFamily="34" charset="0"/>
                <a:ea typeface="Cambria" pitchFamily="34" charset="-122"/>
                <a:cs typeface="Cambria" pitchFamily="34" charset="-120"/>
              </a:rPr>
              <a:t>cPRA</a:t>
            </a:r>
            <a:endParaRPr lang="en-US" sz="1600" dirty="0"/>
          </a:p>
        </p:txBody>
      </p:sp>
      <p:sp>
        <p:nvSpPr>
          <p:cNvPr id="11" name="Text 9"/>
          <p:cNvSpPr/>
          <p:nvPr/>
        </p:nvSpPr>
        <p:spPr>
          <a:xfrm>
            <a:off x="2350008" y="2468880"/>
            <a:ext cx="4069080" cy="822960"/>
          </a:xfrm>
          <a:prstGeom prst="rect">
            <a:avLst/>
          </a:prstGeom>
          <a:noFill/>
          <a:ln/>
        </p:spPr>
        <p:txBody>
          <a:bodyPr wrap="square" lIns="0" tIns="0" rIns="0" bIns="0" rtlCol="0" anchor="ctr"/>
          <a:lstStyle/>
          <a:p>
            <a:pPr indent="0" marL="0">
              <a:lnSpc>
                <a:spcPct val="108000"/>
              </a:lnSpc>
              <a:buNone/>
            </a:pPr>
            <a:r>
              <a:rPr lang="en-US" sz="1200" dirty="0">
                <a:solidFill>
                  <a:srgbClr val="1C1E21"/>
                </a:solidFill>
                <a:latin typeface="Calibri" pitchFamily="34" charset="0"/>
                <a:ea typeface="Calibri" pitchFamily="34" charset="-122"/>
                <a:cs typeface="Calibri" pitchFamily="34" charset="-120"/>
              </a:rPr>
              <a:t>How hard is this recipient to match against the population?</a:t>
            </a:r>
            <a:endParaRPr lang="en-US" sz="1200" dirty="0"/>
          </a:p>
        </p:txBody>
      </p:sp>
      <p:sp>
        <p:nvSpPr>
          <p:cNvPr id="12" name="Text 10"/>
          <p:cNvSpPr/>
          <p:nvPr/>
        </p:nvSpPr>
        <p:spPr>
          <a:xfrm>
            <a:off x="6510528" y="2468880"/>
            <a:ext cx="1874520" cy="822960"/>
          </a:xfrm>
          <a:prstGeom prst="rect">
            <a:avLst/>
          </a:prstGeom>
          <a:noFill/>
          <a:ln/>
        </p:spPr>
        <p:txBody>
          <a:bodyPr wrap="square" lIns="0" tIns="0" rIns="0" bIns="0" rtlCol="0" anchor="ctr"/>
          <a:lstStyle/>
          <a:p>
            <a:pPr indent="0" marL="0">
              <a:lnSpc>
                <a:spcPct val="108000"/>
              </a:lnSpc>
              <a:buNone/>
            </a:pPr>
            <a:r>
              <a:rPr lang="en-US" sz="1200" dirty="0">
                <a:solidFill>
                  <a:srgbClr val="6B7280"/>
                </a:solidFill>
                <a:latin typeface="Calibri" pitchFamily="34" charset="0"/>
                <a:ea typeface="Calibri" pitchFamily="34" charset="-122"/>
                <a:cs typeface="Calibri" pitchFamily="34" charset="-120"/>
              </a:rPr>
              <a:t>0–100%</a:t>
            </a:r>
            <a:endParaRPr lang="en-US" sz="1200" dirty="0"/>
          </a:p>
        </p:txBody>
      </p:sp>
      <p:sp>
        <p:nvSpPr>
          <p:cNvPr id="13" name="Text 11"/>
          <p:cNvSpPr/>
          <p:nvPr/>
        </p:nvSpPr>
        <p:spPr>
          <a:xfrm>
            <a:off x="8476488" y="2468880"/>
            <a:ext cx="2926080" cy="822960"/>
          </a:xfrm>
          <a:prstGeom prst="rect">
            <a:avLst/>
          </a:prstGeom>
          <a:noFill/>
          <a:ln/>
        </p:spPr>
        <p:txBody>
          <a:bodyPr wrap="square" lIns="0" tIns="0" rIns="0" bIns="0" rtlCol="0" anchor="ctr"/>
          <a:lstStyle/>
          <a:p>
            <a:pPr indent="0" marL="0">
              <a:lnSpc>
                <a:spcPct val="108000"/>
              </a:lnSpc>
              <a:buNone/>
            </a:pPr>
            <a:r>
              <a:rPr lang="en-US" sz="1050" i="1" dirty="0">
                <a:solidFill>
                  <a:srgbClr val="6B7280"/>
                </a:solidFill>
                <a:latin typeface="Calibri" pitchFamily="34" charset="0"/>
                <a:ea typeface="Calibri" pitchFamily="34" charset="-122"/>
                <a:cs typeface="Calibri" pitchFamily="34" charset="-120"/>
              </a:rPr>
              <a:t>Grifoni et al., Hum Immunol 2018 — 714 Sri Lankan donors</a:t>
            </a:r>
            <a:endParaRPr lang="en-US" sz="1050" dirty="0"/>
          </a:p>
        </p:txBody>
      </p:sp>
      <p:sp>
        <p:nvSpPr>
          <p:cNvPr id="14" name="Shape 12"/>
          <p:cNvSpPr/>
          <p:nvPr/>
        </p:nvSpPr>
        <p:spPr>
          <a:xfrm>
            <a:off x="566928" y="3529584"/>
            <a:ext cx="11055096" cy="969264"/>
          </a:xfrm>
          <a:prstGeom prst="roundRect">
            <a:avLst>
              <a:gd name="adj" fmla="val 8491"/>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5" name="Text 13"/>
          <p:cNvSpPr/>
          <p:nvPr/>
        </p:nvSpPr>
        <p:spPr>
          <a:xfrm>
            <a:off x="786384" y="3602736"/>
            <a:ext cx="1554480" cy="822960"/>
          </a:xfrm>
          <a:prstGeom prst="rect">
            <a:avLst/>
          </a:prstGeom>
          <a:noFill/>
          <a:ln/>
        </p:spPr>
        <p:txBody>
          <a:bodyPr wrap="square" lIns="0" tIns="0" rIns="0" bIns="0" rtlCol="0" anchor="ctr"/>
          <a:lstStyle/>
          <a:p>
            <a:pPr indent="0" marL="0">
              <a:buNone/>
            </a:pPr>
            <a:r>
              <a:rPr lang="en-US" sz="1600" b="1" dirty="0">
                <a:solidFill>
                  <a:srgbClr val="0C6A73"/>
                </a:solidFill>
                <a:latin typeface="Cambria" pitchFamily="34" charset="0"/>
                <a:ea typeface="Cambria" pitchFamily="34" charset="-122"/>
                <a:cs typeface="Cambria" pitchFamily="34" charset="-120"/>
              </a:rPr>
              <a:t>LKDPI</a:t>
            </a:r>
            <a:endParaRPr lang="en-US" sz="1600" dirty="0"/>
          </a:p>
        </p:txBody>
      </p:sp>
      <p:sp>
        <p:nvSpPr>
          <p:cNvPr id="16" name="Text 14"/>
          <p:cNvSpPr/>
          <p:nvPr/>
        </p:nvSpPr>
        <p:spPr>
          <a:xfrm>
            <a:off x="2350008" y="3602736"/>
            <a:ext cx="4069080" cy="822960"/>
          </a:xfrm>
          <a:prstGeom prst="rect">
            <a:avLst/>
          </a:prstGeom>
          <a:noFill/>
          <a:ln/>
        </p:spPr>
        <p:txBody>
          <a:bodyPr wrap="square" lIns="0" tIns="0" rIns="0" bIns="0" rtlCol="0" anchor="ctr"/>
          <a:lstStyle/>
          <a:p>
            <a:pPr indent="0" marL="0">
              <a:lnSpc>
                <a:spcPct val="108000"/>
              </a:lnSpc>
              <a:buNone/>
            </a:pPr>
            <a:r>
              <a:rPr lang="en-US" sz="1200" dirty="0">
                <a:solidFill>
                  <a:srgbClr val="1C1E21"/>
                </a:solidFill>
                <a:latin typeface="Calibri" pitchFamily="34" charset="0"/>
                <a:ea typeface="Calibri" pitchFamily="34" charset="-122"/>
                <a:cs typeface="Calibri" pitchFamily="34" charset="-120"/>
              </a:rPr>
              <a:t>How good is this kidney, for this recipient?</a:t>
            </a:r>
            <a:endParaRPr lang="en-US" sz="1200" dirty="0"/>
          </a:p>
        </p:txBody>
      </p:sp>
      <p:sp>
        <p:nvSpPr>
          <p:cNvPr id="17" name="Text 15"/>
          <p:cNvSpPr/>
          <p:nvPr/>
        </p:nvSpPr>
        <p:spPr>
          <a:xfrm>
            <a:off x="6510528" y="3602736"/>
            <a:ext cx="1874520" cy="822960"/>
          </a:xfrm>
          <a:prstGeom prst="rect">
            <a:avLst/>
          </a:prstGeom>
          <a:noFill/>
          <a:ln/>
        </p:spPr>
        <p:txBody>
          <a:bodyPr wrap="square" lIns="0" tIns="0" rIns="0" bIns="0" rtlCol="0" anchor="ctr"/>
          <a:lstStyle/>
          <a:p>
            <a:pPr indent="0" marL="0">
              <a:lnSpc>
                <a:spcPct val="108000"/>
              </a:lnSpc>
              <a:buNone/>
            </a:pPr>
            <a:r>
              <a:rPr lang="en-US" sz="1200" dirty="0">
                <a:solidFill>
                  <a:srgbClr val="6B7280"/>
                </a:solidFill>
                <a:latin typeface="Calibri" pitchFamily="34" charset="0"/>
                <a:ea typeface="Calibri" pitchFamily="34" charset="-122"/>
                <a:cs typeface="Calibri" pitchFamily="34" charset="-120"/>
              </a:rPr>
              <a:t>Roughly −80 to +120</a:t>
            </a:r>
            <a:endParaRPr lang="en-US" sz="1200" dirty="0"/>
          </a:p>
        </p:txBody>
      </p:sp>
      <p:sp>
        <p:nvSpPr>
          <p:cNvPr id="18" name="Text 16"/>
          <p:cNvSpPr/>
          <p:nvPr/>
        </p:nvSpPr>
        <p:spPr>
          <a:xfrm>
            <a:off x="8476488" y="3602736"/>
            <a:ext cx="2926080" cy="822960"/>
          </a:xfrm>
          <a:prstGeom prst="rect">
            <a:avLst/>
          </a:prstGeom>
          <a:noFill/>
          <a:ln/>
        </p:spPr>
        <p:txBody>
          <a:bodyPr wrap="square" lIns="0" tIns="0" rIns="0" bIns="0" rtlCol="0" anchor="ctr"/>
          <a:lstStyle/>
          <a:p>
            <a:pPr indent="0" marL="0">
              <a:lnSpc>
                <a:spcPct val="108000"/>
              </a:lnSpc>
              <a:buNone/>
            </a:pPr>
            <a:r>
              <a:rPr lang="en-US" sz="1050" i="1" dirty="0">
                <a:solidFill>
                  <a:srgbClr val="6B7280"/>
                </a:solidFill>
                <a:latin typeface="Calibri" pitchFamily="34" charset="0"/>
                <a:ea typeface="Calibri" pitchFamily="34" charset="-122"/>
                <a:cs typeface="Calibri" pitchFamily="34" charset="-120"/>
              </a:rPr>
              <a:t>Massie et al., Am J Transplant 2016;16(7):2077–2084</a:t>
            </a:r>
            <a:endParaRPr lang="en-US" sz="1050" dirty="0"/>
          </a:p>
        </p:txBody>
      </p:sp>
      <p:sp>
        <p:nvSpPr>
          <p:cNvPr id="19" name="Shape 17"/>
          <p:cNvSpPr/>
          <p:nvPr/>
        </p:nvSpPr>
        <p:spPr>
          <a:xfrm>
            <a:off x="566928" y="4663440"/>
            <a:ext cx="11055096" cy="969264"/>
          </a:xfrm>
          <a:prstGeom prst="roundRect">
            <a:avLst>
              <a:gd name="adj" fmla="val 8491"/>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20" name="Text 18"/>
          <p:cNvSpPr/>
          <p:nvPr/>
        </p:nvSpPr>
        <p:spPr>
          <a:xfrm>
            <a:off x="786384" y="4736592"/>
            <a:ext cx="1554480" cy="822960"/>
          </a:xfrm>
          <a:prstGeom prst="rect">
            <a:avLst/>
          </a:prstGeom>
          <a:noFill/>
          <a:ln/>
        </p:spPr>
        <p:txBody>
          <a:bodyPr wrap="square" lIns="0" tIns="0" rIns="0" bIns="0" rtlCol="0" anchor="ctr"/>
          <a:lstStyle/>
          <a:p>
            <a:pPr indent="0" marL="0">
              <a:buNone/>
            </a:pPr>
            <a:r>
              <a:rPr lang="en-US" sz="1600" b="1" dirty="0">
                <a:solidFill>
                  <a:srgbClr val="0C6A73"/>
                </a:solidFill>
                <a:latin typeface="Cambria" pitchFamily="34" charset="0"/>
                <a:ea typeface="Cambria" pitchFamily="34" charset="-122"/>
                <a:cs typeface="Cambria" pitchFamily="34" charset="-120"/>
              </a:rPr>
              <a:t>ESRD risk</a:t>
            </a:r>
            <a:endParaRPr lang="en-US" sz="1600" dirty="0"/>
          </a:p>
        </p:txBody>
      </p:sp>
      <p:sp>
        <p:nvSpPr>
          <p:cNvPr id="21" name="Text 19"/>
          <p:cNvSpPr/>
          <p:nvPr/>
        </p:nvSpPr>
        <p:spPr>
          <a:xfrm>
            <a:off x="2350008" y="4736592"/>
            <a:ext cx="4069080" cy="822960"/>
          </a:xfrm>
          <a:prstGeom prst="rect">
            <a:avLst/>
          </a:prstGeom>
          <a:noFill/>
          <a:ln/>
        </p:spPr>
        <p:txBody>
          <a:bodyPr wrap="square" lIns="0" tIns="0" rIns="0" bIns="0" rtlCol="0" anchor="ctr"/>
          <a:lstStyle/>
          <a:p>
            <a:pPr indent="0" marL="0">
              <a:lnSpc>
                <a:spcPct val="108000"/>
              </a:lnSpc>
              <a:buNone/>
            </a:pPr>
            <a:r>
              <a:rPr lang="en-US" sz="1200" dirty="0">
                <a:solidFill>
                  <a:srgbClr val="1C1E21"/>
                </a:solidFill>
                <a:latin typeface="Calibri" pitchFamily="34" charset="0"/>
                <a:ea typeface="Calibri" pitchFamily="34" charset="-122"/>
                <a:cs typeface="Calibri" pitchFamily="34" charset="-120"/>
              </a:rPr>
              <a:t>Is it safe for this person to donate at all?</a:t>
            </a:r>
            <a:endParaRPr lang="en-US" sz="1200" dirty="0"/>
          </a:p>
        </p:txBody>
      </p:sp>
      <p:sp>
        <p:nvSpPr>
          <p:cNvPr id="22" name="Text 20"/>
          <p:cNvSpPr/>
          <p:nvPr/>
        </p:nvSpPr>
        <p:spPr>
          <a:xfrm>
            <a:off x="6510528" y="4736592"/>
            <a:ext cx="1874520" cy="822960"/>
          </a:xfrm>
          <a:prstGeom prst="rect">
            <a:avLst/>
          </a:prstGeom>
          <a:noFill/>
          <a:ln/>
        </p:spPr>
        <p:txBody>
          <a:bodyPr wrap="square" lIns="0" tIns="0" rIns="0" bIns="0" rtlCol="0" anchor="ctr"/>
          <a:lstStyle/>
          <a:p>
            <a:pPr indent="0" marL="0">
              <a:lnSpc>
                <a:spcPct val="108000"/>
              </a:lnSpc>
              <a:buNone/>
            </a:pPr>
            <a:r>
              <a:rPr lang="en-US" sz="1200" dirty="0">
                <a:solidFill>
                  <a:srgbClr val="6B7280"/>
                </a:solidFill>
                <a:latin typeface="Calibri" pitchFamily="34" charset="0"/>
                <a:ea typeface="Calibri" pitchFamily="34" charset="-122"/>
                <a:cs typeface="Calibri" pitchFamily="34" charset="-120"/>
              </a:rPr>
              <a:t>% at 15 years and lifetime</a:t>
            </a:r>
            <a:endParaRPr lang="en-US" sz="1200" dirty="0"/>
          </a:p>
        </p:txBody>
      </p:sp>
      <p:sp>
        <p:nvSpPr>
          <p:cNvPr id="23" name="Text 21"/>
          <p:cNvSpPr/>
          <p:nvPr/>
        </p:nvSpPr>
        <p:spPr>
          <a:xfrm>
            <a:off x="8476488" y="4736592"/>
            <a:ext cx="2926080" cy="822960"/>
          </a:xfrm>
          <a:prstGeom prst="rect">
            <a:avLst/>
          </a:prstGeom>
          <a:noFill/>
          <a:ln/>
        </p:spPr>
        <p:txBody>
          <a:bodyPr wrap="square" lIns="0" tIns="0" rIns="0" bIns="0" rtlCol="0" anchor="ctr"/>
          <a:lstStyle/>
          <a:p>
            <a:pPr indent="0" marL="0">
              <a:lnSpc>
                <a:spcPct val="108000"/>
              </a:lnSpc>
              <a:buNone/>
            </a:pPr>
            <a:r>
              <a:rPr lang="en-US" sz="1050" i="1" dirty="0">
                <a:solidFill>
                  <a:srgbClr val="6B7280"/>
                </a:solidFill>
                <a:latin typeface="Calibri" pitchFamily="34" charset="0"/>
                <a:ea typeface="Calibri" pitchFamily="34" charset="-122"/>
                <a:cs typeface="Calibri" pitchFamily="34" charset="-120"/>
              </a:rPr>
              <a:t>Grams et al., N Engl J Med 2016</a:t>
            </a:r>
            <a:endParaRPr lang="en-US" sz="1050" dirty="0"/>
          </a:p>
        </p:txBody>
      </p:sp>
      <p:sp>
        <p:nvSpPr>
          <p:cNvPr id="24" name="Text 22"/>
          <p:cNvSpPr/>
          <p:nvPr/>
        </p:nvSpPr>
        <p:spPr>
          <a:xfrm>
            <a:off x="566928" y="6272784"/>
            <a:ext cx="11055096" cy="310896"/>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Deceased-donor scores such as KDPI, EPTS and the UNOS allocation points were deliberately not used — they exist to rank a queue against one scarce organ, and this system has a named donor and a named recipient.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HOW A SCORE IS PRESENTED</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The number is never shown on its own</a:t>
            </a:r>
            <a:endParaRPr lang="en-US" sz="3000" dirty="0"/>
          </a:p>
        </p:txBody>
      </p:sp>
      <p:sp>
        <p:nvSpPr>
          <p:cNvPr id="4" name="Shape 2"/>
          <p:cNvSpPr/>
          <p:nvPr/>
        </p:nvSpPr>
        <p:spPr>
          <a:xfrm>
            <a:off x="566928" y="1700784"/>
            <a:ext cx="4023360" cy="2651760"/>
          </a:xfrm>
          <a:prstGeom prst="roundRect">
            <a:avLst>
              <a:gd name="adj" fmla="val 3103"/>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5" name="Text 3"/>
          <p:cNvSpPr/>
          <p:nvPr/>
        </p:nvSpPr>
        <p:spPr>
          <a:xfrm>
            <a:off x="859536" y="1901952"/>
            <a:ext cx="3474720" cy="256032"/>
          </a:xfrm>
          <a:prstGeom prst="rect">
            <a:avLst/>
          </a:prstGeom>
          <a:noFill/>
          <a:ln/>
        </p:spPr>
        <p:txBody>
          <a:bodyPr wrap="square" lIns="0" tIns="0" rIns="0" bIns="0" rtlCol="0" anchor="ctr"/>
          <a:lstStyle/>
          <a:p>
            <a:pPr indent="0" marL="0">
              <a:buNone/>
            </a:pPr>
            <a:r>
              <a:rPr lang="en-US" sz="1100" b="1" spc="140" kern="0" dirty="0">
                <a:solidFill>
                  <a:srgbClr val="6B7280"/>
                </a:solidFill>
                <a:latin typeface="Calibri" pitchFamily="34" charset="0"/>
                <a:ea typeface="Calibri" pitchFamily="34" charset="-122"/>
                <a:cs typeface="Calibri" pitchFamily="34" charset="-120"/>
              </a:rPr>
              <a:t>LKDPI</a:t>
            </a:r>
            <a:endParaRPr lang="en-US" sz="1100" dirty="0"/>
          </a:p>
        </p:txBody>
      </p:sp>
      <p:sp>
        <p:nvSpPr>
          <p:cNvPr id="6" name="Text 4"/>
          <p:cNvSpPr/>
          <p:nvPr/>
        </p:nvSpPr>
        <p:spPr>
          <a:xfrm>
            <a:off x="859536" y="2139696"/>
            <a:ext cx="3474720" cy="914400"/>
          </a:xfrm>
          <a:prstGeom prst="rect">
            <a:avLst/>
          </a:prstGeom>
          <a:noFill/>
          <a:ln/>
        </p:spPr>
        <p:txBody>
          <a:bodyPr wrap="square" lIns="0" tIns="0" rIns="0" bIns="0" rtlCol="0" anchor="ctr"/>
          <a:lstStyle/>
          <a:p>
            <a:pPr indent="0" marL="0">
              <a:buNone/>
            </a:pPr>
            <a:r>
              <a:rPr lang="en-US" sz="6000" b="1" dirty="0">
                <a:solidFill>
                  <a:srgbClr val="0C6A73"/>
                </a:solidFill>
                <a:latin typeface="Cambria" pitchFamily="34" charset="0"/>
                <a:ea typeface="Cambria" pitchFamily="34" charset="-122"/>
                <a:cs typeface="Cambria" pitchFamily="34" charset="-120"/>
              </a:rPr>
              <a:t>18.4</a:t>
            </a:r>
            <a:endParaRPr lang="en-US" sz="6000" dirty="0"/>
          </a:p>
        </p:txBody>
      </p:sp>
      <p:sp>
        <p:nvSpPr>
          <p:cNvPr id="7" name="Shape 5"/>
          <p:cNvSpPr/>
          <p:nvPr/>
        </p:nvSpPr>
        <p:spPr>
          <a:xfrm>
            <a:off x="859536" y="3108960"/>
            <a:ext cx="1371600" cy="237744"/>
          </a:xfrm>
          <a:prstGeom prst="roundRect">
            <a:avLst>
              <a:gd name="adj" fmla="val 50000"/>
            </a:avLst>
          </a:prstGeom>
          <a:solidFill>
            <a:srgbClr val="F0FDF4"/>
          </a:solidFill>
          <a:ln w="6350">
            <a:solidFill>
              <a:srgbClr val="F0FDF4"/>
            </a:solidFill>
            <a:prstDash val="solid"/>
          </a:ln>
        </p:spPr>
      </p:sp>
      <p:sp>
        <p:nvSpPr>
          <p:cNvPr id="8" name="Text 6"/>
          <p:cNvSpPr/>
          <p:nvPr/>
        </p:nvSpPr>
        <p:spPr>
          <a:xfrm>
            <a:off x="859536" y="3108960"/>
            <a:ext cx="1371600" cy="237744"/>
          </a:xfrm>
          <a:prstGeom prst="rect">
            <a:avLst/>
          </a:prstGeom>
          <a:noFill/>
          <a:ln/>
        </p:spPr>
        <p:txBody>
          <a:bodyPr wrap="square" lIns="0" tIns="0" rIns="0" bIns="0" rtlCol="0" anchor="ctr"/>
          <a:lstStyle/>
          <a:p>
            <a:pPr algn="ctr" indent="0" marL="0">
              <a:buNone/>
            </a:pPr>
            <a:r>
              <a:rPr lang="en-US" sz="950" b="1" dirty="0">
                <a:solidFill>
                  <a:srgbClr val="16A34A"/>
                </a:solidFill>
                <a:latin typeface="Calibri" pitchFamily="34" charset="0"/>
                <a:ea typeface="Calibri" pitchFamily="34" charset="-122"/>
                <a:cs typeface="Calibri" pitchFamily="34" charset="-120"/>
              </a:rPr>
              <a:t>GOOD</a:t>
            </a:r>
            <a:endParaRPr lang="en-US" sz="950" dirty="0"/>
          </a:p>
        </p:txBody>
      </p:sp>
      <p:sp>
        <p:nvSpPr>
          <p:cNvPr id="9" name="Text 7"/>
          <p:cNvSpPr/>
          <p:nvPr/>
        </p:nvSpPr>
        <p:spPr>
          <a:xfrm>
            <a:off x="859536" y="3474720"/>
            <a:ext cx="3438144" cy="786384"/>
          </a:xfrm>
          <a:prstGeom prst="rect">
            <a:avLst/>
          </a:prstGeom>
          <a:noFill/>
          <a:ln/>
        </p:spPr>
        <p:txBody>
          <a:bodyPr wrap="square" lIns="0" tIns="0" rIns="0" bIns="0" rtlCol="0" anchor="ctr"/>
          <a:lstStyle/>
          <a:p>
            <a:pPr indent="0" marL="0">
              <a:lnSpc>
                <a:spcPct val="112000"/>
              </a:lnSpc>
              <a:buNone/>
            </a:pPr>
            <a:r>
              <a:rPr lang="en-US" sz="1150" dirty="0">
                <a:solidFill>
                  <a:srgbClr val="6B7280"/>
                </a:solidFill>
                <a:latin typeface="Calibri" pitchFamily="34" charset="0"/>
                <a:ea typeface="Calibri" pitchFamily="34" charset="-122"/>
                <a:cs typeface="Calibri" pitchFamily="34" charset="-120"/>
              </a:rPr>
              <a:t>Equivalent to a deceased-donor kidney with KDPI 18. Higher is worse; below zero is better than any deceased-donor kidney.</a:t>
            </a:r>
            <a:endParaRPr lang="en-US" sz="1150" dirty="0"/>
          </a:p>
        </p:txBody>
      </p:sp>
      <p:sp>
        <p:nvSpPr>
          <p:cNvPr id="10" name="Text 8"/>
          <p:cNvSpPr/>
          <p:nvPr/>
        </p:nvSpPr>
        <p:spPr>
          <a:xfrm>
            <a:off x="4846320" y="1700784"/>
            <a:ext cx="6775704" cy="292608"/>
          </a:xfrm>
          <a:prstGeom prst="rect">
            <a:avLst/>
          </a:prstGeom>
          <a:noFill/>
          <a:ln/>
        </p:spPr>
        <p:txBody>
          <a:bodyPr wrap="square" lIns="0" tIns="0" rIns="0" bIns="0" rtlCol="0" anchor="ctr"/>
          <a:lstStyle/>
          <a:p>
            <a:pPr indent="0" marL="0">
              <a:buNone/>
            </a:pPr>
            <a:r>
              <a:rPr lang="en-US" sz="1300" b="1" dirty="0">
                <a:solidFill>
                  <a:srgbClr val="1C1E21"/>
                </a:solidFill>
                <a:latin typeface="Calibri" pitchFamily="34" charset="0"/>
                <a:ea typeface="Calibri" pitchFamily="34" charset="-122"/>
                <a:cs typeface="Calibri" pitchFamily="34" charset="-120"/>
              </a:rPr>
              <a:t>Shown on the same screen, always:</a:t>
            </a:r>
            <a:endParaRPr lang="en-US" sz="1300" dirty="0"/>
          </a:p>
        </p:txBody>
      </p:sp>
      <p:sp>
        <p:nvSpPr>
          <p:cNvPr id="11" name="Shape 9"/>
          <p:cNvSpPr/>
          <p:nvPr/>
        </p:nvSpPr>
        <p:spPr>
          <a:xfrm>
            <a:off x="4846320" y="2139696"/>
            <a:ext cx="274320" cy="274320"/>
          </a:xfrm>
          <a:prstGeom prst="ellipse">
            <a:avLst/>
          </a:prstGeom>
          <a:solidFill>
            <a:srgbClr val="10A99C"/>
          </a:solidFill>
          <a:ln w="6350">
            <a:solidFill>
              <a:srgbClr val="10A99C"/>
            </a:solidFill>
            <a:prstDash val="solid"/>
          </a:ln>
        </p:spPr>
      </p:sp>
      <p:sp>
        <p:nvSpPr>
          <p:cNvPr id="12" name="Text 10"/>
          <p:cNvSpPr/>
          <p:nvPr/>
        </p:nvSpPr>
        <p:spPr>
          <a:xfrm>
            <a:off x="4846320" y="21396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5248656" y="2093976"/>
            <a:ext cx="6391656" cy="384048"/>
          </a:xfrm>
          <a:prstGeom prst="rect">
            <a:avLst/>
          </a:prstGeom>
          <a:noFill/>
          <a:ln/>
        </p:spPr>
        <p:txBody>
          <a:bodyPr wrap="square" lIns="0" tIns="0" rIns="0" bIns="0" rtlCol="0" anchor="ctr"/>
          <a:lstStyle/>
          <a:p>
            <a:pPr indent="0" marL="0">
              <a:lnSpc>
                <a:spcPct val="105000"/>
              </a:lnSpc>
              <a:buNone/>
            </a:pPr>
            <a:r>
              <a:rPr lang="en-US" sz="1200" b="1" dirty="0">
                <a:solidFill>
                  <a:srgbClr val="1C1E21"/>
                </a:solidFill>
                <a:latin typeface="Calibri" pitchFamily="34" charset="0"/>
                <a:ea typeface="Calibri" pitchFamily="34" charset="-122"/>
                <a:cs typeface="Calibri" pitchFamily="34" charset="-120"/>
              </a:rPr>
              <a:t>Band — </a:t>
            </a:r>
            <a:pPr indent="0" marL="0">
              <a:lnSpc>
                <a:spcPct val="105000"/>
              </a:lnSpc>
              <a:buNone/>
            </a:pPr>
            <a:r>
              <a:rPr lang="en-US" sz="1200" dirty="0">
                <a:solidFill>
                  <a:srgbClr val="6B7280"/>
                </a:solidFill>
                <a:latin typeface="Calibri" pitchFamily="34" charset="0"/>
                <a:ea typeface="Calibri" pitchFamily="34" charset="-122"/>
                <a:cs typeface="Calibri" pitchFamily="34" charset="-120"/>
              </a:rPr>
              <a:t>Excellent, good, moderate or marginal, with the ranges stated.</a:t>
            </a:r>
            <a:endParaRPr lang="en-US" sz="1200" dirty="0"/>
          </a:p>
        </p:txBody>
      </p:sp>
      <p:sp>
        <p:nvSpPr>
          <p:cNvPr id="14" name="Shape 12"/>
          <p:cNvSpPr/>
          <p:nvPr/>
        </p:nvSpPr>
        <p:spPr>
          <a:xfrm>
            <a:off x="4846320" y="2688336"/>
            <a:ext cx="274320" cy="274320"/>
          </a:xfrm>
          <a:prstGeom prst="ellipse">
            <a:avLst/>
          </a:prstGeom>
          <a:solidFill>
            <a:srgbClr val="10A99C"/>
          </a:solidFill>
          <a:ln w="6350">
            <a:solidFill>
              <a:srgbClr val="10A99C"/>
            </a:solidFill>
            <a:prstDash val="solid"/>
          </a:ln>
        </p:spPr>
      </p:sp>
      <p:sp>
        <p:nvSpPr>
          <p:cNvPr id="15" name="Text 13"/>
          <p:cNvSpPr/>
          <p:nvPr/>
        </p:nvSpPr>
        <p:spPr>
          <a:xfrm>
            <a:off x="4846320" y="268833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5248656" y="2642616"/>
            <a:ext cx="6391656" cy="384048"/>
          </a:xfrm>
          <a:prstGeom prst="rect">
            <a:avLst/>
          </a:prstGeom>
          <a:noFill/>
          <a:ln/>
        </p:spPr>
        <p:txBody>
          <a:bodyPr wrap="square" lIns="0" tIns="0" rIns="0" bIns="0" rtlCol="0" anchor="ctr"/>
          <a:lstStyle/>
          <a:p>
            <a:pPr indent="0" marL="0">
              <a:lnSpc>
                <a:spcPct val="105000"/>
              </a:lnSpc>
              <a:buNone/>
            </a:pPr>
            <a:r>
              <a:rPr lang="en-US" sz="1200" b="1" dirty="0">
                <a:solidFill>
                  <a:srgbClr val="1C1E21"/>
                </a:solidFill>
                <a:latin typeface="Calibri" pitchFamily="34" charset="0"/>
                <a:ea typeface="Calibri" pitchFamily="34" charset="-122"/>
                <a:cs typeface="Calibri" pitchFamily="34" charset="-120"/>
              </a:rPr>
              <a:t>Plain-language reading — </a:t>
            </a:r>
            <a:pPr indent="0" marL="0">
              <a:lnSpc>
                <a:spcPct val="105000"/>
              </a:lnSpc>
              <a:buNone/>
            </a:pPr>
            <a:r>
              <a:rPr lang="en-US" sz="1200" dirty="0">
                <a:solidFill>
                  <a:srgbClr val="6B7280"/>
                </a:solidFill>
                <a:latin typeface="Calibri" pitchFamily="34" charset="0"/>
                <a:ea typeface="Calibri" pitchFamily="34" charset="-122"/>
                <a:cs typeface="Calibri" pitchFamily="34" charset="-120"/>
              </a:rPr>
              <a:t>One sentence on what the number means in practice.</a:t>
            </a:r>
            <a:endParaRPr lang="en-US" sz="1200" dirty="0"/>
          </a:p>
        </p:txBody>
      </p:sp>
      <p:sp>
        <p:nvSpPr>
          <p:cNvPr id="17" name="Shape 15"/>
          <p:cNvSpPr/>
          <p:nvPr/>
        </p:nvSpPr>
        <p:spPr>
          <a:xfrm>
            <a:off x="4846320" y="3236976"/>
            <a:ext cx="274320" cy="274320"/>
          </a:xfrm>
          <a:prstGeom prst="ellipse">
            <a:avLst/>
          </a:prstGeom>
          <a:solidFill>
            <a:srgbClr val="10A99C"/>
          </a:solidFill>
          <a:ln w="6350">
            <a:solidFill>
              <a:srgbClr val="10A99C"/>
            </a:solidFill>
            <a:prstDash val="solid"/>
          </a:ln>
        </p:spPr>
      </p:sp>
      <p:sp>
        <p:nvSpPr>
          <p:cNvPr id="18" name="Text 16"/>
          <p:cNvSpPr/>
          <p:nvPr/>
        </p:nvSpPr>
        <p:spPr>
          <a:xfrm>
            <a:off x="4846320" y="32369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5248656" y="3191256"/>
            <a:ext cx="6391656" cy="384048"/>
          </a:xfrm>
          <a:prstGeom prst="rect">
            <a:avLst/>
          </a:prstGeom>
          <a:noFill/>
          <a:ln/>
        </p:spPr>
        <p:txBody>
          <a:bodyPr wrap="square" lIns="0" tIns="0" rIns="0" bIns="0" rtlCol="0" anchor="ctr"/>
          <a:lstStyle/>
          <a:p>
            <a:pPr indent="0" marL="0">
              <a:lnSpc>
                <a:spcPct val="105000"/>
              </a:lnSpc>
              <a:buNone/>
            </a:pPr>
            <a:r>
              <a:rPr lang="en-US" sz="1200" b="1" dirty="0">
                <a:solidFill>
                  <a:srgbClr val="1C1E21"/>
                </a:solidFill>
                <a:latin typeface="Calibri" pitchFamily="34" charset="0"/>
                <a:ea typeface="Calibri" pitchFamily="34" charset="-122"/>
                <a:cs typeface="Calibri" pitchFamily="34" charset="-120"/>
              </a:rPr>
              <a:t>Every contributing factor — </a:t>
            </a:r>
            <a:pPr indent="0" marL="0">
              <a:lnSpc>
                <a:spcPct val="105000"/>
              </a:lnSpc>
              <a:buNone/>
            </a:pPr>
            <a:r>
              <a:rPr lang="en-US" sz="1200" dirty="0">
                <a:solidFill>
                  <a:srgbClr val="6B7280"/>
                </a:solidFill>
                <a:latin typeface="Calibri" pitchFamily="34" charset="0"/>
                <a:ea typeface="Calibri" pitchFamily="34" charset="-122"/>
                <a:cs typeface="Calibri" pitchFamily="34" charset="-120"/>
              </a:rPr>
              <a:t>Each input that moved the score, with its point value.</a:t>
            </a:r>
            <a:endParaRPr lang="en-US" sz="1200" dirty="0"/>
          </a:p>
        </p:txBody>
      </p:sp>
      <p:sp>
        <p:nvSpPr>
          <p:cNvPr id="20" name="Shape 18"/>
          <p:cNvSpPr/>
          <p:nvPr/>
        </p:nvSpPr>
        <p:spPr>
          <a:xfrm>
            <a:off x="4846320" y="3785616"/>
            <a:ext cx="274320" cy="274320"/>
          </a:xfrm>
          <a:prstGeom prst="ellipse">
            <a:avLst/>
          </a:prstGeom>
          <a:solidFill>
            <a:srgbClr val="10A99C"/>
          </a:solidFill>
          <a:ln w="6350">
            <a:solidFill>
              <a:srgbClr val="10A99C"/>
            </a:solidFill>
            <a:prstDash val="solid"/>
          </a:ln>
        </p:spPr>
      </p:sp>
      <p:sp>
        <p:nvSpPr>
          <p:cNvPr id="21" name="Text 19"/>
          <p:cNvSpPr/>
          <p:nvPr/>
        </p:nvSpPr>
        <p:spPr>
          <a:xfrm>
            <a:off x="4846320" y="37856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5248656" y="3739896"/>
            <a:ext cx="6391656" cy="384048"/>
          </a:xfrm>
          <a:prstGeom prst="rect">
            <a:avLst/>
          </a:prstGeom>
          <a:noFill/>
          <a:ln/>
        </p:spPr>
        <p:txBody>
          <a:bodyPr wrap="square" lIns="0" tIns="0" rIns="0" bIns="0" rtlCol="0" anchor="ctr"/>
          <a:lstStyle/>
          <a:p>
            <a:pPr indent="0" marL="0">
              <a:lnSpc>
                <a:spcPct val="105000"/>
              </a:lnSpc>
              <a:buNone/>
            </a:pPr>
            <a:r>
              <a:rPr lang="en-US" sz="1200" b="1" dirty="0">
                <a:solidFill>
                  <a:srgbClr val="1C1E21"/>
                </a:solidFill>
                <a:latin typeface="Calibri" pitchFamily="34" charset="0"/>
                <a:ea typeface="Calibri" pitchFamily="34" charset="-122"/>
                <a:cs typeface="Calibri" pitchFamily="34" charset="-120"/>
              </a:rPr>
              <a:t>The model's limitations — </a:t>
            </a:r>
            <a:pPr indent="0" marL="0">
              <a:lnSpc>
                <a:spcPct val="105000"/>
              </a:lnSpc>
              <a:buNone/>
            </a:pPr>
            <a:r>
              <a:rPr lang="en-US" sz="1200" dirty="0">
                <a:solidFill>
                  <a:srgbClr val="6B7280"/>
                </a:solidFill>
                <a:latin typeface="Calibri" pitchFamily="34" charset="0"/>
                <a:ea typeface="Calibri" pitchFamily="34" charset="-122"/>
                <a:cs typeface="Calibri" pitchFamily="34" charset="-120"/>
              </a:rPr>
              <a:t>Not behind a tooltip — on the card itself.</a:t>
            </a:r>
            <a:endParaRPr lang="en-US" sz="1200" dirty="0"/>
          </a:p>
        </p:txBody>
      </p:sp>
      <p:sp>
        <p:nvSpPr>
          <p:cNvPr id="23" name="Shape 21"/>
          <p:cNvSpPr/>
          <p:nvPr/>
        </p:nvSpPr>
        <p:spPr>
          <a:xfrm>
            <a:off x="4846320" y="4334256"/>
            <a:ext cx="274320" cy="274320"/>
          </a:xfrm>
          <a:prstGeom prst="ellipse">
            <a:avLst/>
          </a:prstGeom>
          <a:solidFill>
            <a:srgbClr val="10A99C"/>
          </a:solidFill>
          <a:ln w="6350">
            <a:solidFill>
              <a:srgbClr val="10A99C"/>
            </a:solidFill>
            <a:prstDash val="solid"/>
          </a:ln>
        </p:spPr>
      </p:sp>
      <p:sp>
        <p:nvSpPr>
          <p:cNvPr id="24" name="Text 22"/>
          <p:cNvSpPr/>
          <p:nvPr/>
        </p:nvSpPr>
        <p:spPr>
          <a:xfrm>
            <a:off x="4846320" y="43342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5" name="Text 23"/>
          <p:cNvSpPr/>
          <p:nvPr/>
        </p:nvSpPr>
        <p:spPr>
          <a:xfrm>
            <a:off x="5248656" y="4288536"/>
            <a:ext cx="6391656" cy="384048"/>
          </a:xfrm>
          <a:prstGeom prst="rect">
            <a:avLst/>
          </a:prstGeom>
          <a:noFill/>
          <a:ln/>
        </p:spPr>
        <p:txBody>
          <a:bodyPr wrap="square" lIns="0" tIns="0" rIns="0" bIns="0" rtlCol="0" anchor="ctr"/>
          <a:lstStyle/>
          <a:p>
            <a:pPr indent="0" marL="0">
              <a:lnSpc>
                <a:spcPct val="105000"/>
              </a:lnSpc>
              <a:buNone/>
            </a:pPr>
            <a:r>
              <a:rPr lang="en-US" sz="1200" b="1" dirty="0">
                <a:solidFill>
                  <a:srgbClr val="1C1E21"/>
                </a:solidFill>
                <a:latin typeface="Calibri" pitchFamily="34" charset="0"/>
                <a:ea typeface="Calibri" pitchFamily="34" charset="-122"/>
                <a:cs typeface="Calibri" pitchFamily="34" charset="-120"/>
              </a:rPr>
              <a:t>A disclaimer of authority — </a:t>
            </a:r>
            <a:pPr indent="0" marL="0">
              <a:lnSpc>
                <a:spcPct val="105000"/>
              </a:lnSpc>
              <a:buNone/>
            </a:pPr>
            <a:r>
              <a:rPr lang="en-US" sz="1200" dirty="0">
                <a:solidFill>
                  <a:srgbClr val="6B7280"/>
                </a:solidFill>
                <a:latin typeface="Calibri" pitchFamily="34" charset="0"/>
                <a:ea typeface="Calibri" pitchFamily="34" charset="-122"/>
                <a:cs typeface="Calibri" pitchFamily="34" charset="-120"/>
              </a:rPr>
              <a:t>An aid to clinical assessment, not a substitute for judgement.</a:t>
            </a:r>
            <a:endParaRPr lang="en-US" sz="1200" dirty="0"/>
          </a:p>
        </p:txBody>
      </p:sp>
      <p:sp>
        <p:nvSpPr>
          <p:cNvPr id="26" name="Shape 24"/>
          <p:cNvSpPr/>
          <p:nvPr/>
        </p:nvSpPr>
        <p:spPr>
          <a:xfrm>
            <a:off x="566928" y="4937760"/>
            <a:ext cx="11055096" cy="1005840"/>
          </a:xfrm>
          <a:prstGeom prst="roundRect">
            <a:avLst>
              <a:gd name="adj" fmla="val 7273"/>
            </a:avLst>
          </a:prstGeom>
          <a:solidFill>
            <a:srgbClr val="FFFBEB"/>
          </a:solidFill>
          <a:ln w="11430">
            <a:solidFill>
              <a:srgbClr val="D97706"/>
            </a:solidFill>
            <a:prstDash val="solid"/>
          </a:ln>
        </p:spPr>
      </p:sp>
      <p:sp>
        <p:nvSpPr>
          <p:cNvPr id="27" name="Text 25"/>
          <p:cNvSpPr/>
          <p:nvPr/>
        </p:nvSpPr>
        <p:spPr>
          <a:xfrm>
            <a:off x="768096" y="4992624"/>
            <a:ext cx="10652760" cy="896112"/>
          </a:xfrm>
          <a:prstGeom prst="rect">
            <a:avLst/>
          </a:prstGeom>
          <a:noFill/>
          <a:ln/>
        </p:spPr>
        <p:txBody>
          <a:bodyPr wrap="square" lIns="0" tIns="0" rIns="0" bIns="0" rtlCol="0" anchor="ctr"/>
          <a:lstStyle/>
          <a:p>
            <a:pPr indent="0" marL="0">
              <a:lnSpc>
                <a:spcPct val="108000"/>
              </a:lnSpc>
              <a:buNone/>
            </a:pPr>
            <a:r>
              <a:rPr lang="en-US" sz="1150" dirty="0">
                <a:solidFill>
                  <a:srgbClr val="D97706"/>
                </a:solidFill>
                <a:latin typeface="Calibri" pitchFamily="34" charset="0"/>
                <a:ea typeface="Calibri" pitchFamily="34" charset="-122"/>
                <a:cs typeface="Calibri" pitchFamily="34" charset="-120"/>
              </a:rPr>
              <a:t>Stated openly on the card: LKDPI's discrimination in external validation is 0.55 — close to chance — and it has never been validated in a South Asian population. It is intended for comparing candidate donors with each other, not for predicting one patient's outcome. Hiding that would make the number more persuasive than it deserves to be.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DONOR SAFETY</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"Is it safe for this person to donate?"</a:t>
            </a:r>
            <a:endParaRPr lang="en-US" sz="3000" dirty="0"/>
          </a:p>
        </p:txBody>
      </p:sp>
      <p:sp>
        <p:nvSpPr>
          <p:cNvPr id="4" name="Text 2"/>
          <p:cNvSpPr/>
          <p:nvPr/>
        </p:nvSpPr>
        <p:spPr>
          <a:xfrm>
            <a:off x="566928" y="1225296"/>
            <a:ext cx="10689336" cy="402336"/>
          </a:xfrm>
          <a:prstGeom prst="rect">
            <a:avLst/>
          </a:prstGeom>
          <a:noFill/>
          <a:ln/>
        </p:spPr>
        <p:txBody>
          <a:bodyPr wrap="square" lIns="0" tIns="0" rIns="0" bIns="0" rtlCol="0" anchor="ctr"/>
          <a:lstStyle/>
          <a:p>
            <a:pPr indent="0" marL="0">
              <a:lnSpc>
                <a:spcPct val="112000"/>
              </a:lnSpc>
              <a:buNone/>
            </a:pPr>
            <a:r>
              <a:rPr lang="en-US" sz="1350" dirty="0">
                <a:solidFill>
                  <a:srgbClr val="6B7280"/>
                </a:solidFill>
                <a:latin typeface="Calibri" pitchFamily="34" charset="0"/>
                <a:ea typeface="Calibri" pitchFamily="34" charset="-122"/>
                <a:cs typeface="Calibri" pitchFamily="34" charset="-120"/>
              </a:rPr>
              <a:t>Answered entirely on its own, with no reference to any recipient. A donor can be a perfect immunological match and still be someone who should not donate.</a:t>
            </a:r>
            <a:endParaRPr lang="en-US" sz="1350" dirty="0"/>
          </a:p>
        </p:txBody>
      </p:sp>
      <p:sp>
        <p:nvSpPr>
          <p:cNvPr id="5" name="Shape 3"/>
          <p:cNvSpPr/>
          <p:nvPr/>
        </p:nvSpPr>
        <p:spPr>
          <a:xfrm>
            <a:off x="566928" y="2286000"/>
            <a:ext cx="5394960" cy="2286000"/>
          </a:xfrm>
          <a:prstGeom prst="roundRect">
            <a:avLst>
              <a:gd name="adj" fmla="val 360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6" name="Text 4"/>
          <p:cNvSpPr/>
          <p:nvPr/>
        </p:nvSpPr>
        <p:spPr>
          <a:xfrm>
            <a:off x="841248" y="2487168"/>
            <a:ext cx="4846320" cy="365760"/>
          </a:xfrm>
          <a:prstGeom prst="rect">
            <a:avLst/>
          </a:prstGeom>
          <a:noFill/>
          <a:ln/>
        </p:spPr>
        <p:txBody>
          <a:bodyPr wrap="square" lIns="0" tIns="0" rIns="0" bIns="0" rtlCol="0" anchor="ctr"/>
          <a:lstStyle/>
          <a:p>
            <a:pPr indent="0" marL="0">
              <a:buNone/>
            </a:pPr>
            <a:r>
              <a:rPr lang="en-US" sz="1800" b="1" dirty="0">
                <a:solidFill>
                  <a:srgbClr val="1C1E21"/>
                </a:solidFill>
                <a:latin typeface="Cambria" pitchFamily="34" charset="0"/>
                <a:ea typeface="Cambria" pitchFamily="34" charset="-122"/>
                <a:cs typeface="Cambria" pitchFamily="34" charset="-120"/>
              </a:rPr>
              <a:t>Contraindication screen</a:t>
            </a:r>
            <a:endParaRPr lang="en-US" sz="1800" dirty="0"/>
          </a:p>
        </p:txBody>
      </p:sp>
      <p:sp>
        <p:nvSpPr>
          <p:cNvPr id="7" name="Text 5"/>
          <p:cNvSpPr/>
          <p:nvPr/>
        </p:nvSpPr>
        <p:spPr>
          <a:xfrm>
            <a:off x="841248" y="2907792"/>
            <a:ext cx="4846320" cy="1481328"/>
          </a:xfrm>
          <a:prstGeom prst="rect">
            <a:avLst/>
          </a:prstGeom>
          <a:noFill/>
          <a:ln/>
        </p:spPr>
        <p:txBody>
          <a:bodyPr wrap="square" lIns="0" tIns="0" rIns="0" bIns="0" rtlCol="0" anchor="ctr"/>
          <a:lstStyle/>
          <a:p>
            <a:pPr indent="0" marL="0">
              <a:lnSpc>
                <a:spcPct val="114000"/>
              </a:lnSpc>
              <a:buNone/>
            </a:pPr>
            <a:r>
              <a:rPr lang="en-US" sz="1200" dirty="0">
                <a:solidFill>
                  <a:srgbClr val="6B7280"/>
                </a:solidFill>
                <a:latin typeface="Calibri" pitchFamily="34" charset="0"/>
                <a:ea typeface="Calibri" pitchFamily="34" charset="-122"/>
                <a:cs typeface="Calibri" pitchFamily="34" charset="-120"/>
              </a:rPr>
              <a:t>Checks the exclusion criteria the model's own authors used to define a low-risk donor: kidney function, blood pressure, and albuminuria.</a:t>
            </a:r>
            <a:endParaRPr lang="en-US" sz="1200" dirty="0"/>
          </a:p>
          <a:p>
            <a:pPr indent="0" marL="0">
              <a:lnSpc>
                <a:spcPct val="114000"/>
              </a:lnSpc>
              <a:buNone/>
            </a:pPr>
            <a:endParaRPr lang="en-US" sz="1200" dirty="0"/>
          </a:p>
          <a:p>
            <a:pPr indent="0" marL="0">
              <a:lnSpc>
                <a:spcPct val="114000"/>
              </a:lnSpc>
              <a:buNone/>
            </a:pPr>
            <a:r>
              <a:rPr lang="en-US" sz="1200" dirty="0">
                <a:solidFill>
                  <a:srgbClr val="6B7280"/>
                </a:solidFill>
                <a:latin typeface="Calibri" pitchFamily="34" charset="0"/>
                <a:ea typeface="Calibri" pitchFamily="34" charset="-122"/>
                <a:cs typeface="Calibri" pitchFamily="34" charset="-120"/>
              </a:rPr>
              <a:t>Three of the six criteria need data this system does not hold. Those three are named in the result rather than quietly dropped.</a:t>
            </a:r>
            <a:endParaRPr lang="en-US" sz="1200" dirty="0"/>
          </a:p>
        </p:txBody>
      </p:sp>
      <p:sp>
        <p:nvSpPr>
          <p:cNvPr id="8" name="Shape 6"/>
          <p:cNvSpPr/>
          <p:nvPr/>
        </p:nvSpPr>
        <p:spPr>
          <a:xfrm>
            <a:off x="6227064" y="2286000"/>
            <a:ext cx="5394960" cy="2286000"/>
          </a:xfrm>
          <a:prstGeom prst="roundRect">
            <a:avLst>
              <a:gd name="adj" fmla="val 360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9" name="Text 7"/>
          <p:cNvSpPr/>
          <p:nvPr/>
        </p:nvSpPr>
        <p:spPr>
          <a:xfrm>
            <a:off x="6501384" y="2487168"/>
            <a:ext cx="4846320" cy="365760"/>
          </a:xfrm>
          <a:prstGeom prst="rect">
            <a:avLst/>
          </a:prstGeom>
          <a:noFill/>
          <a:ln/>
        </p:spPr>
        <p:txBody>
          <a:bodyPr wrap="square" lIns="0" tIns="0" rIns="0" bIns="0" rtlCol="0" anchor="ctr"/>
          <a:lstStyle/>
          <a:p>
            <a:pPr indent="0" marL="0">
              <a:buNone/>
            </a:pPr>
            <a:r>
              <a:rPr lang="en-US" sz="1800" b="1" dirty="0">
                <a:solidFill>
                  <a:srgbClr val="1C1E21"/>
                </a:solidFill>
                <a:latin typeface="Cambria" pitchFamily="34" charset="0"/>
                <a:ea typeface="Cambria" pitchFamily="34" charset="-122"/>
                <a:cs typeface="Cambria" pitchFamily="34" charset="-120"/>
              </a:rPr>
              <a:t>Projected risk of kidney failure</a:t>
            </a:r>
            <a:endParaRPr lang="en-US" sz="1800" dirty="0"/>
          </a:p>
        </p:txBody>
      </p:sp>
      <p:sp>
        <p:nvSpPr>
          <p:cNvPr id="10" name="Text 8"/>
          <p:cNvSpPr/>
          <p:nvPr/>
        </p:nvSpPr>
        <p:spPr>
          <a:xfrm>
            <a:off x="6501384" y="2907792"/>
            <a:ext cx="4846320" cy="1481328"/>
          </a:xfrm>
          <a:prstGeom prst="rect">
            <a:avLst/>
          </a:prstGeom>
          <a:noFill/>
          <a:ln/>
        </p:spPr>
        <p:txBody>
          <a:bodyPr wrap="square" lIns="0" tIns="0" rIns="0" bIns="0" rtlCol="0" anchor="ctr"/>
          <a:lstStyle/>
          <a:p>
            <a:pPr indent="0" marL="0">
              <a:lnSpc>
                <a:spcPct val="114000"/>
              </a:lnSpc>
              <a:buNone/>
            </a:pPr>
            <a:r>
              <a:rPr lang="en-US" sz="1200" dirty="0">
                <a:solidFill>
                  <a:srgbClr val="6B7280"/>
                </a:solidFill>
                <a:latin typeface="Calibri" pitchFamily="34" charset="0"/>
                <a:ea typeface="Calibri" pitchFamily="34" charset="-122"/>
                <a:cs typeface="Calibri" pitchFamily="34" charset="-120"/>
              </a:rPr>
              <a:t>A 15-year and lifetime projection of end-stage renal disease in the absence of donation, plus a relative-risk multiplier against this donor's own baseline.</a:t>
            </a:r>
            <a:endParaRPr lang="en-US" sz="1200" dirty="0"/>
          </a:p>
          <a:p>
            <a:pPr indent="0" marL="0">
              <a:lnSpc>
                <a:spcPct val="114000"/>
              </a:lnSpc>
              <a:buNone/>
            </a:pPr>
            <a:endParaRPr lang="en-US" sz="1200" dirty="0"/>
          </a:p>
          <a:p>
            <a:pPr indent="0" marL="0">
              <a:lnSpc>
                <a:spcPct val="114000"/>
              </a:lnSpc>
              <a:buNone/>
            </a:pPr>
            <a:r>
              <a:rPr lang="en-US" sz="1200" dirty="0">
                <a:solidFill>
                  <a:srgbClr val="6B7280"/>
                </a:solidFill>
                <a:latin typeface="Calibri" pitchFamily="34" charset="0"/>
                <a:ea typeface="Calibri" pitchFamily="34" charset="-122"/>
                <a:cs typeface="Calibri" pitchFamily="34" charset="-120"/>
              </a:rPr>
              <a:t>Values outside the range the model was built on are flagged as extrapolated rather than silently scored.</a:t>
            </a:r>
            <a:endParaRPr lang="en-US" sz="1200" dirty="0"/>
          </a:p>
        </p:txBody>
      </p:sp>
      <p:sp>
        <p:nvSpPr>
          <p:cNvPr id="11" name="Shape 9"/>
          <p:cNvSpPr/>
          <p:nvPr/>
        </p:nvSpPr>
        <p:spPr>
          <a:xfrm>
            <a:off x="566928" y="4846320"/>
            <a:ext cx="11055096" cy="914400"/>
          </a:xfrm>
          <a:prstGeom prst="roundRect">
            <a:avLst>
              <a:gd name="adj" fmla="val 8000"/>
            </a:avLst>
          </a:prstGeom>
          <a:solidFill>
            <a:srgbClr val="E8F4F3"/>
          </a:solidFill>
          <a:ln w="11430">
            <a:solidFill>
              <a:srgbClr val="0C6A73"/>
            </a:solidFill>
            <a:prstDash val="solid"/>
          </a:ln>
        </p:spPr>
      </p:sp>
      <p:sp>
        <p:nvSpPr>
          <p:cNvPr id="12" name="Text 10"/>
          <p:cNvSpPr/>
          <p:nvPr/>
        </p:nvSpPr>
        <p:spPr>
          <a:xfrm>
            <a:off x="768096" y="4901184"/>
            <a:ext cx="10652760" cy="804672"/>
          </a:xfrm>
          <a:prstGeom prst="rect">
            <a:avLst/>
          </a:prstGeom>
          <a:noFill/>
          <a:ln/>
        </p:spPr>
        <p:txBody>
          <a:bodyPr wrap="square" lIns="0" tIns="0" rIns="0" bIns="0" rtlCol="0" anchor="ctr"/>
          <a:lstStyle/>
          <a:p>
            <a:pPr indent="0" marL="0">
              <a:lnSpc>
                <a:spcPct val="108000"/>
              </a:lnSpc>
              <a:buNone/>
            </a:pPr>
            <a:r>
              <a:rPr lang="en-US" sz="1150" dirty="0">
                <a:solidFill>
                  <a:srgbClr val="0C6A73"/>
                </a:solidFill>
                <a:latin typeface="Calibri" pitchFamily="34" charset="0"/>
                <a:ea typeface="Calibri" pitchFamily="34" charset="-122"/>
                <a:cs typeface="Calibri" pitchFamily="34" charset="-120"/>
              </a:rPr>
              <a:t>If a required measurement is missing, the system names it and declines to project. It never substitutes a default, an average or a zero — a projection built on filled-in blanks looks identical to one built on real measurements, and that is the more dangerous failure.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DOCUMENT READING</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Photograph the lab report; the system reads it</a:t>
            </a:r>
            <a:endParaRPr lang="en-US" sz="3000" dirty="0"/>
          </a:p>
        </p:txBody>
      </p:sp>
      <p:sp>
        <p:nvSpPr>
          <p:cNvPr id="4" name="Text 2"/>
          <p:cNvSpPr/>
          <p:nvPr/>
        </p:nvSpPr>
        <p:spPr>
          <a:xfrm>
            <a:off x="566928" y="1225296"/>
            <a:ext cx="10689336" cy="402336"/>
          </a:xfrm>
          <a:prstGeom prst="rect">
            <a:avLst/>
          </a:prstGeom>
          <a:noFill/>
          <a:ln/>
        </p:spPr>
        <p:txBody>
          <a:bodyPr wrap="square" lIns="0" tIns="0" rIns="0" bIns="0" rtlCol="0" anchor="ctr"/>
          <a:lstStyle/>
          <a:p>
            <a:pPr indent="0" marL="0">
              <a:lnSpc>
                <a:spcPct val="112000"/>
              </a:lnSpc>
              <a:buNone/>
            </a:pPr>
            <a:r>
              <a:rPr lang="en-US" sz="1350" dirty="0">
                <a:solidFill>
                  <a:srgbClr val="6B7280"/>
                </a:solidFill>
                <a:latin typeface="Calibri" pitchFamily="34" charset="0"/>
                <a:ea typeface="Calibri" pitchFamily="34" charset="-122"/>
                <a:cs typeface="Calibri" pitchFamily="34" charset="-120"/>
              </a:rPr>
              <a:t>Typing a bead-specificity chart by hand takes time and introduces transcription errors. A doctor photographs the HLA typing report, the bead chart and the crossmatch report, and the values are extracted into the form.</a:t>
            </a:r>
            <a:endParaRPr lang="en-US" sz="1350" dirty="0"/>
          </a:p>
        </p:txBody>
      </p:sp>
      <p:sp>
        <p:nvSpPr>
          <p:cNvPr id="5" name="Shape 3"/>
          <p:cNvSpPr/>
          <p:nvPr/>
        </p:nvSpPr>
        <p:spPr>
          <a:xfrm>
            <a:off x="566928" y="2395728"/>
            <a:ext cx="2633472" cy="1828800"/>
          </a:xfrm>
          <a:prstGeom prst="roundRect">
            <a:avLst>
              <a:gd name="adj" fmla="val 450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6" name="Shape 4"/>
          <p:cNvSpPr/>
          <p:nvPr/>
        </p:nvSpPr>
        <p:spPr>
          <a:xfrm>
            <a:off x="822960" y="2615184"/>
            <a:ext cx="384048" cy="384048"/>
          </a:xfrm>
          <a:prstGeom prst="ellipse">
            <a:avLst/>
          </a:prstGeom>
          <a:solidFill>
            <a:srgbClr val="0C6A73"/>
          </a:solidFill>
          <a:ln w="6350">
            <a:solidFill>
              <a:srgbClr val="0C6A73"/>
            </a:solidFill>
            <a:prstDash val="solid"/>
          </a:ln>
        </p:spPr>
      </p:sp>
      <p:sp>
        <p:nvSpPr>
          <p:cNvPr id="7" name="Text 5"/>
          <p:cNvSpPr/>
          <p:nvPr/>
        </p:nvSpPr>
        <p:spPr>
          <a:xfrm>
            <a:off x="822960" y="26151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335024" y="2651760"/>
            <a:ext cx="1627632" cy="310896"/>
          </a:xfrm>
          <a:prstGeom prst="rect">
            <a:avLst/>
          </a:prstGeom>
          <a:noFill/>
          <a:ln/>
        </p:spPr>
        <p:txBody>
          <a:bodyPr wrap="square" lIns="0" tIns="0" rIns="0" bIns="0" rtlCol="0" anchor="ctr"/>
          <a:lstStyle/>
          <a:p>
            <a:pPr indent="0" marL="0">
              <a:buNone/>
            </a:pPr>
            <a:r>
              <a:rPr lang="en-US" sz="1600" b="1" dirty="0">
                <a:solidFill>
                  <a:srgbClr val="1C1E21"/>
                </a:solidFill>
                <a:latin typeface="Cambria" pitchFamily="34" charset="0"/>
                <a:ea typeface="Cambria" pitchFamily="34" charset="-122"/>
                <a:cs typeface="Cambria" pitchFamily="34" charset="-120"/>
              </a:rPr>
              <a:t>Upload</a:t>
            </a:r>
            <a:endParaRPr lang="en-US" sz="1600" dirty="0"/>
          </a:p>
        </p:txBody>
      </p:sp>
      <p:sp>
        <p:nvSpPr>
          <p:cNvPr id="9" name="Text 7"/>
          <p:cNvSpPr/>
          <p:nvPr/>
        </p:nvSpPr>
        <p:spPr>
          <a:xfrm>
            <a:off x="822960" y="3035808"/>
            <a:ext cx="2121408" cy="1005840"/>
          </a:xfrm>
          <a:prstGeom prst="rect">
            <a:avLst/>
          </a:prstGeom>
          <a:noFill/>
          <a:ln/>
        </p:spPr>
        <p:txBody>
          <a:bodyPr wrap="square" lIns="0" tIns="0" rIns="0" bIns="0" rtlCol="0" anchor="ctr"/>
          <a:lstStyle/>
          <a:p>
            <a:pPr indent="0" marL="0">
              <a:lnSpc>
                <a:spcPct val="112000"/>
              </a:lnSpc>
              <a:buNone/>
            </a:pPr>
            <a:r>
              <a:rPr lang="en-US" sz="1150" dirty="0">
                <a:solidFill>
                  <a:srgbClr val="6B7280"/>
                </a:solidFill>
                <a:latin typeface="Calibri" pitchFamily="34" charset="0"/>
                <a:ea typeface="Calibri" pitchFamily="34" charset="-122"/>
                <a:cs typeface="Calibri" pitchFamily="34" charset="-120"/>
              </a:rPr>
              <a:t>Up to four photographs, taken on a phone.</a:t>
            </a:r>
            <a:endParaRPr lang="en-US" sz="1150" dirty="0"/>
          </a:p>
        </p:txBody>
      </p:sp>
      <p:sp>
        <p:nvSpPr>
          <p:cNvPr id="10" name="Shape 8"/>
          <p:cNvSpPr/>
          <p:nvPr/>
        </p:nvSpPr>
        <p:spPr>
          <a:xfrm>
            <a:off x="3369564" y="2395728"/>
            <a:ext cx="2633472" cy="1828800"/>
          </a:xfrm>
          <a:prstGeom prst="roundRect">
            <a:avLst>
              <a:gd name="adj" fmla="val 450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1" name="Shape 9"/>
          <p:cNvSpPr/>
          <p:nvPr/>
        </p:nvSpPr>
        <p:spPr>
          <a:xfrm>
            <a:off x="3625596" y="2615184"/>
            <a:ext cx="384048" cy="384048"/>
          </a:xfrm>
          <a:prstGeom prst="ellipse">
            <a:avLst/>
          </a:prstGeom>
          <a:solidFill>
            <a:srgbClr val="0C6A73"/>
          </a:solidFill>
          <a:ln w="6350">
            <a:solidFill>
              <a:srgbClr val="0C6A73"/>
            </a:solidFill>
            <a:prstDash val="solid"/>
          </a:ln>
        </p:spPr>
      </p:sp>
      <p:sp>
        <p:nvSpPr>
          <p:cNvPr id="12" name="Text 10"/>
          <p:cNvSpPr/>
          <p:nvPr/>
        </p:nvSpPr>
        <p:spPr>
          <a:xfrm>
            <a:off x="3625596" y="26151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4137660" y="2651760"/>
            <a:ext cx="1627632" cy="310896"/>
          </a:xfrm>
          <a:prstGeom prst="rect">
            <a:avLst/>
          </a:prstGeom>
          <a:noFill/>
          <a:ln/>
        </p:spPr>
        <p:txBody>
          <a:bodyPr wrap="square" lIns="0" tIns="0" rIns="0" bIns="0" rtlCol="0" anchor="ctr"/>
          <a:lstStyle/>
          <a:p>
            <a:pPr indent="0" marL="0">
              <a:buNone/>
            </a:pPr>
            <a:r>
              <a:rPr lang="en-US" sz="1600" b="1" dirty="0">
                <a:solidFill>
                  <a:srgbClr val="1C1E21"/>
                </a:solidFill>
                <a:latin typeface="Cambria" pitchFamily="34" charset="0"/>
                <a:ea typeface="Cambria" pitchFamily="34" charset="-122"/>
                <a:cs typeface="Cambria" pitchFamily="34" charset="-120"/>
              </a:rPr>
              <a:t>Extract</a:t>
            </a:r>
            <a:endParaRPr lang="en-US" sz="1600" dirty="0"/>
          </a:p>
        </p:txBody>
      </p:sp>
      <p:sp>
        <p:nvSpPr>
          <p:cNvPr id="14" name="Text 12"/>
          <p:cNvSpPr/>
          <p:nvPr/>
        </p:nvSpPr>
        <p:spPr>
          <a:xfrm>
            <a:off x="3625596" y="3035808"/>
            <a:ext cx="2121408" cy="1005840"/>
          </a:xfrm>
          <a:prstGeom prst="rect">
            <a:avLst/>
          </a:prstGeom>
          <a:noFill/>
          <a:ln/>
        </p:spPr>
        <p:txBody>
          <a:bodyPr wrap="square" lIns="0" tIns="0" rIns="0" bIns="0" rtlCol="0" anchor="ctr"/>
          <a:lstStyle/>
          <a:p>
            <a:pPr indent="0" marL="0">
              <a:lnSpc>
                <a:spcPct val="112000"/>
              </a:lnSpc>
              <a:buNone/>
            </a:pPr>
            <a:r>
              <a:rPr lang="en-US" sz="1150" dirty="0">
                <a:solidFill>
                  <a:srgbClr val="6B7280"/>
                </a:solidFill>
                <a:latin typeface="Calibri" pitchFamily="34" charset="0"/>
                <a:ea typeface="Calibri" pitchFamily="34" charset="-122"/>
                <a:cs typeface="Calibri" pitchFamily="34" charset="-120"/>
              </a:rPr>
              <a:t>Runs in the background. Navigate away — it keeps going, and progress is preserved.</a:t>
            </a:r>
            <a:endParaRPr lang="en-US" sz="1150" dirty="0"/>
          </a:p>
        </p:txBody>
      </p:sp>
      <p:sp>
        <p:nvSpPr>
          <p:cNvPr id="15" name="Shape 13"/>
          <p:cNvSpPr/>
          <p:nvPr/>
        </p:nvSpPr>
        <p:spPr>
          <a:xfrm>
            <a:off x="6172200" y="2395728"/>
            <a:ext cx="2633472" cy="1828800"/>
          </a:xfrm>
          <a:prstGeom prst="roundRect">
            <a:avLst>
              <a:gd name="adj" fmla="val 450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6" name="Shape 14"/>
          <p:cNvSpPr/>
          <p:nvPr/>
        </p:nvSpPr>
        <p:spPr>
          <a:xfrm>
            <a:off x="6428232" y="2615184"/>
            <a:ext cx="384048" cy="384048"/>
          </a:xfrm>
          <a:prstGeom prst="ellipse">
            <a:avLst/>
          </a:prstGeom>
          <a:solidFill>
            <a:srgbClr val="0C6A73"/>
          </a:solidFill>
          <a:ln w="6350">
            <a:solidFill>
              <a:srgbClr val="0C6A73"/>
            </a:solidFill>
            <a:prstDash val="solid"/>
          </a:ln>
        </p:spPr>
      </p:sp>
      <p:sp>
        <p:nvSpPr>
          <p:cNvPr id="17" name="Text 15"/>
          <p:cNvSpPr/>
          <p:nvPr/>
        </p:nvSpPr>
        <p:spPr>
          <a:xfrm>
            <a:off x="6428232" y="26151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6940296" y="2651760"/>
            <a:ext cx="1627632" cy="310896"/>
          </a:xfrm>
          <a:prstGeom prst="rect">
            <a:avLst/>
          </a:prstGeom>
          <a:noFill/>
          <a:ln/>
        </p:spPr>
        <p:txBody>
          <a:bodyPr wrap="square" lIns="0" tIns="0" rIns="0" bIns="0" rtlCol="0" anchor="ctr"/>
          <a:lstStyle/>
          <a:p>
            <a:pPr indent="0" marL="0">
              <a:buNone/>
            </a:pPr>
            <a:r>
              <a:rPr lang="en-US" sz="1600" b="1" dirty="0">
                <a:solidFill>
                  <a:srgbClr val="1C1E21"/>
                </a:solidFill>
                <a:latin typeface="Cambria" pitchFamily="34" charset="0"/>
                <a:ea typeface="Cambria" pitchFamily="34" charset="-122"/>
                <a:cs typeface="Cambria" pitchFamily="34" charset="-120"/>
              </a:rPr>
              <a:t>Review</a:t>
            </a:r>
            <a:endParaRPr lang="en-US" sz="1600" dirty="0"/>
          </a:p>
        </p:txBody>
      </p:sp>
      <p:sp>
        <p:nvSpPr>
          <p:cNvPr id="19" name="Text 17"/>
          <p:cNvSpPr/>
          <p:nvPr/>
        </p:nvSpPr>
        <p:spPr>
          <a:xfrm>
            <a:off x="6428232" y="3035808"/>
            <a:ext cx="2121408" cy="1005840"/>
          </a:xfrm>
          <a:prstGeom prst="rect">
            <a:avLst/>
          </a:prstGeom>
          <a:noFill/>
          <a:ln/>
        </p:spPr>
        <p:txBody>
          <a:bodyPr wrap="square" lIns="0" tIns="0" rIns="0" bIns="0" rtlCol="0" anchor="ctr"/>
          <a:lstStyle/>
          <a:p>
            <a:pPr indent="0" marL="0">
              <a:lnSpc>
                <a:spcPct val="112000"/>
              </a:lnSpc>
              <a:buNone/>
            </a:pPr>
            <a:r>
              <a:rPr lang="en-US" sz="1150" dirty="0">
                <a:solidFill>
                  <a:srgbClr val="6B7280"/>
                </a:solidFill>
                <a:latin typeface="Calibri" pitchFamily="34" charset="0"/>
                <a:ea typeface="Calibri" pitchFamily="34" charset="-122"/>
                <a:cs typeface="Calibri" pitchFamily="34" charset="-120"/>
              </a:rPr>
              <a:t>Every extracted value is shown for checking against the source document.</a:t>
            </a:r>
            <a:endParaRPr lang="en-US" sz="1150" dirty="0"/>
          </a:p>
        </p:txBody>
      </p:sp>
      <p:sp>
        <p:nvSpPr>
          <p:cNvPr id="20" name="Shape 18"/>
          <p:cNvSpPr/>
          <p:nvPr/>
        </p:nvSpPr>
        <p:spPr>
          <a:xfrm>
            <a:off x="8974836" y="2395728"/>
            <a:ext cx="2633472" cy="1828800"/>
          </a:xfrm>
          <a:prstGeom prst="roundRect">
            <a:avLst>
              <a:gd name="adj" fmla="val 450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21" name="Shape 19"/>
          <p:cNvSpPr/>
          <p:nvPr/>
        </p:nvSpPr>
        <p:spPr>
          <a:xfrm>
            <a:off x="9230868" y="2615184"/>
            <a:ext cx="384048" cy="384048"/>
          </a:xfrm>
          <a:prstGeom prst="ellipse">
            <a:avLst/>
          </a:prstGeom>
          <a:solidFill>
            <a:srgbClr val="0C6A73"/>
          </a:solidFill>
          <a:ln w="6350">
            <a:solidFill>
              <a:srgbClr val="0C6A73"/>
            </a:solidFill>
            <a:prstDash val="solid"/>
          </a:ln>
        </p:spPr>
      </p:sp>
      <p:sp>
        <p:nvSpPr>
          <p:cNvPr id="22" name="Text 20"/>
          <p:cNvSpPr/>
          <p:nvPr/>
        </p:nvSpPr>
        <p:spPr>
          <a:xfrm>
            <a:off x="9230868" y="26151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9742932" y="2651760"/>
            <a:ext cx="1627632" cy="310896"/>
          </a:xfrm>
          <a:prstGeom prst="rect">
            <a:avLst/>
          </a:prstGeom>
          <a:noFill/>
          <a:ln/>
        </p:spPr>
        <p:txBody>
          <a:bodyPr wrap="square" lIns="0" tIns="0" rIns="0" bIns="0" rtlCol="0" anchor="ctr"/>
          <a:lstStyle/>
          <a:p>
            <a:pPr indent="0" marL="0">
              <a:buNone/>
            </a:pPr>
            <a:r>
              <a:rPr lang="en-US" sz="1600" b="1" dirty="0">
                <a:solidFill>
                  <a:srgbClr val="1C1E21"/>
                </a:solidFill>
                <a:latin typeface="Cambria" pitchFamily="34" charset="0"/>
                <a:ea typeface="Cambria" pitchFamily="34" charset="-122"/>
                <a:cs typeface="Cambria" pitchFamily="34" charset="-120"/>
              </a:rPr>
              <a:t>Confirm</a:t>
            </a:r>
            <a:endParaRPr lang="en-US" sz="1600" dirty="0"/>
          </a:p>
        </p:txBody>
      </p:sp>
      <p:sp>
        <p:nvSpPr>
          <p:cNvPr id="24" name="Text 22"/>
          <p:cNvSpPr/>
          <p:nvPr/>
        </p:nvSpPr>
        <p:spPr>
          <a:xfrm>
            <a:off x="9230868" y="3035808"/>
            <a:ext cx="2121408" cy="1005840"/>
          </a:xfrm>
          <a:prstGeom prst="rect">
            <a:avLst/>
          </a:prstGeom>
          <a:noFill/>
          <a:ln/>
        </p:spPr>
        <p:txBody>
          <a:bodyPr wrap="square" lIns="0" tIns="0" rIns="0" bIns="0" rtlCol="0" anchor="ctr"/>
          <a:lstStyle/>
          <a:p>
            <a:pPr indent="0" marL="0">
              <a:lnSpc>
                <a:spcPct val="112000"/>
              </a:lnSpc>
              <a:buNone/>
            </a:pPr>
            <a:r>
              <a:rPr lang="en-US" sz="1150" dirty="0">
                <a:solidFill>
                  <a:srgbClr val="6B7280"/>
                </a:solidFill>
                <a:latin typeface="Calibri" pitchFamily="34" charset="0"/>
                <a:ea typeface="Calibri" pitchFamily="34" charset="-122"/>
                <a:cs typeface="Calibri" pitchFamily="34" charset="-120"/>
              </a:rPr>
              <a:t>The doctor ticks that the extraction matches the report.</a:t>
            </a:r>
            <a:endParaRPr lang="en-US" sz="1150" dirty="0"/>
          </a:p>
        </p:txBody>
      </p:sp>
      <p:sp>
        <p:nvSpPr>
          <p:cNvPr id="25" name="Shape 23"/>
          <p:cNvSpPr/>
          <p:nvPr/>
        </p:nvSpPr>
        <p:spPr>
          <a:xfrm>
            <a:off x="566928" y="4443984"/>
            <a:ext cx="11055096" cy="786384"/>
          </a:xfrm>
          <a:prstGeom prst="roundRect">
            <a:avLst>
              <a:gd name="adj" fmla="val 9302"/>
            </a:avLst>
          </a:prstGeom>
          <a:solidFill>
            <a:srgbClr val="FEF2F2"/>
          </a:solidFill>
          <a:ln w="11430">
            <a:solidFill>
              <a:srgbClr val="DC2626"/>
            </a:solidFill>
            <a:prstDash val="solid"/>
          </a:ln>
        </p:spPr>
      </p:sp>
      <p:sp>
        <p:nvSpPr>
          <p:cNvPr id="26" name="Text 24"/>
          <p:cNvSpPr/>
          <p:nvPr/>
        </p:nvSpPr>
        <p:spPr>
          <a:xfrm>
            <a:off x="768096" y="4498848"/>
            <a:ext cx="10652760" cy="676656"/>
          </a:xfrm>
          <a:prstGeom prst="rect">
            <a:avLst/>
          </a:prstGeom>
          <a:noFill/>
          <a:ln/>
        </p:spPr>
        <p:txBody>
          <a:bodyPr wrap="square" lIns="0" tIns="0" rIns="0" bIns="0" rtlCol="0" anchor="ctr"/>
          <a:lstStyle/>
          <a:p>
            <a:pPr indent="0" marL="0">
              <a:lnSpc>
                <a:spcPct val="108000"/>
              </a:lnSpc>
              <a:buNone/>
            </a:pPr>
            <a:r>
              <a:rPr lang="en-US" sz="1150" dirty="0">
                <a:solidFill>
                  <a:srgbClr val="DC2626"/>
                </a:solidFill>
                <a:latin typeface="Calibri" pitchFamily="34" charset="0"/>
                <a:ea typeface="Calibri" pitchFamily="34" charset="-122"/>
                <a:cs typeface="Calibri" pitchFamily="34" charset="-120"/>
              </a:rPr>
              <a:t>The compatibility check refuses to run on any extracted value a doctor has not confirmed. This is enforced on the server, so it cannot be bypassed from the browser.</a:t>
            </a:r>
            <a:endParaRPr lang="en-US" sz="1150" dirty="0"/>
          </a:p>
        </p:txBody>
      </p:sp>
      <p:sp>
        <p:nvSpPr>
          <p:cNvPr id="27" name="Shape 25"/>
          <p:cNvSpPr/>
          <p:nvPr/>
        </p:nvSpPr>
        <p:spPr>
          <a:xfrm>
            <a:off x="566928" y="5468112"/>
            <a:ext cx="11055096" cy="713232"/>
          </a:xfrm>
          <a:prstGeom prst="roundRect">
            <a:avLst>
              <a:gd name="adj" fmla="val 10256"/>
            </a:avLst>
          </a:prstGeom>
          <a:solidFill>
            <a:srgbClr val="E8F4F3"/>
          </a:solidFill>
          <a:ln w="11430">
            <a:solidFill>
              <a:srgbClr val="0C6A73"/>
            </a:solidFill>
            <a:prstDash val="solid"/>
          </a:ln>
        </p:spPr>
      </p:sp>
      <p:sp>
        <p:nvSpPr>
          <p:cNvPr id="28" name="Text 26"/>
          <p:cNvSpPr/>
          <p:nvPr/>
        </p:nvSpPr>
        <p:spPr>
          <a:xfrm>
            <a:off x="768096" y="5522976"/>
            <a:ext cx="10652760" cy="603504"/>
          </a:xfrm>
          <a:prstGeom prst="rect">
            <a:avLst/>
          </a:prstGeom>
          <a:noFill/>
          <a:ln/>
        </p:spPr>
        <p:txBody>
          <a:bodyPr wrap="square" lIns="0" tIns="0" rIns="0" bIns="0" rtlCol="0" anchor="ctr"/>
          <a:lstStyle/>
          <a:p>
            <a:pPr indent="0" marL="0">
              <a:lnSpc>
                <a:spcPct val="108000"/>
              </a:lnSpc>
              <a:buNone/>
            </a:pPr>
            <a:r>
              <a:rPr lang="en-US" sz="1150" dirty="0">
                <a:solidFill>
                  <a:srgbClr val="0C6A73"/>
                </a:solidFill>
                <a:latin typeface="Calibri" pitchFamily="34" charset="0"/>
                <a:ea typeface="Calibri" pitchFamily="34" charset="-122"/>
                <a:cs typeface="Calibri" pitchFamily="34" charset="-120"/>
              </a:rPr>
              <a:t>The model runs on the project's own server. No patient document is sent to an external AI service, and there is no per-page charge.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FINDING A DONOR</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Searching beyond your own patient list</a:t>
            </a:r>
            <a:endParaRPr lang="en-US" sz="3000" dirty="0"/>
          </a:p>
        </p:txBody>
      </p:sp>
      <p:sp>
        <p:nvSpPr>
          <p:cNvPr id="4" name="Text 2"/>
          <p:cNvSpPr/>
          <p:nvPr/>
        </p:nvSpPr>
        <p:spPr>
          <a:xfrm>
            <a:off x="566928" y="1225296"/>
            <a:ext cx="10689336" cy="402336"/>
          </a:xfrm>
          <a:prstGeom prst="rect">
            <a:avLst/>
          </a:prstGeom>
          <a:noFill/>
          <a:ln/>
        </p:spPr>
        <p:txBody>
          <a:bodyPr wrap="square" lIns="0" tIns="0" rIns="0" bIns="0" rtlCol="0" anchor="ctr"/>
          <a:lstStyle/>
          <a:p>
            <a:pPr indent="0" marL="0">
              <a:lnSpc>
                <a:spcPct val="112000"/>
              </a:lnSpc>
              <a:buNone/>
            </a:pPr>
            <a:r>
              <a:rPr lang="en-US" sz="1350" dirty="0">
                <a:solidFill>
                  <a:srgbClr val="6B7280"/>
                </a:solidFill>
                <a:latin typeface="Calibri" pitchFamily="34" charset="0"/>
                <a:ea typeface="Calibri" pitchFamily="34" charset="-122"/>
                <a:cs typeface="Calibri" pitchFamily="34" charset="-120"/>
              </a:rPr>
              <a:t>When a patient has no compatible donor among their own relatives, the system searches every available donor registered by any other participating doctor.</a:t>
            </a:r>
            <a:endParaRPr lang="en-US" sz="1350" dirty="0"/>
          </a:p>
        </p:txBody>
      </p:sp>
      <p:sp>
        <p:nvSpPr>
          <p:cNvPr id="5" name="Shape 3"/>
          <p:cNvSpPr/>
          <p:nvPr/>
        </p:nvSpPr>
        <p:spPr>
          <a:xfrm>
            <a:off x="566928" y="2377440"/>
            <a:ext cx="11055096" cy="822960"/>
          </a:xfrm>
          <a:prstGeom prst="roundRect">
            <a:avLst>
              <a:gd name="adj" fmla="val 1000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6" name="Shape 4"/>
          <p:cNvSpPr/>
          <p:nvPr/>
        </p:nvSpPr>
        <p:spPr>
          <a:xfrm>
            <a:off x="804672" y="2587752"/>
            <a:ext cx="402336" cy="402336"/>
          </a:xfrm>
          <a:prstGeom prst="ellipse">
            <a:avLst/>
          </a:prstGeom>
          <a:solidFill>
            <a:srgbClr val="0C6A73"/>
          </a:solidFill>
          <a:ln w="6350">
            <a:solidFill>
              <a:srgbClr val="0C6A73"/>
            </a:solidFill>
            <a:prstDash val="solid"/>
          </a:ln>
        </p:spPr>
      </p:sp>
      <p:sp>
        <p:nvSpPr>
          <p:cNvPr id="7" name="Text 5"/>
          <p:cNvSpPr/>
          <p:nvPr/>
        </p:nvSpPr>
        <p:spPr>
          <a:xfrm>
            <a:off x="804672" y="25877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353312" y="2468880"/>
            <a:ext cx="4206240" cy="640080"/>
          </a:xfrm>
          <a:prstGeom prst="rect">
            <a:avLst/>
          </a:prstGeom>
          <a:noFill/>
          <a:ln/>
        </p:spPr>
        <p:txBody>
          <a:bodyPr wrap="square" lIns="0" tIns="0" rIns="0" bIns="0" rtlCol="0" anchor="ctr"/>
          <a:lstStyle/>
          <a:p>
            <a:pPr indent="0" marL="0">
              <a:lnSpc>
                <a:spcPct val="105000"/>
              </a:lnSpc>
              <a:buNone/>
            </a:pPr>
            <a:r>
              <a:rPr lang="en-US" sz="1250" b="1" dirty="0">
                <a:solidFill>
                  <a:srgbClr val="1C1E21"/>
                </a:solidFill>
                <a:latin typeface="Calibri" pitchFamily="34" charset="0"/>
                <a:ea typeface="Calibri" pitchFamily="34" charset="-122"/>
                <a:cs typeface="Calibri" pitchFamily="34" charset="-120"/>
              </a:rPr>
              <a:t>Pre-screens on blood group and HLA mismatch only</a:t>
            </a:r>
            <a:endParaRPr lang="en-US" sz="1250" dirty="0"/>
          </a:p>
        </p:txBody>
      </p:sp>
      <p:sp>
        <p:nvSpPr>
          <p:cNvPr id="9" name="Text 7"/>
          <p:cNvSpPr/>
          <p:nvPr/>
        </p:nvSpPr>
        <p:spPr>
          <a:xfrm>
            <a:off x="5687568" y="2468880"/>
            <a:ext cx="5696712" cy="640080"/>
          </a:xfrm>
          <a:prstGeom prst="rect">
            <a:avLst/>
          </a:prstGeom>
          <a:noFill/>
          <a:ln/>
        </p:spPr>
        <p:txBody>
          <a:bodyPr wrap="square" lIns="0" tIns="0" rIns="0" bIns="0" rtlCol="0" anchor="ctr"/>
          <a:lstStyle/>
          <a:p>
            <a:pPr indent="0" marL="0">
              <a:lnSpc>
                <a:spcPct val="108000"/>
              </a:lnSpc>
              <a:buNone/>
            </a:pPr>
            <a:r>
              <a:rPr lang="en-US" sz="1150" dirty="0">
                <a:solidFill>
                  <a:srgbClr val="6B7280"/>
                </a:solidFill>
                <a:latin typeface="Calibri" pitchFamily="34" charset="0"/>
                <a:ea typeface="Calibri" pitchFamily="34" charset="-122"/>
                <a:cs typeface="Calibri" pitchFamily="34" charset="-120"/>
              </a:rPr>
              <a:t>Cheap enough to run across the whole pool, and enough to produce a shortlist. The full seven-step check runs later, once a candidate is chosen.</a:t>
            </a:r>
            <a:endParaRPr lang="en-US" sz="1150" dirty="0"/>
          </a:p>
        </p:txBody>
      </p:sp>
      <p:sp>
        <p:nvSpPr>
          <p:cNvPr id="10" name="Shape 8"/>
          <p:cNvSpPr/>
          <p:nvPr/>
        </p:nvSpPr>
        <p:spPr>
          <a:xfrm>
            <a:off x="566928" y="3310128"/>
            <a:ext cx="11055096" cy="822960"/>
          </a:xfrm>
          <a:prstGeom prst="roundRect">
            <a:avLst>
              <a:gd name="adj" fmla="val 1000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1" name="Shape 9"/>
          <p:cNvSpPr/>
          <p:nvPr/>
        </p:nvSpPr>
        <p:spPr>
          <a:xfrm>
            <a:off x="804672" y="3520440"/>
            <a:ext cx="402336" cy="402336"/>
          </a:xfrm>
          <a:prstGeom prst="ellipse">
            <a:avLst/>
          </a:prstGeom>
          <a:solidFill>
            <a:srgbClr val="0C6A73"/>
          </a:solidFill>
          <a:ln w="6350">
            <a:solidFill>
              <a:srgbClr val="0C6A73"/>
            </a:solidFill>
            <a:prstDash val="solid"/>
          </a:ln>
        </p:spPr>
      </p:sp>
      <p:sp>
        <p:nvSpPr>
          <p:cNvPr id="12" name="Text 10"/>
          <p:cNvSpPr/>
          <p:nvPr/>
        </p:nvSpPr>
        <p:spPr>
          <a:xfrm>
            <a:off x="804672" y="35204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353312" y="3401568"/>
            <a:ext cx="4206240" cy="640080"/>
          </a:xfrm>
          <a:prstGeom prst="rect">
            <a:avLst/>
          </a:prstGeom>
          <a:noFill/>
          <a:ln/>
        </p:spPr>
        <p:txBody>
          <a:bodyPr wrap="square" lIns="0" tIns="0" rIns="0" bIns="0" rtlCol="0" anchor="ctr"/>
          <a:lstStyle/>
          <a:p>
            <a:pPr indent="0" marL="0">
              <a:lnSpc>
                <a:spcPct val="105000"/>
              </a:lnSpc>
              <a:buNone/>
            </a:pPr>
            <a:r>
              <a:rPr lang="en-US" sz="1250" b="1" dirty="0">
                <a:solidFill>
                  <a:srgbClr val="1C1E21"/>
                </a:solidFill>
                <a:latin typeface="Calibri" pitchFamily="34" charset="0"/>
                <a:ea typeface="Calibri" pitchFamily="34" charset="-122"/>
                <a:cs typeface="Calibri" pitchFamily="34" charset="-120"/>
              </a:rPr>
              <a:t>Ranked by mismatch count</a:t>
            </a:r>
            <a:endParaRPr lang="en-US" sz="1250" dirty="0"/>
          </a:p>
        </p:txBody>
      </p:sp>
      <p:sp>
        <p:nvSpPr>
          <p:cNvPr id="14" name="Text 12"/>
          <p:cNvSpPr/>
          <p:nvPr/>
        </p:nvSpPr>
        <p:spPr>
          <a:xfrm>
            <a:off x="5687568" y="3401568"/>
            <a:ext cx="5696712" cy="640080"/>
          </a:xfrm>
          <a:prstGeom prst="rect">
            <a:avLst/>
          </a:prstGeom>
          <a:noFill/>
          <a:ln/>
        </p:spPr>
        <p:txBody>
          <a:bodyPr wrap="square" lIns="0" tIns="0" rIns="0" bIns="0" rtlCol="0" anchor="ctr"/>
          <a:lstStyle/>
          <a:p>
            <a:pPr indent="0" marL="0">
              <a:lnSpc>
                <a:spcPct val="108000"/>
              </a:lnSpc>
              <a:buNone/>
            </a:pPr>
            <a:r>
              <a:rPr lang="en-US" sz="1150" dirty="0">
                <a:solidFill>
                  <a:srgbClr val="6B7280"/>
                </a:solidFill>
                <a:latin typeface="Calibri" pitchFamily="34" charset="0"/>
                <a:ea typeface="Calibri" pitchFamily="34" charset="-122"/>
                <a:cs typeface="Calibri" pitchFamily="34" charset="-120"/>
              </a:rPr>
              <a:t>Best-matched candidates first.</a:t>
            </a:r>
            <a:endParaRPr lang="en-US" sz="1150" dirty="0"/>
          </a:p>
        </p:txBody>
      </p:sp>
      <p:sp>
        <p:nvSpPr>
          <p:cNvPr id="15" name="Shape 13"/>
          <p:cNvSpPr/>
          <p:nvPr/>
        </p:nvSpPr>
        <p:spPr>
          <a:xfrm>
            <a:off x="566928" y="4242816"/>
            <a:ext cx="11055096" cy="822960"/>
          </a:xfrm>
          <a:prstGeom prst="roundRect">
            <a:avLst>
              <a:gd name="adj" fmla="val 1000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6" name="Shape 14"/>
          <p:cNvSpPr/>
          <p:nvPr/>
        </p:nvSpPr>
        <p:spPr>
          <a:xfrm>
            <a:off x="804672" y="4453128"/>
            <a:ext cx="402336" cy="402336"/>
          </a:xfrm>
          <a:prstGeom prst="ellipse">
            <a:avLst/>
          </a:prstGeom>
          <a:solidFill>
            <a:srgbClr val="0C6A73"/>
          </a:solidFill>
          <a:ln w="6350">
            <a:solidFill>
              <a:srgbClr val="0C6A73"/>
            </a:solidFill>
            <a:prstDash val="solid"/>
          </a:ln>
        </p:spPr>
      </p:sp>
      <p:sp>
        <p:nvSpPr>
          <p:cNvPr id="17" name="Text 15"/>
          <p:cNvSpPr/>
          <p:nvPr/>
        </p:nvSpPr>
        <p:spPr>
          <a:xfrm>
            <a:off x="804672" y="44531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353312" y="4334256"/>
            <a:ext cx="4206240" cy="640080"/>
          </a:xfrm>
          <a:prstGeom prst="rect">
            <a:avLst/>
          </a:prstGeom>
          <a:noFill/>
          <a:ln/>
        </p:spPr>
        <p:txBody>
          <a:bodyPr wrap="square" lIns="0" tIns="0" rIns="0" bIns="0" rtlCol="0" anchor="ctr"/>
          <a:lstStyle/>
          <a:p>
            <a:pPr indent="0" marL="0">
              <a:lnSpc>
                <a:spcPct val="105000"/>
              </a:lnSpc>
              <a:buNone/>
            </a:pPr>
            <a:r>
              <a:rPr lang="en-US" sz="1250" b="1" dirty="0">
                <a:solidFill>
                  <a:srgbClr val="1C1E21"/>
                </a:solidFill>
                <a:latin typeface="Calibri" pitchFamily="34" charset="0"/>
                <a:ea typeface="Calibri" pitchFamily="34" charset="-122"/>
                <a:cs typeface="Calibri" pitchFamily="34" charset="-120"/>
              </a:rPr>
              <a:t>Names the hospital, doctor and contact</a:t>
            </a:r>
            <a:endParaRPr lang="en-US" sz="1250" dirty="0"/>
          </a:p>
        </p:txBody>
      </p:sp>
      <p:sp>
        <p:nvSpPr>
          <p:cNvPr id="19" name="Text 17"/>
          <p:cNvSpPr/>
          <p:nvPr/>
        </p:nvSpPr>
        <p:spPr>
          <a:xfrm>
            <a:off x="5687568" y="4334256"/>
            <a:ext cx="5696712" cy="640080"/>
          </a:xfrm>
          <a:prstGeom prst="rect">
            <a:avLst/>
          </a:prstGeom>
          <a:noFill/>
          <a:ln/>
        </p:spPr>
        <p:txBody>
          <a:bodyPr wrap="square" lIns="0" tIns="0" rIns="0" bIns="0" rtlCol="0" anchor="ctr"/>
          <a:lstStyle/>
          <a:p>
            <a:pPr indent="0" marL="0">
              <a:lnSpc>
                <a:spcPct val="108000"/>
              </a:lnSpc>
              <a:buNone/>
            </a:pPr>
            <a:r>
              <a:rPr lang="en-US" sz="1150" dirty="0">
                <a:solidFill>
                  <a:srgbClr val="6B7280"/>
                </a:solidFill>
                <a:latin typeface="Calibri" pitchFamily="34" charset="0"/>
                <a:ea typeface="Calibri" pitchFamily="34" charset="-122"/>
                <a:cs typeface="Calibri" pitchFamily="34" charset="-120"/>
              </a:rPr>
              <a:t>You always know who you would be coordinating with — the search does not hand out anonymous records.</a:t>
            </a:r>
            <a:endParaRPr lang="en-US" sz="1150" dirty="0"/>
          </a:p>
        </p:txBody>
      </p:sp>
      <p:sp>
        <p:nvSpPr>
          <p:cNvPr id="20" name="Shape 18"/>
          <p:cNvSpPr/>
          <p:nvPr/>
        </p:nvSpPr>
        <p:spPr>
          <a:xfrm>
            <a:off x="566928" y="5175504"/>
            <a:ext cx="11055096" cy="822960"/>
          </a:xfrm>
          <a:prstGeom prst="roundRect">
            <a:avLst>
              <a:gd name="adj" fmla="val 10000"/>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21" name="Shape 19"/>
          <p:cNvSpPr/>
          <p:nvPr/>
        </p:nvSpPr>
        <p:spPr>
          <a:xfrm>
            <a:off x="804672" y="5385816"/>
            <a:ext cx="402336" cy="402336"/>
          </a:xfrm>
          <a:prstGeom prst="ellipse">
            <a:avLst/>
          </a:prstGeom>
          <a:solidFill>
            <a:srgbClr val="0C6A73"/>
          </a:solidFill>
          <a:ln w="6350">
            <a:solidFill>
              <a:srgbClr val="0C6A73"/>
            </a:solidFill>
            <a:prstDash val="solid"/>
          </a:ln>
        </p:spPr>
      </p:sp>
      <p:sp>
        <p:nvSpPr>
          <p:cNvPr id="22" name="Text 20"/>
          <p:cNvSpPr/>
          <p:nvPr/>
        </p:nvSpPr>
        <p:spPr>
          <a:xfrm>
            <a:off x="804672" y="5385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353312" y="5266944"/>
            <a:ext cx="4206240" cy="640080"/>
          </a:xfrm>
          <a:prstGeom prst="rect">
            <a:avLst/>
          </a:prstGeom>
          <a:noFill/>
          <a:ln/>
        </p:spPr>
        <p:txBody>
          <a:bodyPr wrap="square" lIns="0" tIns="0" rIns="0" bIns="0" rtlCol="0" anchor="ctr"/>
          <a:lstStyle/>
          <a:p>
            <a:pPr indent="0" marL="0">
              <a:lnSpc>
                <a:spcPct val="105000"/>
              </a:lnSpc>
              <a:buNone/>
            </a:pPr>
            <a:r>
              <a:rPr lang="en-US" sz="1250" b="1" dirty="0">
                <a:solidFill>
                  <a:srgbClr val="1C1E21"/>
                </a:solidFill>
                <a:latin typeface="Calibri" pitchFamily="34" charset="0"/>
                <a:ea typeface="Calibri" pitchFamily="34" charset="-122"/>
                <a:cs typeface="Calibri" pitchFamily="34" charset="-120"/>
              </a:rPr>
              <a:t>Excludes donors committed to a named relative</a:t>
            </a:r>
            <a:endParaRPr lang="en-US" sz="1250" dirty="0"/>
          </a:p>
        </p:txBody>
      </p:sp>
      <p:sp>
        <p:nvSpPr>
          <p:cNvPr id="24" name="Text 22"/>
          <p:cNvSpPr/>
          <p:nvPr/>
        </p:nvSpPr>
        <p:spPr>
          <a:xfrm>
            <a:off x="5687568" y="5266944"/>
            <a:ext cx="5696712" cy="640080"/>
          </a:xfrm>
          <a:prstGeom prst="rect">
            <a:avLst/>
          </a:prstGeom>
          <a:noFill/>
          <a:ln/>
        </p:spPr>
        <p:txBody>
          <a:bodyPr wrap="square" lIns="0" tIns="0" rIns="0" bIns="0" rtlCol="0" anchor="ctr"/>
          <a:lstStyle/>
          <a:p>
            <a:pPr indent="0" marL="0">
              <a:lnSpc>
                <a:spcPct val="108000"/>
              </a:lnSpc>
              <a:buNone/>
            </a:pPr>
            <a:r>
              <a:rPr lang="en-US" sz="1150" dirty="0">
                <a:solidFill>
                  <a:srgbClr val="6B7280"/>
                </a:solidFill>
                <a:latin typeface="Calibri" pitchFamily="34" charset="0"/>
                <a:ea typeface="Calibri" pitchFamily="34" charset="-122"/>
                <a:cs typeface="Calibri" pitchFamily="34" charset="-120"/>
              </a:rPr>
              <a:t>A living donor who is giving for one specific person is not in anyone else's pool.</a:t>
            </a:r>
            <a:endParaRPr lang="en-US" sz="1150" dirty="0"/>
          </a:p>
        </p:txBody>
      </p:sp>
      <p:sp>
        <p:nvSpPr>
          <p:cNvPr id="25" name="Text 23"/>
          <p:cNvSpPr/>
          <p:nvPr/>
        </p:nvSpPr>
        <p:spPr>
          <a:xfrm>
            <a:off x="566928" y="6272784"/>
            <a:ext cx="11055096" cy="310896"/>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Every cross-hospital search is written to the audit log, with the patient it was run for and how many candidates came back.</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PAIRED EXCHANGE</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When two incompatible pairs can help each other</a:t>
            </a:r>
            <a:endParaRPr lang="en-US" sz="3000" dirty="0"/>
          </a:p>
        </p:txBody>
      </p:sp>
      <p:sp>
        <p:nvSpPr>
          <p:cNvPr id="4" name="Text 2"/>
          <p:cNvSpPr/>
          <p:nvPr/>
        </p:nvSpPr>
        <p:spPr>
          <a:xfrm>
            <a:off x="566928" y="1225296"/>
            <a:ext cx="10689336" cy="402336"/>
          </a:xfrm>
          <a:prstGeom prst="rect">
            <a:avLst/>
          </a:prstGeom>
          <a:noFill/>
          <a:ln/>
        </p:spPr>
        <p:txBody>
          <a:bodyPr wrap="square" lIns="0" tIns="0" rIns="0" bIns="0" rtlCol="0" anchor="ctr"/>
          <a:lstStyle/>
          <a:p>
            <a:pPr indent="0" marL="0">
              <a:lnSpc>
                <a:spcPct val="112000"/>
              </a:lnSpc>
              <a:buNone/>
            </a:pPr>
            <a:r>
              <a:rPr lang="en-US" sz="1350" dirty="0">
                <a:solidFill>
                  <a:srgbClr val="6B7280"/>
                </a:solidFill>
                <a:latin typeface="Calibri" pitchFamily="34" charset="0"/>
                <a:ea typeface="Calibri" pitchFamily="34" charset="-122"/>
                <a:cs typeface="Calibri" pitchFamily="34" charset="-120"/>
              </a:rPr>
              <a:t>A donor who cannot give to their own relative may be able to give to someone else's — and that pair's donor gives back. The system finds those cycles across every participating hospital.</a:t>
            </a:r>
            <a:endParaRPr lang="en-US" sz="1350" dirty="0"/>
          </a:p>
        </p:txBody>
      </p:sp>
      <p:sp>
        <p:nvSpPr>
          <p:cNvPr id="5" name="Shape 3"/>
          <p:cNvSpPr/>
          <p:nvPr/>
        </p:nvSpPr>
        <p:spPr>
          <a:xfrm>
            <a:off x="566928" y="2286000"/>
            <a:ext cx="4956048" cy="2468880"/>
          </a:xfrm>
          <a:prstGeom prst="roundRect">
            <a:avLst>
              <a:gd name="adj" fmla="val 3333"/>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6" name="Text 4"/>
          <p:cNvSpPr/>
          <p:nvPr/>
        </p:nvSpPr>
        <p:spPr>
          <a:xfrm>
            <a:off x="841248" y="2487168"/>
            <a:ext cx="4389120" cy="329184"/>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What it finds</a:t>
            </a:r>
            <a:endParaRPr lang="en-US" sz="1700" dirty="0"/>
          </a:p>
        </p:txBody>
      </p:sp>
      <p:sp>
        <p:nvSpPr>
          <p:cNvPr id="7" name="Text 5"/>
          <p:cNvSpPr/>
          <p:nvPr/>
        </p:nvSpPr>
        <p:spPr>
          <a:xfrm>
            <a:off x="841248" y="2889504"/>
            <a:ext cx="4443984" cy="1700784"/>
          </a:xfrm>
          <a:prstGeom prst="rect">
            <a:avLst/>
          </a:prstGeom>
          <a:noFill/>
          <a:ln/>
        </p:spPr>
        <p:txBody>
          <a:bodyPr wrap="square" lIns="0" tIns="0" rIns="0" bIns="0" rtlCol="0" anchor="ctr"/>
          <a:lstStyle/>
          <a:p>
            <a:pPr marL="342900" indent="-342900">
              <a:lnSpc>
                <a:spcPct val="110000"/>
              </a:lnSpc>
              <a:spcAft>
                <a:spcPts val="600"/>
              </a:spcAft>
              <a:buSzPct val="100000"/>
              <a:buChar char="•"/>
            </a:pPr>
            <a:r>
              <a:rPr lang="en-US" sz="1200" dirty="0">
                <a:solidFill>
                  <a:srgbClr val="6B7280"/>
                </a:solidFill>
                <a:latin typeface="Calibri" pitchFamily="34" charset="0"/>
                <a:ea typeface="Calibri" pitchFamily="34" charset="-122"/>
                <a:cs typeface="Calibri" pitchFamily="34" charset="-120"/>
              </a:rPr>
              <a:t>Two-way and three-way swaps</a:t>
            </a:r>
            <a:endParaRPr lang="en-US" sz="1200" dirty="0"/>
          </a:p>
          <a:p>
            <a:pPr marL="342900" indent="-342900">
              <a:lnSpc>
                <a:spcPct val="110000"/>
              </a:lnSpc>
              <a:spcAft>
                <a:spcPts val="600"/>
              </a:spcAft>
              <a:buSzPct val="100000"/>
              <a:buChar char="•"/>
            </a:pPr>
            <a:r>
              <a:rPr lang="en-US" sz="1200" dirty="0">
                <a:solidFill>
                  <a:srgbClr val="6B7280"/>
                </a:solidFill>
                <a:latin typeface="Calibri" pitchFamily="34" charset="0"/>
                <a:ea typeface="Calibri" pitchFamily="34" charset="-122"/>
                <a:cs typeface="Calibri" pitchFamily="34" charset="-120"/>
              </a:rPr>
              <a:t>Only pairs that are genuinely incompatible with each other — a pair who can transplant directly should just do that</a:t>
            </a:r>
            <a:endParaRPr lang="en-US" sz="1200" dirty="0"/>
          </a:p>
          <a:p>
            <a:pPr marL="342900" indent="-342900">
              <a:lnSpc>
                <a:spcPct val="110000"/>
              </a:lnSpc>
              <a:spcAft>
                <a:spcPts val="600"/>
              </a:spcAft>
              <a:buSzPct val="100000"/>
              <a:buChar char="•"/>
            </a:pPr>
            <a:r>
              <a:rPr lang="en-US" sz="1200" dirty="0">
                <a:solidFill>
                  <a:srgbClr val="6B7280"/>
                </a:solidFill>
                <a:latin typeface="Calibri" pitchFamily="34" charset="0"/>
                <a:ea typeface="Calibri" pitchFamily="34" charset="-122"/>
                <a:cs typeface="Calibri" pitchFamily="34" charset="-120"/>
              </a:rPr>
              <a:t>Drawn as a diagram of who gives to whom, with each hospital named</a:t>
            </a:r>
            <a:endParaRPr lang="en-US" sz="1200" dirty="0"/>
          </a:p>
          <a:p>
            <a:pPr marL="342900" indent="-342900">
              <a:lnSpc>
                <a:spcPct val="110000"/>
              </a:lnSpc>
              <a:spcAft>
                <a:spcPts val="600"/>
              </a:spcAft>
              <a:buSzPct val="100000"/>
              <a:buChar char="•"/>
            </a:pPr>
            <a:r>
              <a:rPr lang="en-US" sz="1200" dirty="0">
                <a:solidFill>
                  <a:srgbClr val="6B7280"/>
                </a:solidFill>
                <a:latin typeface="Calibri" pitchFamily="34" charset="0"/>
                <a:ea typeface="Calibri" pitchFamily="34" charset="-122"/>
                <a:cs typeface="Calibri" pitchFamily="34" charset="-120"/>
              </a:rPr>
              <a:t>Advisory only: running it changes no record and reserves no donor</a:t>
            </a:r>
            <a:endParaRPr lang="en-US" sz="1200" dirty="0"/>
          </a:p>
        </p:txBody>
      </p:sp>
      <p:sp>
        <p:nvSpPr>
          <p:cNvPr id="8" name="Shape 6"/>
          <p:cNvSpPr/>
          <p:nvPr/>
        </p:nvSpPr>
        <p:spPr>
          <a:xfrm>
            <a:off x="5797296" y="2286000"/>
            <a:ext cx="5824728" cy="2468880"/>
          </a:xfrm>
          <a:prstGeom prst="roundRect">
            <a:avLst>
              <a:gd name="adj" fmla="val 3333"/>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9" name="Text 7"/>
          <p:cNvSpPr/>
          <p:nvPr/>
        </p:nvSpPr>
        <p:spPr>
          <a:xfrm>
            <a:off x="6071616" y="2487168"/>
            <a:ext cx="5276088" cy="329184"/>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Four ways to choose between options</a:t>
            </a:r>
            <a:endParaRPr lang="en-US" sz="1700" dirty="0"/>
          </a:p>
        </p:txBody>
      </p:sp>
      <p:sp>
        <p:nvSpPr>
          <p:cNvPr id="10" name="Text 8"/>
          <p:cNvSpPr/>
          <p:nvPr/>
        </p:nvSpPr>
        <p:spPr>
          <a:xfrm>
            <a:off x="6071616" y="2907792"/>
            <a:ext cx="5276088" cy="384048"/>
          </a:xfrm>
          <a:prstGeom prst="rect">
            <a:avLst/>
          </a:prstGeom>
          <a:noFill/>
          <a:ln/>
        </p:spPr>
        <p:txBody>
          <a:bodyPr wrap="square" lIns="0" tIns="0" rIns="0" bIns="0" rtlCol="0" anchor="ctr"/>
          <a:lstStyle/>
          <a:p>
            <a:pPr indent="0" marL="0">
              <a:lnSpc>
                <a:spcPct val="105000"/>
              </a:lnSpc>
              <a:buNone/>
            </a:pPr>
            <a:r>
              <a:rPr lang="en-US" sz="1200" b="1" dirty="0">
                <a:solidFill>
                  <a:srgbClr val="0C6A73"/>
                </a:solidFill>
                <a:latin typeface="Calibri" pitchFamily="34" charset="0"/>
                <a:ea typeface="Calibri" pitchFamily="34" charset="-122"/>
                <a:cs typeface="Calibri" pitchFamily="34" charset="-120"/>
              </a:rPr>
              <a:t>Most transplants — </a:t>
            </a:r>
            <a:pPr indent="0" marL="0">
              <a:lnSpc>
                <a:spcPct val="105000"/>
              </a:lnSpc>
              <a:buNone/>
            </a:pPr>
            <a:r>
              <a:rPr lang="en-US" sz="1200" dirty="0">
                <a:solidFill>
                  <a:srgbClr val="6B7280"/>
                </a:solidFill>
                <a:latin typeface="Calibri" pitchFamily="34" charset="0"/>
                <a:ea typeface="Calibri" pitchFamily="34" charset="-122"/>
                <a:cs typeface="Calibri" pitchFamily="34" charset="-120"/>
              </a:rPr>
              <a:t>Maximise the number of patients transplanted.</a:t>
            </a:r>
            <a:endParaRPr lang="en-US" sz="1200" dirty="0"/>
          </a:p>
        </p:txBody>
      </p:sp>
      <p:sp>
        <p:nvSpPr>
          <p:cNvPr id="11" name="Text 9"/>
          <p:cNvSpPr/>
          <p:nvPr/>
        </p:nvSpPr>
        <p:spPr>
          <a:xfrm>
            <a:off x="6071616" y="3337560"/>
            <a:ext cx="5276088" cy="384048"/>
          </a:xfrm>
          <a:prstGeom prst="rect">
            <a:avLst/>
          </a:prstGeom>
          <a:noFill/>
          <a:ln/>
        </p:spPr>
        <p:txBody>
          <a:bodyPr wrap="square" lIns="0" tIns="0" rIns="0" bIns="0" rtlCol="0" anchor="ctr"/>
          <a:lstStyle/>
          <a:p>
            <a:pPr indent="0" marL="0">
              <a:lnSpc>
                <a:spcPct val="105000"/>
              </a:lnSpc>
              <a:buNone/>
            </a:pPr>
            <a:r>
              <a:rPr lang="en-US" sz="1200" b="1" dirty="0">
                <a:solidFill>
                  <a:srgbClr val="0C6A73"/>
                </a:solidFill>
                <a:latin typeface="Calibri" pitchFamily="34" charset="0"/>
                <a:ea typeface="Calibri" pitchFamily="34" charset="-122"/>
                <a:cs typeface="Calibri" pitchFamily="34" charset="-120"/>
              </a:rPr>
              <a:t>Best HLA match — </a:t>
            </a:r>
            <a:pPr indent="0" marL="0">
              <a:lnSpc>
                <a:spcPct val="105000"/>
              </a:lnSpc>
              <a:buNone/>
            </a:pPr>
            <a:r>
              <a:rPr lang="en-US" sz="1200" dirty="0">
                <a:solidFill>
                  <a:srgbClr val="6B7280"/>
                </a:solidFill>
                <a:latin typeface="Calibri" pitchFamily="34" charset="0"/>
                <a:ea typeface="Calibri" pitchFamily="34" charset="-122"/>
                <a:cs typeface="Calibri" pitchFamily="34" charset="-120"/>
              </a:rPr>
              <a:t>Favour the lowest mismatch counts.</a:t>
            </a:r>
            <a:endParaRPr lang="en-US" sz="1200" dirty="0"/>
          </a:p>
        </p:txBody>
      </p:sp>
      <p:sp>
        <p:nvSpPr>
          <p:cNvPr id="12" name="Text 10"/>
          <p:cNvSpPr/>
          <p:nvPr/>
        </p:nvSpPr>
        <p:spPr>
          <a:xfrm>
            <a:off x="6071616" y="3767328"/>
            <a:ext cx="5276088" cy="384048"/>
          </a:xfrm>
          <a:prstGeom prst="rect">
            <a:avLst/>
          </a:prstGeom>
          <a:noFill/>
          <a:ln/>
        </p:spPr>
        <p:txBody>
          <a:bodyPr wrap="square" lIns="0" tIns="0" rIns="0" bIns="0" rtlCol="0" anchor="ctr"/>
          <a:lstStyle/>
          <a:p>
            <a:pPr indent="0" marL="0">
              <a:lnSpc>
                <a:spcPct val="105000"/>
              </a:lnSpc>
              <a:buNone/>
            </a:pPr>
            <a:r>
              <a:rPr lang="en-US" sz="1200" b="1" dirty="0">
                <a:solidFill>
                  <a:srgbClr val="0C6A73"/>
                </a:solidFill>
                <a:latin typeface="Calibri" pitchFamily="34" charset="0"/>
                <a:ea typeface="Calibri" pitchFamily="34" charset="-122"/>
                <a:cs typeface="Calibri" pitchFamily="34" charset="-120"/>
              </a:rPr>
              <a:t>Best kidney quality — </a:t>
            </a:r>
            <a:pPr indent="0" marL="0">
              <a:lnSpc>
                <a:spcPct val="105000"/>
              </a:lnSpc>
              <a:buNone/>
            </a:pPr>
            <a:r>
              <a:rPr lang="en-US" sz="1200" dirty="0">
                <a:solidFill>
                  <a:srgbClr val="6B7280"/>
                </a:solidFill>
                <a:latin typeface="Calibri" pitchFamily="34" charset="0"/>
                <a:ea typeface="Calibri" pitchFamily="34" charset="-122"/>
                <a:cs typeface="Calibri" pitchFamily="34" charset="-120"/>
              </a:rPr>
              <a:t>Favour the lowest LKDPI across the cycle.</a:t>
            </a:r>
            <a:endParaRPr lang="en-US" sz="1200" dirty="0"/>
          </a:p>
        </p:txBody>
      </p:sp>
      <p:sp>
        <p:nvSpPr>
          <p:cNvPr id="13" name="Text 11"/>
          <p:cNvSpPr/>
          <p:nvPr/>
        </p:nvSpPr>
        <p:spPr>
          <a:xfrm>
            <a:off x="6071616" y="4197096"/>
            <a:ext cx="5276088" cy="384048"/>
          </a:xfrm>
          <a:prstGeom prst="rect">
            <a:avLst/>
          </a:prstGeom>
          <a:noFill/>
          <a:ln/>
        </p:spPr>
        <p:txBody>
          <a:bodyPr wrap="square" lIns="0" tIns="0" rIns="0" bIns="0" rtlCol="0" anchor="ctr"/>
          <a:lstStyle/>
          <a:p>
            <a:pPr indent="0" marL="0">
              <a:lnSpc>
                <a:spcPct val="105000"/>
              </a:lnSpc>
              <a:buNone/>
            </a:pPr>
            <a:r>
              <a:rPr lang="en-US" sz="1200" b="1" dirty="0">
                <a:solidFill>
                  <a:srgbClr val="0C6A73"/>
                </a:solidFill>
                <a:latin typeface="Calibri" pitchFamily="34" charset="0"/>
                <a:ea typeface="Calibri" pitchFamily="34" charset="-122"/>
                <a:cs typeface="Calibri" pitchFamily="34" charset="-120"/>
              </a:rPr>
              <a:t>Equity-weighted — </a:t>
            </a:r>
            <a:pPr indent="0" marL="0">
              <a:lnSpc>
                <a:spcPct val="105000"/>
              </a:lnSpc>
              <a:buNone/>
            </a:pPr>
            <a:r>
              <a:rPr lang="en-US" sz="1200" dirty="0">
                <a:solidFill>
                  <a:srgbClr val="6B7280"/>
                </a:solidFill>
                <a:latin typeface="Calibri" pitchFamily="34" charset="0"/>
                <a:ea typeface="Calibri" pitchFamily="34" charset="-122"/>
                <a:cs typeface="Calibri" pitchFamily="34" charset="-120"/>
              </a:rPr>
              <a:t>Favour the hardest-to-match and longest-waiting patients.</a:t>
            </a:r>
            <a:endParaRPr lang="en-US" sz="1200" dirty="0"/>
          </a:p>
        </p:txBody>
      </p:sp>
      <p:sp>
        <p:nvSpPr>
          <p:cNvPr id="14" name="Shape 12"/>
          <p:cNvSpPr/>
          <p:nvPr/>
        </p:nvSpPr>
        <p:spPr>
          <a:xfrm>
            <a:off x="566928" y="4956048"/>
            <a:ext cx="11055096" cy="859536"/>
          </a:xfrm>
          <a:prstGeom prst="roundRect">
            <a:avLst>
              <a:gd name="adj" fmla="val 8511"/>
            </a:avLst>
          </a:prstGeom>
          <a:solidFill>
            <a:srgbClr val="E8F4F3"/>
          </a:solidFill>
          <a:ln w="11430">
            <a:solidFill>
              <a:srgbClr val="0C6A73"/>
            </a:solidFill>
            <a:prstDash val="solid"/>
          </a:ln>
        </p:spPr>
      </p:sp>
      <p:sp>
        <p:nvSpPr>
          <p:cNvPr id="15" name="Text 13"/>
          <p:cNvSpPr/>
          <p:nvPr/>
        </p:nvSpPr>
        <p:spPr>
          <a:xfrm>
            <a:off x="768096" y="5010912"/>
            <a:ext cx="10652760" cy="749808"/>
          </a:xfrm>
          <a:prstGeom prst="rect">
            <a:avLst/>
          </a:prstGeom>
          <a:noFill/>
          <a:ln/>
        </p:spPr>
        <p:txBody>
          <a:bodyPr wrap="square" lIns="0" tIns="0" rIns="0" bIns="0" rtlCol="0" anchor="ctr"/>
          <a:lstStyle/>
          <a:p>
            <a:pPr indent="0" marL="0">
              <a:lnSpc>
                <a:spcPct val="108000"/>
              </a:lnSpc>
              <a:buNone/>
            </a:pPr>
            <a:r>
              <a:rPr lang="en-US" sz="1150" dirty="0">
                <a:solidFill>
                  <a:srgbClr val="0C6A73"/>
                </a:solidFill>
                <a:latin typeface="Calibri" pitchFamily="34" charset="0"/>
                <a:ea typeface="Calibri" pitchFamily="34" charset="-122"/>
                <a:cs typeface="Calibri" pitchFamily="34" charset="-120"/>
              </a:rPr>
              <a:t>The four policies exist because there is no single correct answer. Transplanting the most people and transplanting the hardest-to-match people are different goals, and which one a programme chooses is a policy decision for the clinicians, not the software.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SAFEGUARDS</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Built-in protections</a:t>
            </a:r>
            <a:endParaRPr lang="en-US" sz="3000" dirty="0"/>
          </a:p>
        </p:txBody>
      </p:sp>
      <p:sp>
        <p:nvSpPr>
          <p:cNvPr id="4" name="Shape 2"/>
          <p:cNvSpPr/>
          <p:nvPr/>
        </p:nvSpPr>
        <p:spPr>
          <a:xfrm>
            <a:off x="566928" y="1847088"/>
            <a:ext cx="5394960" cy="1170432"/>
          </a:xfrm>
          <a:prstGeom prst="roundRect">
            <a:avLst>
              <a:gd name="adj" fmla="val 7031"/>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5" name="Shape 3"/>
          <p:cNvSpPr/>
          <p:nvPr/>
        </p:nvSpPr>
        <p:spPr>
          <a:xfrm>
            <a:off x="804672" y="2103120"/>
            <a:ext cx="347472" cy="347472"/>
          </a:xfrm>
          <a:prstGeom prst="ellipse">
            <a:avLst/>
          </a:prstGeom>
          <a:solidFill>
            <a:srgbClr val="10A99C"/>
          </a:solidFill>
          <a:ln w="6350">
            <a:solidFill>
              <a:srgbClr val="10A99C"/>
            </a:solidFill>
            <a:prstDash val="solid"/>
          </a:ln>
        </p:spPr>
      </p:sp>
      <p:sp>
        <p:nvSpPr>
          <p:cNvPr id="6" name="Text 4"/>
          <p:cNvSpPr/>
          <p:nvPr/>
        </p:nvSpPr>
        <p:spPr>
          <a:xfrm>
            <a:off x="804672" y="21031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280160" y="2002536"/>
            <a:ext cx="4443984" cy="384048"/>
          </a:xfrm>
          <a:prstGeom prst="rect">
            <a:avLst/>
          </a:prstGeom>
          <a:noFill/>
          <a:ln/>
        </p:spPr>
        <p:txBody>
          <a:bodyPr wrap="square" lIns="0" tIns="0" rIns="0" bIns="0" rtlCol="0" anchor="ctr"/>
          <a:lstStyle/>
          <a:p>
            <a:pPr indent="0" marL="0">
              <a:lnSpc>
                <a:spcPct val="100000"/>
              </a:lnSpc>
              <a:buNone/>
            </a:pPr>
            <a:r>
              <a:rPr lang="en-US" sz="1250" b="1" dirty="0">
                <a:solidFill>
                  <a:srgbClr val="1C1E21"/>
                </a:solidFill>
                <a:latin typeface="Calibri" pitchFamily="34" charset="0"/>
                <a:ea typeface="Calibri" pitchFamily="34" charset="-122"/>
                <a:cs typeface="Calibri" pitchFamily="34" charset="-120"/>
              </a:rPr>
              <a:t>Records stay with the doctor who registered them</a:t>
            </a:r>
            <a:endParaRPr lang="en-US" sz="1250" dirty="0"/>
          </a:p>
        </p:txBody>
      </p:sp>
      <p:sp>
        <p:nvSpPr>
          <p:cNvPr id="8" name="Text 6"/>
          <p:cNvSpPr/>
          <p:nvPr/>
        </p:nvSpPr>
        <p:spPr>
          <a:xfrm>
            <a:off x="1280160" y="2395728"/>
            <a:ext cx="4443984" cy="548640"/>
          </a:xfrm>
          <a:prstGeom prst="rect">
            <a:avLst/>
          </a:prstGeom>
          <a:noFill/>
          <a:ln/>
        </p:spPr>
        <p:txBody>
          <a:bodyPr wrap="square" lIns="0" tIns="0" rIns="0" bIns="0" rtlCol="0" anchor="ctr"/>
          <a:lstStyle/>
          <a:p>
            <a:pPr indent="0" marL="0">
              <a:lnSpc>
                <a:spcPct val="110000"/>
              </a:lnSpc>
              <a:buNone/>
            </a:pPr>
            <a:r>
              <a:rPr lang="en-US" sz="1100" dirty="0">
                <a:solidFill>
                  <a:srgbClr val="6B7280"/>
                </a:solidFill>
                <a:latin typeface="Calibri" pitchFamily="34" charset="0"/>
                <a:ea typeface="Calibri" pitchFamily="34" charset="-122"/>
                <a:cs typeface="Calibri" pitchFamily="34" charset="-120"/>
              </a:rPr>
              <a:t>Another doctor cannot open your patient's record. Cross-hospital visibility is limited to what a donor search deliberately exposes.</a:t>
            </a:r>
            <a:endParaRPr lang="en-US" sz="1100" dirty="0"/>
          </a:p>
        </p:txBody>
      </p:sp>
      <p:sp>
        <p:nvSpPr>
          <p:cNvPr id="9" name="Shape 7"/>
          <p:cNvSpPr/>
          <p:nvPr/>
        </p:nvSpPr>
        <p:spPr>
          <a:xfrm>
            <a:off x="6227064" y="1847088"/>
            <a:ext cx="5394960" cy="1170432"/>
          </a:xfrm>
          <a:prstGeom prst="roundRect">
            <a:avLst>
              <a:gd name="adj" fmla="val 7031"/>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0" name="Shape 8"/>
          <p:cNvSpPr/>
          <p:nvPr/>
        </p:nvSpPr>
        <p:spPr>
          <a:xfrm>
            <a:off x="6464808" y="2103120"/>
            <a:ext cx="347472" cy="347472"/>
          </a:xfrm>
          <a:prstGeom prst="ellipse">
            <a:avLst/>
          </a:prstGeom>
          <a:solidFill>
            <a:srgbClr val="10A99C"/>
          </a:solidFill>
          <a:ln w="6350">
            <a:solidFill>
              <a:srgbClr val="10A99C"/>
            </a:solidFill>
            <a:prstDash val="solid"/>
          </a:ln>
        </p:spPr>
      </p:sp>
      <p:sp>
        <p:nvSpPr>
          <p:cNvPr id="11" name="Text 9"/>
          <p:cNvSpPr/>
          <p:nvPr/>
        </p:nvSpPr>
        <p:spPr>
          <a:xfrm>
            <a:off x="6464808" y="21031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6940296" y="2002536"/>
            <a:ext cx="4443984" cy="384048"/>
          </a:xfrm>
          <a:prstGeom prst="rect">
            <a:avLst/>
          </a:prstGeom>
          <a:noFill/>
          <a:ln/>
        </p:spPr>
        <p:txBody>
          <a:bodyPr wrap="square" lIns="0" tIns="0" rIns="0" bIns="0" rtlCol="0" anchor="ctr"/>
          <a:lstStyle/>
          <a:p>
            <a:pPr indent="0" marL="0">
              <a:lnSpc>
                <a:spcPct val="100000"/>
              </a:lnSpc>
              <a:buNone/>
            </a:pPr>
            <a:r>
              <a:rPr lang="en-US" sz="1250" b="1" dirty="0">
                <a:solidFill>
                  <a:srgbClr val="1C1E21"/>
                </a:solidFill>
                <a:latin typeface="Calibri" pitchFamily="34" charset="0"/>
                <a:ea typeface="Calibri" pitchFamily="34" charset="-122"/>
                <a:cs typeface="Calibri" pitchFamily="34" charset="-120"/>
              </a:rPr>
              <a:t>A tamper-evident audit log</a:t>
            </a:r>
            <a:endParaRPr lang="en-US" sz="1250" dirty="0"/>
          </a:p>
        </p:txBody>
      </p:sp>
      <p:sp>
        <p:nvSpPr>
          <p:cNvPr id="13" name="Text 11"/>
          <p:cNvSpPr/>
          <p:nvPr/>
        </p:nvSpPr>
        <p:spPr>
          <a:xfrm>
            <a:off x="6940296" y="2395728"/>
            <a:ext cx="4443984" cy="548640"/>
          </a:xfrm>
          <a:prstGeom prst="rect">
            <a:avLst/>
          </a:prstGeom>
          <a:noFill/>
          <a:ln/>
        </p:spPr>
        <p:txBody>
          <a:bodyPr wrap="square" lIns="0" tIns="0" rIns="0" bIns="0" rtlCol="0" anchor="ctr"/>
          <a:lstStyle/>
          <a:p>
            <a:pPr indent="0" marL="0">
              <a:lnSpc>
                <a:spcPct val="110000"/>
              </a:lnSpc>
              <a:buNone/>
            </a:pPr>
            <a:r>
              <a:rPr lang="en-US" sz="1100" dirty="0">
                <a:solidFill>
                  <a:srgbClr val="6B7280"/>
                </a:solidFill>
                <a:latin typeface="Calibri" pitchFamily="34" charset="0"/>
                <a:ea typeface="Calibri" pitchFamily="34" charset="-122"/>
                <a:cs typeface="Calibri" pitchFamily="34" charset="-120"/>
              </a:rPr>
              <a:t>Every clinical action is chained by cryptographic hash. Altering or deleting a past entry breaks the chain and is detectable.</a:t>
            </a:r>
            <a:endParaRPr lang="en-US" sz="1100" dirty="0"/>
          </a:p>
        </p:txBody>
      </p:sp>
      <p:sp>
        <p:nvSpPr>
          <p:cNvPr id="14" name="Shape 12"/>
          <p:cNvSpPr/>
          <p:nvPr/>
        </p:nvSpPr>
        <p:spPr>
          <a:xfrm>
            <a:off x="566928" y="3163824"/>
            <a:ext cx="5394960" cy="1170432"/>
          </a:xfrm>
          <a:prstGeom prst="roundRect">
            <a:avLst>
              <a:gd name="adj" fmla="val 7031"/>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5" name="Shape 13"/>
          <p:cNvSpPr/>
          <p:nvPr/>
        </p:nvSpPr>
        <p:spPr>
          <a:xfrm>
            <a:off x="804672" y="3419856"/>
            <a:ext cx="347472" cy="347472"/>
          </a:xfrm>
          <a:prstGeom prst="ellipse">
            <a:avLst/>
          </a:prstGeom>
          <a:solidFill>
            <a:srgbClr val="10A99C"/>
          </a:solidFill>
          <a:ln w="6350">
            <a:solidFill>
              <a:srgbClr val="10A99C"/>
            </a:solidFill>
            <a:prstDash val="solid"/>
          </a:ln>
        </p:spPr>
      </p:sp>
      <p:sp>
        <p:nvSpPr>
          <p:cNvPr id="16" name="Text 14"/>
          <p:cNvSpPr/>
          <p:nvPr/>
        </p:nvSpPr>
        <p:spPr>
          <a:xfrm>
            <a:off x="804672" y="34198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1280160" y="3319272"/>
            <a:ext cx="4443984" cy="384048"/>
          </a:xfrm>
          <a:prstGeom prst="rect">
            <a:avLst/>
          </a:prstGeom>
          <a:noFill/>
          <a:ln/>
        </p:spPr>
        <p:txBody>
          <a:bodyPr wrap="square" lIns="0" tIns="0" rIns="0" bIns="0" rtlCol="0" anchor="ctr"/>
          <a:lstStyle/>
          <a:p>
            <a:pPr indent="0" marL="0">
              <a:lnSpc>
                <a:spcPct val="100000"/>
              </a:lnSpc>
              <a:buNone/>
            </a:pPr>
            <a:r>
              <a:rPr lang="en-US" sz="1250" b="1" dirty="0">
                <a:solidFill>
                  <a:srgbClr val="1C1E21"/>
                </a:solidFill>
                <a:latin typeface="Calibri" pitchFamily="34" charset="0"/>
                <a:ea typeface="Calibri" pitchFamily="34" charset="-122"/>
                <a:cs typeface="Calibri" pitchFamily="34" charset="-120"/>
              </a:rPr>
              <a:t>Missing data is refused, never guessed</a:t>
            </a:r>
            <a:endParaRPr lang="en-US" sz="1250" dirty="0"/>
          </a:p>
        </p:txBody>
      </p:sp>
      <p:sp>
        <p:nvSpPr>
          <p:cNvPr id="18" name="Text 16"/>
          <p:cNvSpPr/>
          <p:nvPr/>
        </p:nvSpPr>
        <p:spPr>
          <a:xfrm>
            <a:off x="1280160" y="3712464"/>
            <a:ext cx="4443984" cy="548640"/>
          </a:xfrm>
          <a:prstGeom prst="rect">
            <a:avLst/>
          </a:prstGeom>
          <a:noFill/>
          <a:ln/>
        </p:spPr>
        <p:txBody>
          <a:bodyPr wrap="square" lIns="0" tIns="0" rIns="0" bIns="0" rtlCol="0" anchor="ctr"/>
          <a:lstStyle/>
          <a:p>
            <a:pPr indent="0" marL="0">
              <a:lnSpc>
                <a:spcPct val="110000"/>
              </a:lnSpc>
              <a:buNone/>
            </a:pPr>
            <a:r>
              <a:rPr lang="en-US" sz="1100" dirty="0">
                <a:solidFill>
                  <a:srgbClr val="6B7280"/>
                </a:solidFill>
                <a:latin typeface="Calibri" pitchFamily="34" charset="0"/>
                <a:ea typeface="Calibri" pitchFamily="34" charset="-122"/>
                <a:cs typeface="Calibri" pitchFamily="34" charset="-120"/>
              </a:rPr>
              <a:t>The system declines to produce a score rather than fill a blank with an average — across every model in the system.</a:t>
            </a:r>
            <a:endParaRPr lang="en-US" sz="1100" dirty="0"/>
          </a:p>
        </p:txBody>
      </p:sp>
      <p:sp>
        <p:nvSpPr>
          <p:cNvPr id="19" name="Shape 17"/>
          <p:cNvSpPr/>
          <p:nvPr/>
        </p:nvSpPr>
        <p:spPr>
          <a:xfrm>
            <a:off x="6227064" y="3163824"/>
            <a:ext cx="5394960" cy="1170432"/>
          </a:xfrm>
          <a:prstGeom prst="roundRect">
            <a:avLst>
              <a:gd name="adj" fmla="val 7031"/>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20" name="Shape 18"/>
          <p:cNvSpPr/>
          <p:nvPr/>
        </p:nvSpPr>
        <p:spPr>
          <a:xfrm>
            <a:off x="6464808" y="3419856"/>
            <a:ext cx="347472" cy="347472"/>
          </a:xfrm>
          <a:prstGeom prst="ellipse">
            <a:avLst/>
          </a:prstGeom>
          <a:solidFill>
            <a:srgbClr val="10A99C"/>
          </a:solidFill>
          <a:ln w="6350">
            <a:solidFill>
              <a:srgbClr val="10A99C"/>
            </a:solidFill>
            <a:prstDash val="solid"/>
          </a:ln>
        </p:spPr>
      </p:sp>
      <p:sp>
        <p:nvSpPr>
          <p:cNvPr id="21" name="Text 19"/>
          <p:cNvSpPr/>
          <p:nvPr/>
        </p:nvSpPr>
        <p:spPr>
          <a:xfrm>
            <a:off x="6464808" y="34198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6940296" y="3319272"/>
            <a:ext cx="4443984" cy="384048"/>
          </a:xfrm>
          <a:prstGeom prst="rect">
            <a:avLst/>
          </a:prstGeom>
          <a:noFill/>
          <a:ln/>
        </p:spPr>
        <p:txBody>
          <a:bodyPr wrap="square" lIns="0" tIns="0" rIns="0" bIns="0" rtlCol="0" anchor="ctr"/>
          <a:lstStyle/>
          <a:p>
            <a:pPr indent="0" marL="0">
              <a:lnSpc>
                <a:spcPct val="100000"/>
              </a:lnSpc>
              <a:buNone/>
            </a:pPr>
            <a:r>
              <a:rPr lang="en-US" sz="1250" b="1" dirty="0">
                <a:solidFill>
                  <a:srgbClr val="1C1E21"/>
                </a:solidFill>
                <a:latin typeface="Calibri" pitchFamily="34" charset="0"/>
                <a:ea typeface="Calibri" pitchFamily="34" charset="-122"/>
                <a:cs typeface="Calibri" pitchFamily="34" charset="-120"/>
              </a:rPr>
              <a:t>Blood group is permanent once recorded</a:t>
            </a:r>
            <a:endParaRPr lang="en-US" sz="1250" dirty="0"/>
          </a:p>
        </p:txBody>
      </p:sp>
      <p:sp>
        <p:nvSpPr>
          <p:cNvPr id="23" name="Text 21"/>
          <p:cNvSpPr/>
          <p:nvPr/>
        </p:nvSpPr>
        <p:spPr>
          <a:xfrm>
            <a:off x="6940296" y="3712464"/>
            <a:ext cx="4443984" cy="548640"/>
          </a:xfrm>
          <a:prstGeom prst="rect">
            <a:avLst/>
          </a:prstGeom>
          <a:noFill/>
          <a:ln/>
        </p:spPr>
        <p:txBody>
          <a:bodyPr wrap="square" lIns="0" tIns="0" rIns="0" bIns="0" rtlCol="0" anchor="ctr"/>
          <a:lstStyle/>
          <a:p>
            <a:pPr indent="0" marL="0">
              <a:lnSpc>
                <a:spcPct val="110000"/>
              </a:lnSpc>
              <a:buNone/>
            </a:pPr>
            <a:r>
              <a:rPr lang="en-US" sz="1100" dirty="0">
                <a:solidFill>
                  <a:srgbClr val="6B7280"/>
                </a:solidFill>
                <a:latin typeface="Calibri" pitchFamily="34" charset="0"/>
                <a:ea typeface="Calibri" pitchFamily="34" charset="-122"/>
                <a:cs typeface="Calibri" pitchFamily="34" charset="-120"/>
              </a:rPr>
              <a:t>The compatibility engine and every report already issued depend on it, so it cannot be quietly edited later.</a:t>
            </a:r>
            <a:endParaRPr lang="en-US" sz="1100" dirty="0"/>
          </a:p>
        </p:txBody>
      </p:sp>
      <p:sp>
        <p:nvSpPr>
          <p:cNvPr id="24" name="Shape 22"/>
          <p:cNvSpPr/>
          <p:nvPr/>
        </p:nvSpPr>
        <p:spPr>
          <a:xfrm>
            <a:off x="566928" y="4480560"/>
            <a:ext cx="5394960" cy="1170432"/>
          </a:xfrm>
          <a:prstGeom prst="roundRect">
            <a:avLst>
              <a:gd name="adj" fmla="val 7031"/>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25" name="Shape 23"/>
          <p:cNvSpPr/>
          <p:nvPr/>
        </p:nvSpPr>
        <p:spPr>
          <a:xfrm>
            <a:off x="804672" y="4736592"/>
            <a:ext cx="347472" cy="347472"/>
          </a:xfrm>
          <a:prstGeom prst="ellipse">
            <a:avLst/>
          </a:prstGeom>
          <a:solidFill>
            <a:srgbClr val="10A99C"/>
          </a:solidFill>
          <a:ln w="6350">
            <a:solidFill>
              <a:srgbClr val="10A99C"/>
            </a:solidFill>
            <a:prstDash val="solid"/>
          </a:ln>
        </p:spPr>
      </p:sp>
      <p:sp>
        <p:nvSpPr>
          <p:cNvPr id="26" name="Text 24"/>
          <p:cNvSpPr/>
          <p:nvPr/>
        </p:nvSpPr>
        <p:spPr>
          <a:xfrm>
            <a:off x="804672" y="47365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1280160" y="4636008"/>
            <a:ext cx="4443984" cy="384048"/>
          </a:xfrm>
          <a:prstGeom prst="rect">
            <a:avLst/>
          </a:prstGeom>
          <a:noFill/>
          <a:ln/>
        </p:spPr>
        <p:txBody>
          <a:bodyPr wrap="square" lIns="0" tIns="0" rIns="0" bIns="0" rtlCol="0" anchor="ctr"/>
          <a:lstStyle/>
          <a:p>
            <a:pPr indent="0" marL="0">
              <a:lnSpc>
                <a:spcPct val="100000"/>
              </a:lnSpc>
              <a:buNone/>
            </a:pPr>
            <a:r>
              <a:rPr lang="en-US" sz="1250" b="1" dirty="0">
                <a:solidFill>
                  <a:srgbClr val="1C1E21"/>
                </a:solidFill>
                <a:latin typeface="Calibri" pitchFamily="34" charset="0"/>
                <a:ea typeface="Calibri" pitchFamily="34" charset="-122"/>
                <a:cs typeface="Calibri" pitchFamily="34" charset="-120"/>
              </a:rPr>
              <a:t>AI output is a draft, not an input</a:t>
            </a:r>
            <a:endParaRPr lang="en-US" sz="1250" dirty="0"/>
          </a:p>
        </p:txBody>
      </p:sp>
      <p:sp>
        <p:nvSpPr>
          <p:cNvPr id="28" name="Text 26"/>
          <p:cNvSpPr/>
          <p:nvPr/>
        </p:nvSpPr>
        <p:spPr>
          <a:xfrm>
            <a:off x="1280160" y="5029200"/>
            <a:ext cx="4443984" cy="548640"/>
          </a:xfrm>
          <a:prstGeom prst="rect">
            <a:avLst/>
          </a:prstGeom>
          <a:noFill/>
          <a:ln/>
        </p:spPr>
        <p:txBody>
          <a:bodyPr wrap="square" lIns="0" tIns="0" rIns="0" bIns="0" rtlCol="0" anchor="ctr"/>
          <a:lstStyle/>
          <a:p>
            <a:pPr indent="0" marL="0">
              <a:lnSpc>
                <a:spcPct val="110000"/>
              </a:lnSpc>
              <a:buNone/>
            </a:pPr>
            <a:r>
              <a:rPr lang="en-US" sz="1100" dirty="0">
                <a:solidFill>
                  <a:srgbClr val="6B7280"/>
                </a:solidFill>
                <a:latin typeface="Calibri" pitchFamily="34" charset="0"/>
                <a:ea typeface="Calibri" pitchFamily="34" charset="-122"/>
                <a:cs typeface="Calibri" pitchFamily="34" charset="-120"/>
              </a:rPr>
              <a:t>No extracted value reaches the clinical engine until a doctor has confirmed it against the source document.</a:t>
            </a:r>
            <a:endParaRPr lang="en-US" sz="1100" dirty="0"/>
          </a:p>
        </p:txBody>
      </p:sp>
      <p:sp>
        <p:nvSpPr>
          <p:cNvPr id="29" name="Shape 27"/>
          <p:cNvSpPr/>
          <p:nvPr/>
        </p:nvSpPr>
        <p:spPr>
          <a:xfrm>
            <a:off x="6227064" y="4480560"/>
            <a:ext cx="5394960" cy="1170432"/>
          </a:xfrm>
          <a:prstGeom prst="roundRect">
            <a:avLst>
              <a:gd name="adj" fmla="val 7031"/>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30" name="Shape 28"/>
          <p:cNvSpPr/>
          <p:nvPr/>
        </p:nvSpPr>
        <p:spPr>
          <a:xfrm>
            <a:off x="6464808" y="4736592"/>
            <a:ext cx="347472" cy="347472"/>
          </a:xfrm>
          <a:prstGeom prst="ellipse">
            <a:avLst/>
          </a:prstGeom>
          <a:solidFill>
            <a:srgbClr val="10A99C"/>
          </a:solidFill>
          <a:ln w="6350">
            <a:solidFill>
              <a:srgbClr val="10A99C"/>
            </a:solidFill>
            <a:prstDash val="solid"/>
          </a:ln>
        </p:spPr>
      </p:sp>
      <p:sp>
        <p:nvSpPr>
          <p:cNvPr id="31" name="Text 29"/>
          <p:cNvSpPr/>
          <p:nvPr/>
        </p:nvSpPr>
        <p:spPr>
          <a:xfrm>
            <a:off x="6464808" y="47365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2" name="Text 30"/>
          <p:cNvSpPr/>
          <p:nvPr/>
        </p:nvSpPr>
        <p:spPr>
          <a:xfrm>
            <a:off x="6940296" y="4636008"/>
            <a:ext cx="4443984" cy="384048"/>
          </a:xfrm>
          <a:prstGeom prst="rect">
            <a:avLst/>
          </a:prstGeom>
          <a:noFill/>
          <a:ln/>
        </p:spPr>
        <p:txBody>
          <a:bodyPr wrap="square" lIns="0" tIns="0" rIns="0" bIns="0" rtlCol="0" anchor="ctr"/>
          <a:lstStyle/>
          <a:p>
            <a:pPr indent="0" marL="0">
              <a:lnSpc>
                <a:spcPct val="100000"/>
              </a:lnSpc>
              <a:buNone/>
            </a:pPr>
            <a:r>
              <a:rPr lang="en-US" sz="1250" b="1" dirty="0">
                <a:solidFill>
                  <a:srgbClr val="1C1E21"/>
                </a:solidFill>
                <a:latin typeface="Calibri" pitchFamily="34" charset="0"/>
                <a:ea typeface="Calibri" pitchFamily="34" charset="-122"/>
                <a:cs typeface="Calibri" pitchFamily="34" charset="-120"/>
              </a:rPr>
              <a:t>Every threshold has a citation</a:t>
            </a:r>
            <a:endParaRPr lang="en-US" sz="1250" dirty="0"/>
          </a:p>
        </p:txBody>
      </p:sp>
      <p:sp>
        <p:nvSpPr>
          <p:cNvPr id="33" name="Text 31"/>
          <p:cNvSpPr/>
          <p:nvPr/>
        </p:nvSpPr>
        <p:spPr>
          <a:xfrm>
            <a:off x="6940296" y="5029200"/>
            <a:ext cx="4443984" cy="548640"/>
          </a:xfrm>
          <a:prstGeom prst="rect">
            <a:avLst/>
          </a:prstGeom>
          <a:noFill/>
          <a:ln/>
        </p:spPr>
        <p:txBody>
          <a:bodyPr wrap="square" lIns="0" tIns="0" rIns="0" bIns="0" rtlCol="0" anchor="ctr"/>
          <a:lstStyle/>
          <a:p>
            <a:pPr indent="0" marL="0">
              <a:lnSpc>
                <a:spcPct val="110000"/>
              </a:lnSpc>
              <a:buNone/>
            </a:pPr>
            <a:r>
              <a:rPr lang="en-US" sz="1100" dirty="0">
                <a:solidFill>
                  <a:srgbClr val="6B7280"/>
                </a:solidFill>
                <a:latin typeface="Calibri" pitchFamily="34" charset="0"/>
                <a:ea typeface="Calibri" pitchFamily="34" charset="-122"/>
                <a:cs typeface="Calibri" pitchFamily="34" charset="-120"/>
              </a:rPr>
              <a:t>Reference values live in one place with their source, the date agreed, and whether the boundary is published or a project convention.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CURRENT STATUS</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What works today, and what is still outstanding</a:t>
            </a:r>
            <a:endParaRPr lang="en-US" sz="3000" dirty="0"/>
          </a:p>
        </p:txBody>
      </p:sp>
      <p:sp>
        <p:nvSpPr>
          <p:cNvPr id="4" name="Text 2"/>
          <p:cNvSpPr/>
          <p:nvPr/>
        </p:nvSpPr>
        <p:spPr>
          <a:xfrm>
            <a:off x="566928" y="1225296"/>
            <a:ext cx="10689336" cy="402336"/>
          </a:xfrm>
          <a:prstGeom prst="rect">
            <a:avLst/>
          </a:prstGeom>
          <a:noFill/>
          <a:ln/>
        </p:spPr>
        <p:txBody>
          <a:bodyPr wrap="square" lIns="0" tIns="0" rIns="0" bIns="0" rtlCol="0" anchor="ctr"/>
          <a:lstStyle/>
          <a:p>
            <a:pPr indent="0" marL="0">
              <a:lnSpc>
                <a:spcPct val="112000"/>
              </a:lnSpc>
              <a:buNone/>
            </a:pPr>
            <a:r>
              <a:rPr lang="en-US" sz="1350" dirty="0">
                <a:solidFill>
                  <a:srgbClr val="6B7280"/>
                </a:solidFill>
                <a:latin typeface="Calibri" pitchFamily="34" charset="0"/>
                <a:ea typeface="Calibri" pitchFamily="34" charset="-122"/>
                <a:cs typeface="Calibri" pitchFamily="34" charset="-120"/>
              </a:rPr>
              <a:t>Stated plainly, because a pilot needs an accurate starting point.</a:t>
            </a:r>
            <a:endParaRPr lang="en-US" sz="1350" dirty="0"/>
          </a:p>
        </p:txBody>
      </p:sp>
      <p:sp>
        <p:nvSpPr>
          <p:cNvPr id="5" name="Shape 3"/>
          <p:cNvSpPr/>
          <p:nvPr/>
        </p:nvSpPr>
        <p:spPr>
          <a:xfrm>
            <a:off x="566928" y="2231136"/>
            <a:ext cx="5394960" cy="3200400"/>
          </a:xfrm>
          <a:prstGeom prst="roundRect">
            <a:avLst>
              <a:gd name="adj" fmla="val 2571"/>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6" name="Shape 4"/>
          <p:cNvSpPr/>
          <p:nvPr/>
        </p:nvSpPr>
        <p:spPr>
          <a:xfrm>
            <a:off x="841248" y="2450592"/>
            <a:ext cx="347472" cy="347472"/>
          </a:xfrm>
          <a:prstGeom prst="ellipse">
            <a:avLst/>
          </a:prstGeom>
          <a:solidFill>
            <a:srgbClr val="16A34A"/>
          </a:solidFill>
          <a:ln w="6350">
            <a:solidFill>
              <a:srgbClr val="16A34A"/>
            </a:solidFill>
            <a:prstDash val="solid"/>
          </a:ln>
        </p:spPr>
      </p:sp>
      <p:sp>
        <p:nvSpPr>
          <p:cNvPr id="7" name="Text 5"/>
          <p:cNvSpPr/>
          <p:nvPr/>
        </p:nvSpPr>
        <p:spPr>
          <a:xfrm>
            <a:off x="841248" y="24505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1316736" y="2432304"/>
            <a:ext cx="4389120" cy="347472"/>
          </a:xfrm>
          <a:prstGeom prst="rect">
            <a:avLst/>
          </a:prstGeom>
          <a:noFill/>
          <a:ln/>
        </p:spPr>
        <p:txBody>
          <a:bodyPr wrap="square" lIns="0" tIns="0" rIns="0" bIns="0" rtlCol="0" anchor="ctr"/>
          <a:lstStyle/>
          <a:p>
            <a:pPr indent="0" marL="0">
              <a:buNone/>
            </a:pPr>
            <a:r>
              <a:rPr lang="en-US" sz="1800" b="1" dirty="0">
                <a:solidFill>
                  <a:srgbClr val="16A34A"/>
                </a:solidFill>
                <a:latin typeface="Cambria" pitchFamily="34" charset="0"/>
                <a:ea typeface="Cambria" pitchFamily="34" charset="-122"/>
                <a:cs typeface="Cambria" pitchFamily="34" charset="-120"/>
              </a:rPr>
              <a:t>Working today</a:t>
            </a:r>
            <a:endParaRPr lang="en-US" sz="1800" dirty="0"/>
          </a:p>
        </p:txBody>
      </p:sp>
      <p:sp>
        <p:nvSpPr>
          <p:cNvPr id="9" name="Text 7"/>
          <p:cNvSpPr/>
          <p:nvPr/>
        </p:nvSpPr>
        <p:spPr>
          <a:xfrm>
            <a:off x="877824" y="2743200"/>
            <a:ext cx="4773168" cy="2487168"/>
          </a:xfrm>
          <a:prstGeom prst="rect">
            <a:avLst/>
          </a:prstGeom>
          <a:noFill/>
          <a:ln/>
        </p:spPr>
        <p:txBody>
          <a:bodyPr wrap="square" lIns="0" tIns="0" rIns="0" bIns="0" rtlCol="0" anchor="ctr"/>
          <a:lstStyle/>
          <a:p>
            <a:pPr marL="342900" indent="-342900">
              <a:lnSpc>
                <a:spcPct val="108000"/>
              </a:lnSpc>
              <a:spcAft>
                <a:spcPts val="500"/>
              </a:spcAft>
              <a:buSzPct val="100000"/>
              <a:buChar char="•"/>
            </a:pPr>
            <a:r>
              <a:rPr lang="en-US" sz="1200" dirty="0">
                <a:solidFill>
                  <a:srgbClr val="1C1E21"/>
                </a:solidFill>
                <a:latin typeface="Calibri" pitchFamily="34" charset="0"/>
                <a:ea typeface="Calibri" pitchFamily="34" charset="-122"/>
                <a:cs typeface="Calibri" pitchFamily="34" charset="-120"/>
              </a:rPr>
              <a:t>The seven-step check and the full report</a:t>
            </a:r>
            <a:endParaRPr lang="en-US" sz="1200" dirty="0"/>
          </a:p>
          <a:p>
            <a:pPr marL="342900" indent="-342900">
              <a:lnSpc>
                <a:spcPct val="108000"/>
              </a:lnSpc>
              <a:spcAft>
                <a:spcPts val="500"/>
              </a:spcAft>
              <a:buSzPct val="100000"/>
              <a:buChar char="•"/>
            </a:pPr>
            <a:r>
              <a:rPr lang="en-US" sz="1200" dirty="0">
                <a:solidFill>
                  <a:srgbClr val="1C1E21"/>
                </a:solidFill>
                <a:latin typeface="Calibri" pitchFamily="34" charset="0"/>
                <a:ea typeface="Calibri" pitchFamily="34" charset="-122"/>
                <a:cs typeface="Calibri" pitchFamily="34" charset="-120"/>
              </a:rPr>
              <a:t>Patient and donor records, documents, dashboard</a:t>
            </a:r>
            <a:endParaRPr lang="en-US" sz="1200" dirty="0"/>
          </a:p>
          <a:p>
            <a:pPr marL="342900" indent="-342900">
              <a:lnSpc>
                <a:spcPct val="108000"/>
              </a:lnSpc>
              <a:spcAft>
                <a:spcPts val="500"/>
              </a:spcAft>
              <a:buSzPct val="100000"/>
              <a:buChar char="•"/>
            </a:pPr>
            <a:r>
              <a:rPr lang="en-US" sz="1200" dirty="0">
                <a:solidFill>
                  <a:srgbClr val="1C1E21"/>
                </a:solidFill>
                <a:latin typeface="Calibri" pitchFamily="34" charset="0"/>
                <a:ea typeface="Calibri" pitchFamily="34" charset="-122"/>
                <a:cs typeface="Calibri" pitchFamily="34" charset="-120"/>
              </a:rPr>
              <a:t>cPRA against the Sri Lankan reference table</a:t>
            </a:r>
            <a:endParaRPr lang="en-US" sz="1200" dirty="0"/>
          </a:p>
          <a:p>
            <a:pPr marL="342900" indent="-342900">
              <a:lnSpc>
                <a:spcPct val="108000"/>
              </a:lnSpc>
              <a:spcAft>
                <a:spcPts val="500"/>
              </a:spcAft>
              <a:buSzPct val="100000"/>
              <a:buChar char="•"/>
            </a:pPr>
            <a:r>
              <a:rPr lang="en-US" sz="1200" dirty="0">
                <a:solidFill>
                  <a:srgbClr val="1C1E21"/>
                </a:solidFill>
                <a:latin typeface="Calibri" pitchFamily="34" charset="0"/>
                <a:ea typeface="Calibri" pitchFamily="34" charset="-122"/>
                <a:cs typeface="Calibri" pitchFamily="34" charset="-120"/>
              </a:rPr>
              <a:t>Donor safety assessment</a:t>
            </a:r>
            <a:endParaRPr lang="en-US" sz="1200" dirty="0"/>
          </a:p>
          <a:p>
            <a:pPr marL="342900" indent="-342900">
              <a:lnSpc>
                <a:spcPct val="108000"/>
              </a:lnSpc>
              <a:spcAft>
                <a:spcPts val="500"/>
              </a:spcAft>
              <a:buSzPct val="100000"/>
              <a:buChar char="•"/>
            </a:pPr>
            <a:r>
              <a:rPr lang="en-US" sz="1200" dirty="0">
                <a:solidFill>
                  <a:srgbClr val="1C1E21"/>
                </a:solidFill>
                <a:latin typeface="Calibri" pitchFamily="34" charset="0"/>
                <a:ea typeface="Calibri" pitchFamily="34" charset="-122"/>
                <a:cs typeface="Calibri" pitchFamily="34" charset="-120"/>
              </a:rPr>
              <a:t>Cross-hospital search and paired exchange</a:t>
            </a:r>
            <a:endParaRPr lang="en-US" sz="1200" dirty="0"/>
          </a:p>
          <a:p>
            <a:pPr marL="342900" indent="-342900">
              <a:lnSpc>
                <a:spcPct val="108000"/>
              </a:lnSpc>
              <a:spcAft>
                <a:spcPts val="500"/>
              </a:spcAft>
              <a:buSzPct val="100000"/>
              <a:buChar char="•"/>
            </a:pPr>
            <a:r>
              <a:rPr lang="en-US" sz="1200" dirty="0">
                <a:solidFill>
                  <a:srgbClr val="1C1E21"/>
                </a:solidFill>
                <a:latin typeface="Calibri" pitchFamily="34" charset="0"/>
                <a:ea typeface="Calibri" pitchFamily="34" charset="-122"/>
                <a:cs typeface="Calibri" pitchFamily="34" charset="-120"/>
              </a:rPr>
              <a:t>Tamper-evident audit log</a:t>
            </a:r>
            <a:endParaRPr lang="en-US" sz="1200" dirty="0"/>
          </a:p>
          <a:p>
            <a:pPr marL="342900" indent="-342900">
              <a:lnSpc>
                <a:spcPct val="108000"/>
              </a:lnSpc>
              <a:spcAft>
                <a:spcPts val="500"/>
              </a:spcAft>
              <a:buSzPct val="100000"/>
              <a:buChar char="•"/>
            </a:pPr>
            <a:r>
              <a:rPr lang="en-US" sz="1200" dirty="0">
                <a:solidFill>
                  <a:srgbClr val="1C1E21"/>
                </a:solidFill>
                <a:latin typeface="Calibri" pitchFamily="34" charset="0"/>
                <a:ea typeface="Calibri" pitchFamily="34" charset="-122"/>
                <a:cs typeface="Calibri" pitchFamily="34" charset="-120"/>
              </a:rPr>
              <a:t>550 automated tests passing</a:t>
            </a:r>
            <a:endParaRPr lang="en-US" sz="1200" dirty="0"/>
          </a:p>
        </p:txBody>
      </p:sp>
      <p:sp>
        <p:nvSpPr>
          <p:cNvPr id="10" name="Shape 8"/>
          <p:cNvSpPr/>
          <p:nvPr/>
        </p:nvSpPr>
        <p:spPr>
          <a:xfrm>
            <a:off x="6227064" y="2231136"/>
            <a:ext cx="5394960" cy="3200400"/>
          </a:xfrm>
          <a:prstGeom prst="roundRect">
            <a:avLst>
              <a:gd name="adj" fmla="val 2571"/>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1" name="Shape 9"/>
          <p:cNvSpPr/>
          <p:nvPr/>
        </p:nvSpPr>
        <p:spPr>
          <a:xfrm>
            <a:off x="6501384" y="2450592"/>
            <a:ext cx="347472" cy="347472"/>
          </a:xfrm>
          <a:prstGeom prst="ellipse">
            <a:avLst/>
          </a:prstGeom>
          <a:solidFill>
            <a:srgbClr val="D97706"/>
          </a:solidFill>
          <a:ln w="6350">
            <a:solidFill>
              <a:srgbClr val="D97706"/>
            </a:solidFill>
            <a:prstDash val="solid"/>
          </a:ln>
        </p:spPr>
      </p:sp>
      <p:sp>
        <p:nvSpPr>
          <p:cNvPr id="12" name="Text 10"/>
          <p:cNvSpPr/>
          <p:nvPr/>
        </p:nvSpPr>
        <p:spPr>
          <a:xfrm>
            <a:off x="6501384" y="24505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6976872" y="2432304"/>
            <a:ext cx="4389120" cy="347472"/>
          </a:xfrm>
          <a:prstGeom prst="rect">
            <a:avLst/>
          </a:prstGeom>
          <a:noFill/>
          <a:ln/>
        </p:spPr>
        <p:txBody>
          <a:bodyPr wrap="square" lIns="0" tIns="0" rIns="0" bIns="0" rtlCol="0" anchor="ctr"/>
          <a:lstStyle/>
          <a:p>
            <a:pPr indent="0" marL="0">
              <a:buNone/>
            </a:pPr>
            <a:r>
              <a:rPr lang="en-US" sz="1800" b="1" dirty="0">
                <a:solidFill>
                  <a:srgbClr val="D97706"/>
                </a:solidFill>
                <a:latin typeface="Cambria" pitchFamily="34" charset="0"/>
                <a:ea typeface="Cambria" pitchFamily="34" charset="-122"/>
                <a:cs typeface="Cambria" pitchFamily="34" charset="-120"/>
              </a:rPr>
              <a:t>Before clinical use</a:t>
            </a:r>
            <a:endParaRPr lang="en-US" sz="1800" dirty="0"/>
          </a:p>
        </p:txBody>
      </p:sp>
      <p:sp>
        <p:nvSpPr>
          <p:cNvPr id="14" name="Text 12"/>
          <p:cNvSpPr/>
          <p:nvPr/>
        </p:nvSpPr>
        <p:spPr>
          <a:xfrm>
            <a:off x="6537960" y="2743200"/>
            <a:ext cx="4773168" cy="2487168"/>
          </a:xfrm>
          <a:prstGeom prst="rect">
            <a:avLst/>
          </a:prstGeom>
          <a:noFill/>
          <a:ln/>
        </p:spPr>
        <p:txBody>
          <a:bodyPr wrap="square" lIns="0" tIns="0" rIns="0" bIns="0" rtlCol="0" anchor="ctr"/>
          <a:lstStyle/>
          <a:p>
            <a:pPr marL="342900" indent="-342900">
              <a:lnSpc>
                <a:spcPct val="108000"/>
              </a:lnSpc>
              <a:spcAft>
                <a:spcPts val="600"/>
              </a:spcAft>
              <a:buSzPct val="100000"/>
              <a:buChar char="•"/>
            </a:pPr>
            <a:r>
              <a:rPr lang="en-US" sz="1200" dirty="0">
                <a:solidFill>
                  <a:srgbClr val="1C1E21"/>
                </a:solidFill>
                <a:latin typeface="Calibri" pitchFamily="34" charset="0"/>
                <a:ea typeface="Calibri" pitchFamily="34" charset="-122"/>
                <a:cs typeface="Calibri" pitchFamily="34" charset="-120"/>
              </a:rPr>
              <a:t>Two scoring defects found in review — a donor with no HLA typing is reported as incompatible rather than unassessable; fixes are specified</a:t>
            </a:r>
            <a:endParaRPr lang="en-US" sz="1200" dirty="0"/>
          </a:p>
          <a:p>
            <a:pPr marL="342900" indent="-342900">
              <a:lnSpc>
                <a:spcPct val="108000"/>
              </a:lnSpc>
              <a:spcAft>
                <a:spcPts val="600"/>
              </a:spcAft>
              <a:buSzPct val="100000"/>
              <a:buChar char="•"/>
            </a:pPr>
            <a:r>
              <a:rPr lang="en-US" sz="1200" dirty="0">
                <a:solidFill>
                  <a:srgbClr val="1C1E21"/>
                </a:solidFill>
                <a:latin typeface="Calibri" pitchFamily="34" charset="0"/>
                <a:ea typeface="Calibri" pitchFamily="34" charset="-122"/>
                <a:cs typeface="Calibri" pitchFamily="34" charset="-120"/>
              </a:rPr>
              <a:t>LKDPI is built but not yet producing numbers — four fields need collecting first</a:t>
            </a:r>
            <a:endParaRPr lang="en-US" sz="1200" dirty="0"/>
          </a:p>
          <a:p>
            <a:pPr marL="342900" indent="-342900">
              <a:lnSpc>
                <a:spcPct val="108000"/>
              </a:lnSpc>
              <a:spcAft>
                <a:spcPts val="600"/>
              </a:spcAft>
              <a:buSzPct val="100000"/>
              <a:buChar char="•"/>
            </a:pPr>
            <a:r>
              <a:rPr lang="en-US" sz="1200" dirty="0">
                <a:solidFill>
                  <a:srgbClr val="1C1E21"/>
                </a:solidFill>
                <a:latin typeface="Calibri" pitchFamily="34" charset="0"/>
                <a:ea typeface="Calibri" pitchFamily="34" charset="-122"/>
                <a:cs typeface="Calibri" pitchFamily="34" charset="-120"/>
              </a:rPr>
              <a:t>Deployment packaging: web-app container, database service, HTTPS</a:t>
            </a:r>
            <a:endParaRPr lang="en-US" sz="1200" dirty="0"/>
          </a:p>
          <a:p>
            <a:pPr marL="342900" indent="-342900">
              <a:lnSpc>
                <a:spcPct val="108000"/>
              </a:lnSpc>
              <a:spcAft>
                <a:spcPts val="600"/>
              </a:spcAft>
              <a:buSzPct val="100000"/>
              <a:buChar char="•"/>
            </a:pPr>
            <a:r>
              <a:rPr lang="en-US" sz="1200" dirty="0">
                <a:solidFill>
                  <a:srgbClr val="1C1E21"/>
                </a:solidFill>
                <a:latin typeface="Calibri" pitchFamily="34" charset="0"/>
                <a:ea typeface="Calibri" pitchFamily="34" charset="-122"/>
                <a:cs typeface="Calibri" pitchFamily="34" charset="-120"/>
              </a:rPr>
              <a:t>Clinical sign-off on the boundaries the project chose for itself</a:t>
            </a:r>
            <a:endParaRPr lang="en-US" sz="1200" dirty="0"/>
          </a:p>
        </p:txBody>
      </p:sp>
      <p:sp>
        <p:nvSpPr>
          <p:cNvPr id="15" name="Text 13"/>
          <p:cNvSpPr/>
          <p:nvPr/>
        </p:nvSpPr>
        <p:spPr>
          <a:xfrm>
            <a:off x="566928" y="6272784"/>
            <a:ext cx="11055096" cy="310896"/>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None of the outstanding items is a redesign. All four are scoped, and the two scoring defects have written fixes waiting.</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DEPLOYMENT</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Five containers on one rented server</a:t>
            </a:r>
            <a:endParaRPr lang="en-US" sz="3000" dirty="0"/>
          </a:p>
        </p:txBody>
      </p:sp>
      <p:sp>
        <p:nvSpPr>
          <p:cNvPr id="4" name="Text 2"/>
          <p:cNvSpPr/>
          <p:nvPr/>
        </p:nvSpPr>
        <p:spPr>
          <a:xfrm>
            <a:off x="566928" y="1225296"/>
            <a:ext cx="10689336" cy="402336"/>
          </a:xfrm>
          <a:prstGeom prst="rect">
            <a:avLst/>
          </a:prstGeom>
          <a:noFill/>
          <a:ln/>
        </p:spPr>
        <p:txBody>
          <a:bodyPr wrap="square" lIns="0" tIns="0" rIns="0" bIns="0" rtlCol="0" anchor="ctr"/>
          <a:lstStyle/>
          <a:p>
            <a:pPr indent="0" marL="0">
              <a:lnSpc>
                <a:spcPct val="112000"/>
              </a:lnSpc>
              <a:buNone/>
            </a:pPr>
            <a:r>
              <a:rPr lang="en-US" sz="1350" dirty="0">
                <a:solidFill>
                  <a:srgbClr val="6B7280"/>
                </a:solidFill>
                <a:latin typeface="Calibri" pitchFamily="34" charset="0"/>
                <a:ea typeface="Calibri" pitchFamily="34" charset="-122"/>
                <a:cs typeface="Calibri" pitchFamily="34" charset="-120"/>
              </a:rPr>
              <a:t>Everything ships as Docker containers, so the same stack runs identically on a laptop, a rented server, or a machine inside the hospital later on.</a:t>
            </a:r>
            <a:endParaRPr lang="en-US" sz="1350" dirty="0"/>
          </a:p>
        </p:txBody>
      </p:sp>
      <p:sp>
        <p:nvSpPr>
          <p:cNvPr id="5" name="Shape 3"/>
          <p:cNvSpPr/>
          <p:nvPr/>
        </p:nvSpPr>
        <p:spPr>
          <a:xfrm>
            <a:off x="566928" y="2450592"/>
            <a:ext cx="2084832" cy="1810512"/>
          </a:xfrm>
          <a:prstGeom prst="roundRect">
            <a:avLst>
              <a:gd name="adj" fmla="val 4545"/>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6" name="Text 4"/>
          <p:cNvSpPr/>
          <p:nvPr/>
        </p:nvSpPr>
        <p:spPr>
          <a:xfrm>
            <a:off x="749808" y="2615184"/>
            <a:ext cx="1719072" cy="548640"/>
          </a:xfrm>
          <a:prstGeom prst="rect">
            <a:avLst/>
          </a:prstGeom>
          <a:noFill/>
          <a:ln/>
        </p:spPr>
        <p:txBody>
          <a:bodyPr wrap="square" lIns="0" tIns="0" rIns="0" bIns="0" rtlCol="0" anchor="ctr"/>
          <a:lstStyle/>
          <a:p>
            <a:pPr indent="0" marL="0">
              <a:lnSpc>
                <a:spcPct val="98000"/>
              </a:lnSpc>
              <a:buNone/>
            </a:pPr>
            <a:r>
              <a:rPr lang="en-US" sz="1500" b="1" dirty="0">
                <a:solidFill>
                  <a:srgbClr val="0C6A73"/>
                </a:solidFill>
                <a:latin typeface="Cambria" pitchFamily="34" charset="0"/>
                <a:ea typeface="Cambria" pitchFamily="34" charset="-122"/>
                <a:cs typeface="Cambria" pitchFamily="34" charset="-120"/>
              </a:rPr>
              <a:t>Web app</a:t>
            </a:r>
            <a:endParaRPr lang="en-US" sz="1500" dirty="0"/>
          </a:p>
        </p:txBody>
      </p:sp>
      <p:sp>
        <p:nvSpPr>
          <p:cNvPr id="7" name="Text 5"/>
          <p:cNvSpPr/>
          <p:nvPr/>
        </p:nvSpPr>
        <p:spPr>
          <a:xfrm>
            <a:off x="749808" y="3182112"/>
            <a:ext cx="1719072" cy="658368"/>
          </a:xfrm>
          <a:prstGeom prst="rect">
            <a:avLst/>
          </a:prstGeom>
          <a:noFill/>
          <a:ln/>
        </p:spPr>
        <p:txBody>
          <a:bodyPr wrap="square" lIns="0" tIns="0" rIns="0" bIns="0" rtlCol="0" anchor="ctr"/>
          <a:lstStyle/>
          <a:p>
            <a:pPr indent="0" marL="0">
              <a:lnSpc>
                <a:spcPct val="110000"/>
              </a:lnSpc>
              <a:buNone/>
            </a:pPr>
            <a:r>
              <a:rPr lang="en-US" sz="1100" dirty="0">
                <a:solidFill>
                  <a:srgbClr val="6B7280"/>
                </a:solidFill>
                <a:latin typeface="Calibri" pitchFamily="34" charset="0"/>
                <a:ea typeface="Calibri" pitchFamily="34" charset="-122"/>
                <a:cs typeface="Calibri" pitchFamily="34" charset="-120"/>
              </a:rPr>
              <a:t>What the doctor sees</a:t>
            </a:r>
            <a:endParaRPr lang="en-US" sz="1100" dirty="0"/>
          </a:p>
        </p:txBody>
      </p:sp>
      <p:sp>
        <p:nvSpPr>
          <p:cNvPr id="8" name="Text 6"/>
          <p:cNvSpPr/>
          <p:nvPr/>
        </p:nvSpPr>
        <p:spPr>
          <a:xfrm>
            <a:off x="749808" y="3895344"/>
            <a:ext cx="1719072" cy="237744"/>
          </a:xfrm>
          <a:prstGeom prst="rect">
            <a:avLst/>
          </a:prstGeom>
          <a:noFill/>
          <a:ln/>
        </p:spPr>
        <p:txBody>
          <a:bodyPr wrap="square" lIns="0" tIns="0" rIns="0" bIns="0" rtlCol="0" anchor="ctr"/>
          <a:lstStyle/>
          <a:p>
            <a:pPr indent="0" marL="0">
              <a:buNone/>
            </a:pPr>
            <a:r>
              <a:rPr lang="en-US" sz="950" b="1" spc="80" kern="0" dirty="0">
                <a:solidFill>
                  <a:srgbClr val="0C6A73"/>
                </a:solidFill>
                <a:latin typeface="Calibri" pitchFamily="34" charset="0"/>
                <a:ea typeface="Calibri" pitchFamily="34" charset="-122"/>
                <a:cs typeface="Calibri" pitchFamily="34" charset="-120"/>
              </a:rPr>
              <a:t>React</a:t>
            </a:r>
            <a:endParaRPr lang="en-US" sz="950" dirty="0"/>
          </a:p>
        </p:txBody>
      </p:sp>
      <p:sp>
        <p:nvSpPr>
          <p:cNvPr id="9" name="Shape 7"/>
          <p:cNvSpPr/>
          <p:nvPr/>
        </p:nvSpPr>
        <p:spPr>
          <a:xfrm>
            <a:off x="2820924" y="2450592"/>
            <a:ext cx="2084832" cy="1810512"/>
          </a:xfrm>
          <a:prstGeom prst="roundRect">
            <a:avLst>
              <a:gd name="adj" fmla="val 4545"/>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0" name="Text 8"/>
          <p:cNvSpPr/>
          <p:nvPr/>
        </p:nvSpPr>
        <p:spPr>
          <a:xfrm>
            <a:off x="3003804" y="2615184"/>
            <a:ext cx="1719072" cy="548640"/>
          </a:xfrm>
          <a:prstGeom prst="rect">
            <a:avLst/>
          </a:prstGeom>
          <a:noFill/>
          <a:ln/>
        </p:spPr>
        <p:txBody>
          <a:bodyPr wrap="square" lIns="0" tIns="0" rIns="0" bIns="0" rtlCol="0" anchor="ctr"/>
          <a:lstStyle/>
          <a:p>
            <a:pPr indent="0" marL="0">
              <a:lnSpc>
                <a:spcPct val="98000"/>
              </a:lnSpc>
              <a:buNone/>
            </a:pPr>
            <a:r>
              <a:rPr lang="en-US" sz="1500" b="1" dirty="0">
                <a:solidFill>
                  <a:srgbClr val="0C6A73"/>
                </a:solidFill>
                <a:latin typeface="Cambria" pitchFamily="34" charset="0"/>
                <a:ea typeface="Cambria" pitchFamily="34" charset="-122"/>
                <a:cs typeface="Cambria" pitchFamily="34" charset="-120"/>
              </a:rPr>
              <a:t>Clinical engine</a:t>
            </a:r>
            <a:endParaRPr lang="en-US" sz="1500" dirty="0"/>
          </a:p>
        </p:txBody>
      </p:sp>
      <p:sp>
        <p:nvSpPr>
          <p:cNvPr id="11" name="Text 9"/>
          <p:cNvSpPr/>
          <p:nvPr/>
        </p:nvSpPr>
        <p:spPr>
          <a:xfrm>
            <a:off x="3003804" y="3182112"/>
            <a:ext cx="1719072" cy="658368"/>
          </a:xfrm>
          <a:prstGeom prst="rect">
            <a:avLst/>
          </a:prstGeom>
          <a:noFill/>
          <a:ln/>
        </p:spPr>
        <p:txBody>
          <a:bodyPr wrap="square" lIns="0" tIns="0" rIns="0" bIns="0" rtlCol="0" anchor="ctr"/>
          <a:lstStyle/>
          <a:p>
            <a:pPr indent="0" marL="0">
              <a:lnSpc>
                <a:spcPct val="110000"/>
              </a:lnSpc>
              <a:buNone/>
            </a:pPr>
            <a:r>
              <a:rPr lang="en-US" sz="1100" dirty="0">
                <a:solidFill>
                  <a:srgbClr val="6B7280"/>
                </a:solidFill>
                <a:latin typeface="Calibri" pitchFamily="34" charset="0"/>
                <a:ea typeface="Calibri" pitchFamily="34" charset="-122"/>
                <a:cs typeface="Calibri" pitchFamily="34" charset="-120"/>
              </a:rPr>
              <a:t>The seven-step check and every score</a:t>
            </a:r>
            <a:endParaRPr lang="en-US" sz="1100" dirty="0"/>
          </a:p>
        </p:txBody>
      </p:sp>
      <p:sp>
        <p:nvSpPr>
          <p:cNvPr id="12" name="Text 10"/>
          <p:cNvSpPr/>
          <p:nvPr/>
        </p:nvSpPr>
        <p:spPr>
          <a:xfrm>
            <a:off x="3003804" y="3895344"/>
            <a:ext cx="1719072" cy="237744"/>
          </a:xfrm>
          <a:prstGeom prst="rect">
            <a:avLst/>
          </a:prstGeom>
          <a:noFill/>
          <a:ln/>
        </p:spPr>
        <p:txBody>
          <a:bodyPr wrap="square" lIns="0" tIns="0" rIns="0" bIns="0" rtlCol="0" anchor="ctr"/>
          <a:lstStyle/>
          <a:p>
            <a:pPr indent="0" marL="0">
              <a:buNone/>
            </a:pPr>
            <a:r>
              <a:rPr lang="en-US" sz="950" b="1" spc="80" kern="0" dirty="0">
                <a:solidFill>
                  <a:srgbClr val="0C6A73"/>
                </a:solidFill>
                <a:latin typeface="Calibri" pitchFamily="34" charset="0"/>
                <a:ea typeface="Calibri" pitchFamily="34" charset="-122"/>
                <a:cs typeface="Calibri" pitchFamily="34" charset="-120"/>
              </a:rPr>
              <a:t>FastAPI</a:t>
            </a:r>
            <a:endParaRPr lang="en-US" sz="950" dirty="0"/>
          </a:p>
        </p:txBody>
      </p:sp>
      <p:sp>
        <p:nvSpPr>
          <p:cNvPr id="13" name="Shape 11"/>
          <p:cNvSpPr/>
          <p:nvPr/>
        </p:nvSpPr>
        <p:spPr>
          <a:xfrm>
            <a:off x="5074920" y="2450592"/>
            <a:ext cx="2084832" cy="1810512"/>
          </a:xfrm>
          <a:prstGeom prst="roundRect">
            <a:avLst>
              <a:gd name="adj" fmla="val 4545"/>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4" name="Text 12"/>
          <p:cNvSpPr/>
          <p:nvPr/>
        </p:nvSpPr>
        <p:spPr>
          <a:xfrm>
            <a:off x="5257800" y="2615184"/>
            <a:ext cx="1719072" cy="548640"/>
          </a:xfrm>
          <a:prstGeom prst="rect">
            <a:avLst/>
          </a:prstGeom>
          <a:noFill/>
          <a:ln/>
        </p:spPr>
        <p:txBody>
          <a:bodyPr wrap="square" lIns="0" tIns="0" rIns="0" bIns="0" rtlCol="0" anchor="ctr"/>
          <a:lstStyle/>
          <a:p>
            <a:pPr indent="0" marL="0">
              <a:lnSpc>
                <a:spcPct val="98000"/>
              </a:lnSpc>
              <a:buNone/>
            </a:pPr>
            <a:r>
              <a:rPr lang="en-US" sz="1500" b="1" dirty="0">
                <a:solidFill>
                  <a:srgbClr val="0C6A73"/>
                </a:solidFill>
                <a:latin typeface="Cambria" pitchFamily="34" charset="0"/>
                <a:ea typeface="Cambria" pitchFamily="34" charset="-122"/>
                <a:cs typeface="Cambria" pitchFamily="34" charset="-120"/>
              </a:rPr>
              <a:t>Database</a:t>
            </a:r>
            <a:endParaRPr lang="en-US" sz="1500" dirty="0"/>
          </a:p>
        </p:txBody>
      </p:sp>
      <p:sp>
        <p:nvSpPr>
          <p:cNvPr id="15" name="Text 13"/>
          <p:cNvSpPr/>
          <p:nvPr/>
        </p:nvSpPr>
        <p:spPr>
          <a:xfrm>
            <a:off x="5257800" y="3182112"/>
            <a:ext cx="1719072" cy="658368"/>
          </a:xfrm>
          <a:prstGeom prst="rect">
            <a:avLst/>
          </a:prstGeom>
          <a:noFill/>
          <a:ln/>
        </p:spPr>
        <p:txBody>
          <a:bodyPr wrap="square" lIns="0" tIns="0" rIns="0" bIns="0" rtlCol="0" anchor="ctr"/>
          <a:lstStyle/>
          <a:p>
            <a:pPr indent="0" marL="0">
              <a:lnSpc>
                <a:spcPct val="110000"/>
              </a:lnSpc>
              <a:buNone/>
            </a:pPr>
            <a:r>
              <a:rPr lang="en-US" sz="1100" dirty="0">
                <a:solidFill>
                  <a:srgbClr val="6B7280"/>
                </a:solidFill>
                <a:latin typeface="Calibri" pitchFamily="34" charset="0"/>
                <a:ea typeface="Calibri" pitchFamily="34" charset="-122"/>
                <a:cs typeface="Calibri" pitchFamily="34" charset="-120"/>
              </a:rPr>
              <a:t>Records, reports, audit log</a:t>
            </a:r>
            <a:endParaRPr lang="en-US" sz="1100" dirty="0"/>
          </a:p>
        </p:txBody>
      </p:sp>
      <p:sp>
        <p:nvSpPr>
          <p:cNvPr id="16" name="Text 14"/>
          <p:cNvSpPr/>
          <p:nvPr/>
        </p:nvSpPr>
        <p:spPr>
          <a:xfrm>
            <a:off x="5257800" y="3895344"/>
            <a:ext cx="1719072" cy="237744"/>
          </a:xfrm>
          <a:prstGeom prst="rect">
            <a:avLst/>
          </a:prstGeom>
          <a:noFill/>
          <a:ln/>
        </p:spPr>
        <p:txBody>
          <a:bodyPr wrap="square" lIns="0" tIns="0" rIns="0" bIns="0" rtlCol="0" anchor="ctr"/>
          <a:lstStyle/>
          <a:p>
            <a:pPr indent="0" marL="0">
              <a:buNone/>
            </a:pPr>
            <a:r>
              <a:rPr lang="en-US" sz="950" b="1" spc="80" kern="0" dirty="0">
                <a:solidFill>
                  <a:srgbClr val="0C6A73"/>
                </a:solidFill>
                <a:latin typeface="Calibri" pitchFamily="34" charset="0"/>
                <a:ea typeface="Calibri" pitchFamily="34" charset="-122"/>
                <a:cs typeface="Calibri" pitchFamily="34" charset="-120"/>
              </a:rPr>
              <a:t>PostgreSQL</a:t>
            </a:r>
            <a:endParaRPr lang="en-US" sz="950" dirty="0"/>
          </a:p>
        </p:txBody>
      </p:sp>
      <p:sp>
        <p:nvSpPr>
          <p:cNvPr id="17" name="Shape 15"/>
          <p:cNvSpPr/>
          <p:nvPr/>
        </p:nvSpPr>
        <p:spPr>
          <a:xfrm>
            <a:off x="7328916" y="2450592"/>
            <a:ext cx="2084832" cy="1810512"/>
          </a:xfrm>
          <a:prstGeom prst="roundRect">
            <a:avLst>
              <a:gd name="adj" fmla="val 4545"/>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8" name="Text 16"/>
          <p:cNvSpPr/>
          <p:nvPr/>
        </p:nvSpPr>
        <p:spPr>
          <a:xfrm>
            <a:off x="7511796" y="2615184"/>
            <a:ext cx="1719072" cy="548640"/>
          </a:xfrm>
          <a:prstGeom prst="rect">
            <a:avLst/>
          </a:prstGeom>
          <a:noFill/>
          <a:ln/>
        </p:spPr>
        <p:txBody>
          <a:bodyPr wrap="square" lIns="0" tIns="0" rIns="0" bIns="0" rtlCol="0" anchor="ctr"/>
          <a:lstStyle/>
          <a:p>
            <a:pPr indent="0" marL="0">
              <a:lnSpc>
                <a:spcPct val="98000"/>
              </a:lnSpc>
              <a:buNone/>
            </a:pPr>
            <a:r>
              <a:rPr lang="en-US" sz="1500" b="1" dirty="0">
                <a:solidFill>
                  <a:srgbClr val="10A99C"/>
                </a:solidFill>
                <a:latin typeface="Cambria" pitchFamily="34" charset="0"/>
                <a:ea typeface="Cambria" pitchFamily="34" charset="-122"/>
                <a:cs typeface="Cambria" pitchFamily="34" charset="-120"/>
              </a:rPr>
              <a:t>Document reader</a:t>
            </a:r>
            <a:endParaRPr lang="en-US" sz="1500" dirty="0"/>
          </a:p>
        </p:txBody>
      </p:sp>
      <p:sp>
        <p:nvSpPr>
          <p:cNvPr id="19" name="Text 17"/>
          <p:cNvSpPr/>
          <p:nvPr/>
        </p:nvSpPr>
        <p:spPr>
          <a:xfrm>
            <a:off x="7511796" y="3182112"/>
            <a:ext cx="1719072" cy="658368"/>
          </a:xfrm>
          <a:prstGeom prst="rect">
            <a:avLst/>
          </a:prstGeom>
          <a:noFill/>
          <a:ln/>
        </p:spPr>
        <p:txBody>
          <a:bodyPr wrap="square" lIns="0" tIns="0" rIns="0" bIns="0" rtlCol="0" anchor="ctr"/>
          <a:lstStyle/>
          <a:p>
            <a:pPr indent="0" marL="0">
              <a:lnSpc>
                <a:spcPct val="110000"/>
              </a:lnSpc>
              <a:buNone/>
            </a:pPr>
            <a:r>
              <a:rPr lang="en-US" sz="1100" dirty="0">
                <a:solidFill>
                  <a:srgbClr val="6B7280"/>
                </a:solidFill>
                <a:latin typeface="Calibri" pitchFamily="34" charset="0"/>
                <a:ea typeface="Calibri" pitchFamily="34" charset="-122"/>
                <a:cs typeface="Calibri" pitchFamily="34" charset="-120"/>
              </a:rPr>
              <a:t>Turns photographs into values</a:t>
            </a:r>
            <a:endParaRPr lang="en-US" sz="1100" dirty="0"/>
          </a:p>
        </p:txBody>
      </p:sp>
      <p:sp>
        <p:nvSpPr>
          <p:cNvPr id="20" name="Text 18"/>
          <p:cNvSpPr/>
          <p:nvPr/>
        </p:nvSpPr>
        <p:spPr>
          <a:xfrm>
            <a:off x="7511796" y="3895344"/>
            <a:ext cx="1719072" cy="237744"/>
          </a:xfrm>
          <a:prstGeom prst="rect">
            <a:avLst/>
          </a:prstGeom>
          <a:noFill/>
          <a:ln/>
        </p:spPr>
        <p:txBody>
          <a:bodyPr wrap="square" lIns="0" tIns="0" rIns="0" bIns="0" rtlCol="0" anchor="ctr"/>
          <a:lstStyle/>
          <a:p>
            <a:pPr indent="0" marL="0">
              <a:buNone/>
            </a:pPr>
            <a:r>
              <a:rPr lang="en-US" sz="950" b="1" spc="80" kern="0" dirty="0">
                <a:solidFill>
                  <a:srgbClr val="10A99C"/>
                </a:solidFill>
                <a:latin typeface="Calibri" pitchFamily="34" charset="0"/>
                <a:ea typeface="Calibri" pitchFamily="34" charset="-122"/>
                <a:cs typeface="Calibri" pitchFamily="34" charset="-120"/>
              </a:rPr>
              <a:t>Python</a:t>
            </a:r>
            <a:endParaRPr lang="en-US" sz="950" dirty="0"/>
          </a:p>
        </p:txBody>
      </p:sp>
      <p:sp>
        <p:nvSpPr>
          <p:cNvPr id="21" name="Shape 19"/>
          <p:cNvSpPr/>
          <p:nvPr/>
        </p:nvSpPr>
        <p:spPr>
          <a:xfrm>
            <a:off x="9582912" y="2450592"/>
            <a:ext cx="2084832" cy="1810512"/>
          </a:xfrm>
          <a:prstGeom prst="roundRect">
            <a:avLst>
              <a:gd name="adj" fmla="val 4545"/>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22" name="Text 20"/>
          <p:cNvSpPr/>
          <p:nvPr/>
        </p:nvSpPr>
        <p:spPr>
          <a:xfrm>
            <a:off x="9765792" y="2615184"/>
            <a:ext cx="1719072" cy="548640"/>
          </a:xfrm>
          <a:prstGeom prst="rect">
            <a:avLst/>
          </a:prstGeom>
          <a:noFill/>
          <a:ln/>
        </p:spPr>
        <p:txBody>
          <a:bodyPr wrap="square" lIns="0" tIns="0" rIns="0" bIns="0" rtlCol="0" anchor="ctr"/>
          <a:lstStyle/>
          <a:p>
            <a:pPr indent="0" marL="0">
              <a:lnSpc>
                <a:spcPct val="98000"/>
              </a:lnSpc>
              <a:buNone/>
            </a:pPr>
            <a:r>
              <a:rPr lang="en-US" sz="1500" b="1" dirty="0">
                <a:solidFill>
                  <a:srgbClr val="10A99C"/>
                </a:solidFill>
                <a:latin typeface="Cambria" pitchFamily="34" charset="0"/>
                <a:ea typeface="Cambria" pitchFamily="34" charset="-122"/>
                <a:cs typeface="Cambria" pitchFamily="34" charset="-120"/>
              </a:rPr>
              <a:t>Vision model</a:t>
            </a:r>
            <a:endParaRPr lang="en-US" sz="1500" dirty="0"/>
          </a:p>
        </p:txBody>
      </p:sp>
      <p:sp>
        <p:nvSpPr>
          <p:cNvPr id="23" name="Text 21"/>
          <p:cNvSpPr/>
          <p:nvPr/>
        </p:nvSpPr>
        <p:spPr>
          <a:xfrm>
            <a:off x="9765792" y="3182112"/>
            <a:ext cx="1719072" cy="658368"/>
          </a:xfrm>
          <a:prstGeom prst="rect">
            <a:avLst/>
          </a:prstGeom>
          <a:noFill/>
          <a:ln/>
        </p:spPr>
        <p:txBody>
          <a:bodyPr wrap="square" lIns="0" tIns="0" rIns="0" bIns="0" rtlCol="0" anchor="ctr"/>
          <a:lstStyle/>
          <a:p>
            <a:pPr indent="0" marL="0">
              <a:lnSpc>
                <a:spcPct val="110000"/>
              </a:lnSpc>
              <a:buNone/>
            </a:pPr>
            <a:r>
              <a:rPr lang="en-US" sz="1100" dirty="0">
                <a:solidFill>
                  <a:srgbClr val="6B7280"/>
                </a:solidFill>
                <a:latin typeface="Calibri" pitchFamily="34" charset="0"/>
                <a:ea typeface="Calibri" pitchFamily="34" charset="-122"/>
                <a:cs typeface="Calibri" pitchFamily="34" charset="-120"/>
              </a:rPr>
              <a:t>Reads the lab reports — needs a GPU</a:t>
            </a:r>
            <a:endParaRPr lang="en-US" sz="1100" dirty="0"/>
          </a:p>
        </p:txBody>
      </p:sp>
      <p:sp>
        <p:nvSpPr>
          <p:cNvPr id="24" name="Text 22"/>
          <p:cNvSpPr/>
          <p:nvPr/>
        </p:nvSpPr>
        <p:spPr>
          <a:xfrm>
            <a:off x="9765792" y="3895344"/>
            <a:ext cx="1719072" cy="237744"/>
          </a:xfrm>
          <a:prstGeom prst="rect">
            <a:avLst/>
          </a:prstGeom>
          <a:noFill/>
          <a:ln/>
        </p:spPr>
        <p:txBody>
          <a:bodyPr wrap="square" lIns="0" tIns="0" rIns="0" bIns="0" rtlCol="0" anchor="ctr"/>
          <a:lstStyle/>
          <a:p>
            <a:pPr indent="0" marL="0">
              <a:buNone/>
            </a:pPr>
            <a:r>
              <a:rPr lang="en-US" sz="950" b="1" spc="80" kern="0" dirty="0">
                <a:solidFill>
                  <a:srgbClr val="10A99C"/>
                </a:solidFill>
                <a:latin typeface="Calibri" pitchFamily="34" charset="0"/>
                <a:ea typeface="Calibri" pitchFamily="34" charset="-122"/>
                <a:cs typeface="Calibri" pitchFamily="34" charset="-120"/>
              </a:rPr>
              <a:t>Ollama + Qwen</a:t>
            </a:r>
            <a:endParaRPr lang="en-US" sz="950" dirty="0"/>
          </a:p>
        </p:txBody>
      </p:sp>
      <p:sp>
        <p:nvSpPr>
          <p:cNvPr id="25" name="Text 23"/>
          <p:cNvSpPr/>
          <p:nvPr/>
        </p:nvSpPr>
        <p:spPr>
          <a:xfrm>
            <a:off x="566928" y="4370832"/>
            <a:ext cx="6675120" cy="256032"/>
          </a:xfrm>
          <a:prstGeom prst="rect">
            <a:avLst/>
          </a:prstGeom>
          <a:noFill/>
          <a:ln/>
        </p:spPr>
        <p:txBody>
          <a:bodyPr wrap="square" lIns="0" tIns="0" rIns="0" bIns="0" rtlCol="0" anchor="ctr"/>
          <a:lstStyle/>
          <a:p>
            <a:pPr algn="ctr" indent="0" marL="0">
              <a:buNone/>
            </a:pPr>
            <a:r>
              <a:rPr lang="en-US" sz="1150" b="1" dirty="0">
                <a:solidFill>
                  <a:srgbClr val="0C6A73"/>
                </a:solidFill>
                <a:latin typeface="Calibri" pitchFamily="34" charset="0"/>
                <a:ea typeface="Calibri" pitchFamily="34" charset="-122"/>
                <a:cs typeface="Calibri" pitchFamily="34" charset="-120"/>
              </a:rPr>
              <a:t>Always on — small, cheap server</a:t>
            </a:r>
            <a:endParaRPr lang="en-US" sz="1150" dirty="0"/>
          </a:p>
        </p:txBody>
      </p:sp>
      <p:sp>
        <p:nvSpPr>
          <p:cNvPr id="26" name="Text 24"/>
          <p:cNvSpPr/>
          <p:nvPr/>
        </p:nvSpPr>
        <p:spPr>
          <a:xfrm>
            <a:off x="7351776" y="4370832"/>
            <a:ext cx="4270248" cy="256032"/>
          </a:xfrm>
          <a:prstGeom prst="rect">
            <a:avLst/>
          </a:prstGeom>
          <a:noFill/>
          <a:ln/>
        </p:spPr>
        <p:txBody>
          <a:bodyPr wrap="square" lIns="0" tIns="0" rIns="0" bIns="0" rtlCol="0" anchor="ctr"/>
          <a:lstStyle/>
          <a:p>
            <a:pPr algn="ctr" indent="0" marL="0">
              <a:buNone/>
            </a:pPr>
            <a:r>
              <a:rPr lang="en-US" sz="1150" b="1" dirty="0">
                <a:solidFill>
                  <a:srgbClr val="10A99C"/>
                </a:solidFill>
                <a:latin typeface="Calibri" pitchFamily="34" charset="0"/>
                <a:ea typeface="Calibri" pitchFamily="34" charset="-122"/>
                <a:cs typeface="Calibri" pitchFamily="34" charset="-120"/>
              </a:rPr>
              <a:t>On only while reading a document — GPU</a:t>
            </a:r>
            <a:endParaRPr lang="en-US" sz="1150" dirty="0"/>
          </a:p>
        </p:txBody>
      </p:sp>
      <p:sp>
        <p:nvSpPr>
          <p:cNvPr id="27" name="Shape 25"/>
          <p:cNvSpPr/>
          <p:nvPr/>
        </p:nvSpPr>
        <p:spPr>
          <a:xfrm>
            <a:off x="566928" y="4864608"/>
            <a:ext cx="11055096" cy="969264"/>
          </a:xfrm>
          <a:prstGeom prst="roundRect">
            <a:avLst>
              <a:gd name="adj" fmla="val 7547"/>
            </a:avLst>
          </a:prstGeom>
          <a:solidFill>
            <a:srgbClr val="E8F4F3"/>
          </a:solidFill>
          <a:ln w="11430">
            <a:solidFill>
              <a:srgbClr val="0C6A73"/>
            </a:solidFill>
            <a:prstDash val="solid"/>
          </a:ln>
        </p:spPr>
      </p:sp>
      <p:sp>
        <p:nvSpPr>
          <p:cNvPr id="28" name="Text 26"/>
          <p:cNvSpPr/>
          <p:nvPr/>
        </p:nvSpPr>
        <p:spPr>
          <a:xfrm>
            <a:off x="768096" y="4919472"/>
            <a:ext cx="10652760" cy="859536"/>
          </a:xfrm>
          <a:prstGeom prst="rect">
            <a:avLst/>
          </a:prstGeom>
          <a:noFill/>
          <a:ln/>
        </p:spPr>
        <p:txBody>
          <a:bodyPr wrap="square" lIns="0" tIns="0" rIns="0" bIns="0" rtlCol="0" anchor="ctr"/>
          <a:lstStyle/>
          <a:p>
            <a:pPr indent="0" marL="0">
              <a:lnSpc>
                <a:spcPct val="108000"/>
              </a:lnSpc>
              <a:buNone/>
            </a:pPr>
            <a:r>
              <a:rPr lang="en-US" sz="1150" dirty="0">
                <a:solidFill>
                  <a:srgbClr val="0C6A73"/>
                </a:solidFill>
                <a:latin typeface="Calibri" pitchFamily="34" charset="0"/>
                <a:ea typeface="Calibri" pitchFamily="34" charset="-122"/>
                <a:cs typeface="Calibri" pitchFamily="34" charset="-120"/>
              </a:rPr>
              <a:t>The split matters for cost. The first three containers are light enough to run on a server costing a few thousand rupees a month. Only the vision model needs an expensive graphics card, and it is needed for a few minutes per document — not around the clock. Keeping it separate is what makes the next slide affordable.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9"/>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100" b="1" spc="160" kern="0" dirty="0">
                <a:solidFill>
                  <a:srgbClr val="10A99C"/>
                </a:solidFill>
                <a:latin typeface="Calibri" pitchFamily="34" charset="0"/>
                <a:ea typeface="Calibri" pitchFamily="34" charset="-122"/>
                <a:cs typeface="Calibri" pitchFamily="34" charset="-120"/>
              </a:rPr>
              <a:t>RUNNING COSTS</a:t>
            </a:r>
            <a:endParaRPr lang="en-US" sz="1100" dirty="0"/>
          </a:p>
        </p:txBody>
      </p:sp>
      <p:sp>
        <p:nvSpPr>
          <p:cNvPr id="3" name="Text 1"/>
          <p:cNvSpPr/>
          <p:nvPr/>
        </p:nvSpPr>
        <p:spPr>
          <a:xfrm>
            <a:off x="566928" y="658368"/>
            <a:ext cx="11055096" cy="475488"/>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What a single-hospital pilot costs per month</a:t>
            </a:r>
            <a:endParaRPr lang="en-US" sz="3000" dirty="0"/>
          </a:p>
        </p:txBody>
      </p:sp>
      <p:sp>
        <p:nvSpPr>
          <p:cNvPr id="4" name="Text 2"/>
          <p:cNvSpPr/>
          <p:nvPr/>
        </p:nvSpPr>
        <p:spPr>
          <a:xfrm>
            <a:off x="566928" y="1225296"/>
            <a:ext cx="10689336" cy="402336"/>
          </a:xfrm>
          <a:prstGeom prst="rect">
            <a:avLst/>
          </a:prstGeom>
          <a:noFill/>
          <a:ln/>
        </p:spPr>
        <p:txBody>
          <a:bodyPr wrap="square" lIns="0" tIns="0" rIns="0" bIns="0" rtlCol="0" anchor="ctr"/>
          <a:lstStyle/>
          <a:p>
            <a:pPr indent="0" marL="0">
              <a:lnSpc>
                <a:spcPct val="112000"/>
              </a:lnSpc>
              <a:buNone/>
            </a:pPr>
            <a:r>
              <a:rPr lang="en-US" sz="1350" dirty="0">
                <a:solidFill>
                  <a:srgbClr val="6B7280"/>
                </a:solidFill>
                <a:latin typeface="Calibri" pitchFamily="34" charset="0"/>
                <a:ea typeface="Calibri" pitchFamily="34" charset="-122"/>
                <a:cs typeface="Calibri" pitchFamily="34" charset="-120"/>
              </a:rPr>
              <a:t>All figures are current published rates for a single-hospital pilot. Software licences are LKR 0 — every component is open source and the AI model is self-hosted, so there is no per-page or per-doctor charge.</a:t>
            </a:r>
            <a:endParaRPr lang="en-US" sz="1350" dirty="0"/>
          </a:p>
        </p:txBody>
      </p:sp>
      <p:sp>
        <p:nvSpPr>
          <p:cNvPr id="5" name="Text 3"/>
          <p:cNvSpPr/>
          <p:nvPr/>
        </p:nvSpPr>
        <p:spPr>
          <a:xfrm>
            <a:off x="786384" y="2212848"/>
            <a:ext cx="822960" cy="219456"/>
          </a:xfrm>
          <a:prstGeom prst="rect">
            <a:avLst/>
          </a:prstGeom>
          <a:noFill/>
          <a:ln/>
        </p:spPr>
        <p:txBody>
          <a:bodyPr wrap="square" lIns="0" tIns="0" rIns="0" bIns="0" rtlCol="0" anchor="ctr"/>
          <a:lstStyle/>
          <a:p>
            <a:pPr indent="0" marL="0">
              <a:buNone/>
            </a:pPr>
            <a:r>
              <a:rPr lang="en-US" sz="900" b="1" spc="110" kern="0" dirty="0">
                <a:solidFill>
                  <a:srgbClr val="6B7280"/>
                </a:solidFill>
                <a:latin typeface="Calibri" pitchFamily="34" charset="0"/>
                <a:ea typeface="Calibri" pitchFamily="34" charset="-122"/>
                <a:cs typeface="Calibri" pitchFamily="34" charset="-120"/>
              </a:rPr>
              <a:t>OPTION</a:t>
            </a:r>
            <a:endParaRPr lang="en-US" sz="900" dirty="0"/>
          </a:p>
        </p:txBody>
      </p:sp>
      <p:sp>
        <p:nvSpPr>
          <p:cNvPr id="6" name="Text 4"/>
          <p:cNvSpPr/>
          <p:nvPr/>
        </p:nvSpPr>
        <p:spPr>
          <a:xfrm>
            <a:off x="1618488" y="2212848"/>
            <a:ext cx="2377440" cy="219456"/>
          </a:xfrm>
          <a:prstGeom prst="rect">
            <a:avLst/>
          </a:prstGeom>
          <a:noFill/>
          <a:ln/>
        </p:spPr>
        <p:txBody>
          <a:bodyPr wrap="square" lIns="0" tIns="0" rIns="0" bIns="0" rtlCol="0" anchor="ctr"/>
          <a:lstStyle/>
          <a:p>
            <a:pPr indent="0" marL="0">
              <a:buNone/>
            </a:pPr>
            <a:r>
              <a:rPr lang="en-US" sz="900" b="1" spc="110" kern="0" dirty="0">
                <a:solidFill>
                  <a:srgbClr val="6B7280"/>
                </a:solidFill>
                <a:latin typeface="Calibri" pitchFamily="34" charset="0"/>
                <a:ea typeface="Calibri" pitchFamily="34" charset="-122"/>
                <a:cs typeface="Calibri" pitchFamily="34" charset="-120"/>
              </a:rPr>
              <a:t>WHAT YOU GET</a:t>
            </a:r>
            <a:endParaRPr lang="en-US" sz="900" dirty="0"/>
          </a:p>
        </p:txBody>
      </p:sp>
      <p:sp>
        <p:nvSpPr>
          <p:cNvPr id="7" name="Text 5"/>
          <p:cNvSpPr/>
          <p:nvPr/>
        </p:nvSpPr>
        <p:spPr>
          <a:xfrm>
            <a:off x="4087368" y="2212848"/>
            <a:ext cx="4754880" cy="219456"/>
          </a:xfrm>
          <a:prstGeom prst="rect">
            <a:avLst/>
          </a:prstGeom>
          <a:noFill/>
          <a:ln/>
        </p:spPr>
        <p:txBody>
          <a:bodyPr wrap="square" lIns="0" tIns="0" rIns="0" bIns="0" rtlCol="0" anchor="ctr"/>
          <a:lstStyle/>
          <a:p>
            <a:pPr indent="0" marL="0">
              <a:buNone/>
            </a:pPr>
            <a:r>
              <a:rPr lang="en-US" sz="900" b="1" spc="110" kern="0" dirty="0">
                <a:solidFill>
                  <a:srgbClr val="6B7280"/>
                </a:solidFill>
                <a:latin typeface="Calibri" pitchFamily="34" charset="0"/>
                <a:ea typeface="Calibri" pitchFamily="34" charset="-122"/>
                <a:cs typeface="Calibri" pitchFamily="34" charset="-120"/>
              </a:rPr>
              <a:t>DETAIL</a:t>
            </a:r>
            <a:endParaRPr lang="en-US" sz="900" dirty="0"/>
          </a:p>
        </p:txBody>
      </p:sp>
      <p:sp>
        <p:nvSpPr>
          <p:cNvPr id="8" name="Text 6"/>
          <p:cNvSpPr/>
          <p:nvPr/>
        </p:nvSpPr>
        <p:spPr>
          <a:xfrm>
            <a:off x="8933688" y="2212848"/>
            <a:ext cx="1463040" cy="219456"/>
          </a:xfrm>
          <a:prstGeom prst="rect">
            <a:avLst/>
          </a:prstGeom>
          <a:noFill/>
          <a:ln/>
        </p:spPr>
        <p:txBody>
          <a:bodyPr wrap="square" lIns="0" tIns="0" rIns="0" bIns="0" rtlCol="0" anchor="ctr"/>
          <a:lstStyle/>
          <a:p>
            <a:pPr algn="r" indent="0" marL="0">
              <a:buNone/>
            </a:pPr>
            <a:r>
              <a:rPr lang="en-US" sz="900" b="1" spc="110" kern="0" dirty="0">
                <a:solidFill>
                  <a:srgbClr val="6B7280"/>
                </a:solidFill>
                <a:latin typeface="Calibri" pitchFamily="34" charset="0"/>
                <a:ea typeface="Calibri" pitchFamily="34" charset="-122"/>
                <a:cs typeface="Calibri" pitchFamily="34" charset="-120"/>
              </a:rPr>
              <a:t>LKR / MONTH</a:t>
            </a:r>
            <a:endParaRPr lang="en-US" sz="900" dirty="0"/>
          </a:p>
        </p:txBody>
      </p:sp>
      <p:sp>
        <p:nvSpPr>
          <p:cNvPr id="9" name="Text 7"/>
          <p:cNvSpPr/>
          <p:nvPr/>
        </p:nvSpPr>
        <p:spPr>
          <a:xfrm>
            <a:off x="10488168" y="2212848"/>
            <a:ext cx="1133856" cy="219456"/>
          </a:xfrm>
          <a:prstGeom prst="rect">
            <a:avLst/>
          </a:prstGeom>
          <a:noFill/>
          <a:ln/>
        </p:spPr>
        <p:txBody>
          <a:bodyPr wrap="square" lIns="0" tIns="0" rIns="0" bIns="0" rtlCol="0" anchor="ctr"/>
          <a:lstStyle/>
          <a:p>
            <a:pPr algn="r" indent="0" marL="0">
              <a:buNone/>
            </a:pPr>
            <a:r>
              <a:rPr lang="en-US" sz="900" b="1" spc="110" kern="0" dirty="0">
                <a:solidFill>
                  <a:srgbClr val="6B7280"/>
                </a:solidFill>
                <a:latin typeface="Calibri" pitchFamily="34" charset="0"/>
                <a:ea typeface="Calibri" pitchFamily="34" charset="-122"/>
                <a:cs typeface="Calibri" pitchFamily="34" charset="-120"/>
              </a:rPr>
              <a:t>USD / MONTH</a:t>
            </a:r>
            <a:endParaRPr lang="en-US" sz="900" dirty="0"/>
          </a:p>
        </p:txBody>
      </p:sp>
      <p:sp>
        <p:nvSpPr>
          <p:cNvPr id="10" name="Shape 8"/>
          <p:cNvSpPr/>
          <p:nvPr/>
        </p:nvSpPr>
        <p:spPr>
          <a:xfrm>
            <a:off x="566928" y="2487168"/>
            <a:ext cx="11055096" cy="621792"/>
          </a:xfrm>
          <a:prstGeom prst="roundRect">
            <a:avLst>
              <a:gd name="adj" fmla="val 13235"/>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1" name="Shape 9"/>
          <p:cNvSpPr/>
          <p:nvPr/>
        </p:nvSpPr>
        <p:spPr>
          <a:xfrm>
            <a:off x="786384" y="2642616"/>
            <a:ext cx="347472" cy="347472"/>
          </a:xfrm>
          <a:prstGeom prst="ellipse">
            <a:avLst/>
          </a:prstGeom>
          <a:solidFill>
            <a:srgbClr val="16A34A"/>
          </a:solidFill>
          <a:ln w="6350">
            <a:solidFill>
              <a:srgbClr val="16A34A"/>
            </a:solidFill>
            <a:prstDash val="solid"/>
          </a:ln>
        </p:spPr>
      </p:sp>
      <p:sp>
        <p:nvSpPr>
          <p:cNvPr id="12" name="Text 10"/>
          <p:cNvSpPr/>
          <p:nvPr/>
        </p:nvSpPr>
        <p:spPr>
          <a:xfrm>
            <a:off x="786384" y="264261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3" name="Text 11"/>
          <p:cNvSpPr/>
          <p:nvPr/>
        </p:nvSpPr>
        <p:spPr>
          <a:xfrm>
            <a:off x="1261872" y="2542032"/>
            <a:ext cx="2743200" cy="512064"/>
          </a:xfrm>
          <a:prstGeom prst="rect">
            <a:avLst/>
          </a:prstGeom>
          <a:noFill/>
          <a:ln/>
        </p:spPr>
        <p:txBody>
          <a:bodyPr wrap="square" lIns="0" tIns="0" rIns="0" bIns="0" rtlCol="0" anchor="ctr"/>
          <a:lstStyle/>
          <a:p>
            <a:pPr indent="0" marL="0">
              <a:lnSpc>
                <a:spcPct val="102000"/>
              </a:lnSpc>
              <a:buNone/>
            </a:pPr>
            <a:r>
              <a:rPr lang="en-US" sz="1200" b="1" dirty="0">
                <a:solidFill>
                  <a:srgbClr val="1C1E21"/>
                </a:solidFill>
                <a:latin typeface="Calibri" pitchFamily="34" charset="0"/>
                <a:ea typeface="Calibri" pitchFamily="34" charset="-122"/>
                <a:cs typeface="Calibri" pitchFamily="34" charset="-120"/>
              </a:rPr>
              <a:t>Demonstration only</a:t>
            </a:r>
            <a:endParaRPr lang="en-US" sz="1200" dirty="0"/>
          </a:p>
        </p:txBody>
      </p:sp>
      <p:sp>
        <p:nvSpPr>
          <p:cNvPr id="14" name="Text 12"/>
          <p:cNvSpPr/>
          <p:nvPr/>
        </p:nvSpPr>
        <p:spPr>
          <a:xfrm>
            <a:off x="4087368" y="2542032"/>
            <a:ext cx="4800600" cy="512064"/>
          </a:xfrm>
          <a:prstGeom prst="rect">
            <a:avLst/>
          </a:prstGeom>
          <a:noFill/>
          <a:ln/>
        </p:spPr>
        <p:txBody>
          <a:bodyPr wrap="square" lIns="0" tIns="0" rIns="0" bIns="0" rtlCol="0" anchor="ctr"/>
          <a:lstStyle/>
          <a:p>
            <a:pPr indent="0" marL="0">
              <a:lnSpc>
                <a:spcPct val="106000"/>
              </a:lnSpc>
              <a:buNone/>
            </a:pPr>
            <a:r>
              <a:rPr lang="en-US" sz="1050" dirty="0">
                <a:solidFill>
                  <a:srgbClr val="6B7280"/>
                </a:solidFill>
                <a:latin typeface="Calibri" pitchFamily="34" charset="0"/>
                <a:ea typeface="Calibri" pitchFamily="34" charset="-122"/>
                <a:cs typeface="Calibri" pitchFamily="34" charset="-120"/>
              </a:rPr>
              <a:t>Free-tier cloud server. No service guarantee, and not suitable for real patient data.</a:t>
            </a:r>
            <a:endParaRPr lang="en-US" sz="1050" dirty="0"/>
          </a:p>
        </p:txBody>
      </p:sp>
      <p:sp>
        <p:nvSpPr>
          <p:cNvPr id="15" name="Text 13"/>
          <p:cNvSpPr/>
          <p:nvPr/>
        </p:nvSpPr>
        <p:spPr>
          <a:xfrm>
            <a:off x="8933688" y="2542032"/>
            <a:ext cx="1463040" cy="512064"/>
          </a:xfrm>
          <a:prstGeom prst="rect">
            <a:avLst/>
          </a:prstGeom>
          <a:noFill/>
          <a:ln/>
        </p:spPr>
        <p:txBody>
          <a:bodyPr wrap="square" lIns="0" tIns="0" rIns="0" bIns="0" rtlCol="0" anchor="ctr"/>
          <a:lstStyle/>
          <a:p>
            <a:pPr algn="r" indent="0" marL="0">
              <a:buNone/>
            </a:pPr>
            <a:r>
              <a:rPr lang="en-US" sz="1500" b="1" dirty="0">
                <a:solidFill>
                  <a:srgbClr val="16A34A"/>
                </a:solidFill>
                <a:latin typeface="Cambria" pitchFamily="34" charset="0"/>
                <a:ea typeface="Cambria" pitchFamily="34" charset="-122"/>
                <a:cs typeface="Cambria" pitchFamily="34" charset="-120"/>
              </a:rPr>
              <a:t>0</a:t>
            </a:r>
            <a:endParaRPr lang="en-US" sz="1500" dirty="0"/>
          </a:p>
        </p:txBody>
      </p:sp>
      <p:sp>
        <p:nvSpPr>
          <p:cNvPr id="16" name="Text 14"/>
          <p:cNvSpPr/>
          <p:nvPr/>
        </p:nvSpPr>
        <p:spPr>
          <a:xfrm>
            <a:off x="10488168" y="2542032"/>
            <a:ext cx="1133856" cy="512064"/>
          </a:xfrm>
          <a:prstGeom prst="rect">
            <a:avLst/>
          </a:prstGeom>
          <a:noFill/>
          <a:ln/>
        </p:spPr>
        <p:txBody>
          <a:bodyPr wrap="square" lIns="0" tIns="0" rIns="0" bIns="0" rtlCol="0" anchor="ctr"/>
          <a:lstStyle/>
          <a:p>
            <a:pPr algn="r" indent="0" marL="0">
              <a:buNone/>
            </a:pPr>
            <a:r>
              <a:rPr lang="en-US" sz="1500" b="1" dirty="0">
                <a:solidFill>
                  <a:srgbClr val="6B7280"/>
                </a:solidFill>
                <a:latin typeface="Cambria" pitchFamily="34" charset="0"/>
                <a:ea typeface="Cambria" pitchFamily="34" charset="-122"/>
                <a:cs typeface="Cambria" pitchFamily="34" charset="-120"/>
              </a:rPr>
              <a:t>$0</a:t>
            </a:r>
            <a:endParaRPr lang="en-US" sz="1500" dirty="0"/>
          </a:p>
        </p:txBody>
      </p:sp>
      <p:sp>
        <p:nvSpPr>
          <p:cNvPr id="17" name="Shape 15"/>
          <p:cNvSpPr/>
          <p:nvPr/>
        </p:nvSpPr>
        <p:spPr>
          <a:xfrm>
            <a:off x="566928" y="3204972"/>
            <a:ext cx="11055096" cy="621792"/>
          </a:xfrm>
          <a:prstGeom prst="roundRect">
            <a:avLst>
              <a:gd name="adj" fmla="val 13235"/>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18" name="Shape 16"/>
          <p:cNvSpPr/>
          <p:nvPr/>
        </p:nvSpPr>
        <p:spPr>
          <a:xfrm>
            <a:off x="786384" y="3360420"/>
            <a:ext cx="347472" cy="347472"/>
          </a:xfrm>
          <a:prstGeom prst="ellipse">
            <a:avLst/>
          </a:prstGeom>
          <a:solidFill>
            <a:srgbClr val="0C6A73"/>
          </a:solidFill>
          <a:ln w="6350">
            <a:solidFill>
              <a:srgbClr val="0C6A73"/>
            </a:solidFill>
            <a:prstDash val="solid"/>
          </a:ln>
        </p:spPr>
      </p:sp>
      <p:sp>
        <p:nvSpPr>
          <p:cNvPr id="19" name="Text 17"/>
          <p:cNvSpPr/>
          <p:nvPr/>
        </p:nvSpPr>
        <p:spPr>
          <a:xfrm>
            <a:off x="786384" y="33604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20" name="Text 18"/>
          <p:cNvSpPr/>
          <p:nvPr/>
        </p:nvSpPr>
        <p:spPr>
          <a:xfrm>
            <a:off x="1261872" y="3259836"/>
            <a:ext cx="2743200" cy="512064"/>
          </a:xfrm>
          <a:prstGeom prst="rect">
            <a:avLst/>
          </a:prstGeom>
          <a:noFill/>
          <a:ln/>
        </p:spPr>
        <p:txBody>
          <a:bodyPr wrap="square" lIns="0" tIns="0" rIns="0" bIns="0" rtlCol="0" anchor="ctr"/>
          <a:lstStyle/>
          <a:p>
            <a:pPr indent="0" marL="0">
              <a:lnSpc>
                <a:spcPct val="102000"/>
              </a:lnSpc>
              <a:buNone/>
            </a:pPr>
            <a:r>
              <a:rPr lang="en-US" sz="1200" b="1" dirty="0">
                <a:solidFill>
                  <a:srgbClr val="1C1E21"/>
                </a:solidFill>
                <a:latin typeface="Calibri" pitchFamily="34" charset="0"/>
                <a:ea typeface="Calibri" pitchFamily="34" charset="-122"/>
                <a:cs typeface="Calibri" pitchFamily="34" charset="-120"/>
              </a:rPr>
              <a:t>Core system, Europe</a:t>
            </a:r>
            <a:endParaRPr lang="en-US" sz="1200" dirty="0"/>
          </a:p>
        </p:txBody>
      </p:sp>
      <p:sp>
        <p:nvSpPr>
          <p:cNvPr id="21" name="Text 19"/>
          <p:cNvSpPr/>
          <p:nvPr/>
        </p:nvSpPr>
        <p:spPr>
          <a:xfrm>
            <a:off x="4087368" y="3259836"/>
            <a:ext cx="4800600" cy="512064"/>
          </a:xfrm>
          <a:prstGeom prst="rect">
            <a:avLst/>
          </a:prstGeom>
          <a:noFill/>
          <a:ln/>
        </p:spPr>
        <p:txBody>
          <a:bodyPr wrap="square" lIns="0" tIns="0" rIns="0" bIns="0" rtlCol="0" anchor="ctr"/>
          <a:lstStyle/>
          <a:p>
            <a:pPr indent="0" marL="0">
              <a:lnSpc>
                <a:spcPct val="106000"/>
              </a:lnSpc>
              <a:buNone/>
            </a:pPr>
            <a:r>
              <a:rPr lang="en-US" sz="1050" dirty="0">
                <a:solidFill>
                  <a:srgbClr val="6B7280"/>
                </a:solidFill>
                <a:latin typeface="Calibri" pitchFamily="34" charset="0"/>
                <a:ea typeface="Calibri" pitchFamily="34" charset="-122"/>
                <a:cs typeface="Calibri" pitchFamily="34" charset="-120"/>
              </a:rPr>
              <a:t>2–4 shared CPU cores, 8 GB, daily backups. Lowest price; about 150 ms away from Colombo.</a:t>
            </a:r>
            <a:endParaRPr lang="en-US" sz="1050" dirty="0"/>
          </a:p>
        </p:txBody>
      </p:sp>
      <p:sp>
        <p:nvSpPr>
          <p:cNvPr id="22" name="Text 20"/>
          <p:cNvSpPr/>
          <p:nvPr/>
        </p:nvSpPr>
        <p:spPr>
          <a:xfrm>
            <a:off x="8933688" y="3259836"/>
            <a:ext cx="1463040" cy="512064"/>
          </a:xfrm>
          <a:prstGeom prst="rect">
            <a:avLst/>
          </a:prstGeom>
          <a:noFill/>
          <a:ln/>
        </p:spPr>
        <p:txBody>
          <a:bodyPr wrap="square" lIns="0" tIns="0" rIns="0" bIns="0" rtlCol="0" anchor="ctr"/>
          <a:lstStyle/>
          <a:p>
            <a:pPr algn="r" indent="0" marL="0">
              <a:buNone/>
            </a:pPr>
            <a:r>
              <a:rPr lang="en-US" sz="1500" b="1" dirty="0">
                <a:solidFill>
                  <a:srgbClr val="0C6A73"/>
                </a:solidFill>
                <a:latin typeface="Cambria" pitchFamily="34" charset="0"/>
                <a:ea typeface="Cambria" pitchFamily="34" charset="-122"/>
                <a:cs typeface="Cambria" pitchFamily="34" charset="-120"/>
              </a:rPr>
              <a:t>4,500</a:t>
            </a:r>
            <a:endParaRPr lang="en-US" sz="1500" dirty="0"/>
          </a:p>
        </p:txBody>
      </p:sp>
      <p:sp>
        <p:nvSpPr>
          <p:cNvPr id="23" name="Text 21"/>
          <p:cNvSpPr/>
          <p:nvPr/>
        </p:nvSpPr>
        <p:spPr>
          <a:xfrm>
            <a:off x="10488168" y="3259836"/>
            <a:ext cx="1133856" cy="512064"/>
          </a:xfrm>
          <a:prstGeom prst="rect">
            <a:avLst/>
          </a:prstGeom>
          <a:noFill/>
          <a:ln/>
        </p:spPr>
        <p:txBody>
          <a:bodyPr wrap="square" lIns="0" tIns="0" rIns="0" bIns="0" rtlCol="0" anchor="ctr"/>
          <a:lstStyle/>
          <a:p>
            <a:pPr algn="r" indent="0" marL="0">
              <a:buNone/>
            </a:pPr>
            <a:r>
              <a:rPr lang="en-US" sz="1500" b="1" dirty="0">
                <a:solidFill>
                  <a:srgbClr val="6B7280"/>
                </a:solidFill>
                <a:latin typeface="Cambria" pitchFamily="34" charset="0"/>
                <a:ea typeface="Cambria" pitchFamily="34" charset="-122"/>
                <a:cs typeface="Cambria" pitchFamily="34" charset="-120"/>
              </a:rPr>
              <a:t>$13</a:t>
            </a:r>
            <a:endParaRPr lang="en-US" sz="1500" dirty="0"/>
          </a:p>
        </p:txBody>
      </p:sp>
      <p:sp>
        <p:nvSpPr>
          <p:cNvPr id="24" name="Shape 22"/>
          <p:cNvSpPr/>
          <p:nvPr/>
        </p:nvSpPr>
        <p:spPr>
          <a:xfrm>
            <a:off x="566928" y="3922776"/>
            <a:ext cx="11055096" cy="621792"/>
          </a:xfrm>
          <a:prstGeom prst="roundRect">
            <a:avLst>
              <a:gd name="adj" fmla="val 13235"/>
            </a:avLst>
          </a:prstGeom>
          <a:solidFill>
            <a:srgbClr val="E8F4F3"/>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25" name="Shape 23"/>
          <p:cNvSpPr/>
          <p:nvPr/>
        </p:nvSpPr>
        <p:spPr>
          <a:xfrm>
            <a:off x="786384" y="4078224"/>
            <a:ext cx="347472" cy="347472"/>
          </a:xfrm>
          <a:prstGeom prst="ellipse">
            <a:avLst/>
          </a:prstGeom>
          <a:solidFill>
            <a:srgbClr val="0C6A73"/>
          </a:solidFill>
          <a:ln w="6350">
            <a:solidFill>
              <a:srgbClr val="0C6A73"/>
            </a:solidFill>
            <a:prstDash val="solid"/>
          </a:ln>
        </p:spPr>
      </p:sp>
      <p:sp>
        <p:nvSpPr>
          <p:cNvPr id="26" name="Text 24"/>
          <p:cNvSpPr/>
          <p:nvPr/>
        </p:nvSpPr>
        <p:spPr>
          <a:xfrm>
            <a:off x="786384" y="407822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7" name="Text 25"/>
          <p:cNvSpPr/>
          <p:nvPr/>
        </p:nvSpPr>
        <p:spPr>
          <a:xfrm>
            <a:off x="1261872" y="3977640"/>
            <a:ext cx="2743200" cy="512064"/>
          </a:xfrm>
          <a:prstGeom prst="rect">
            <a:avLst/>
          </a:prstGeom>
          <a:noFill/>
          <a:ln/>
        </p:spPr>
        <p:txBody>
          <a:bodyPr wrap="square" lIns="0" tIns="0" rIns="0" bIns="0" rtlCol="0" anchor="ctr"/>
          <a:lstStyle/>
          <a:p>
            <a:pPr indent="0" marL="0">
              <a:lnSpc>
                <a:spcPct val="102000"/>
              </a:lnSpc>
              <a:buNone/>
            </a:pPr>
            <a:r>
              <a:rPr lang="en-US" sz="1200" b="1" dirty="0">
                <a:solidFill>
                  <a:srgbClr val="1C1E21"/>
                </a:solidFill>
                <a:latin typeface="Calibri" pitchFamily="34" charset="0"/>
                <a:ea typeface="Calibri" pitchFamily="34" charset="-122"/>
                <a:cs typeface="Calibri" pitchFamily="34" charset="-120"/>
              </a:rPr>
              <a:t>Core system, Singapore</a:t>
            </a:r>
            <a:endParaRPr lang="en-US" sz="1200" dirty="0"/>
          </a:p>
        </p:txBody>
      </p:sp>
      <p:sp>
        <p:nvSpPr>
          <p:cNvPr id="28" name="Text 26"/>
          <p:cNvSpPr/>
          <p:nvPr/>
        </p:nvSpPr>
        <p:spPr>
          <a:xfrm>
            <a:off x="4087368" y="3977640"/>
            <a:ext cx="4800600" cy="512064"/>
          </a:xfrm>
          <a:prstGeom prst="rect">
            <a:avLst/>
          </a:prstGeom>
          <a:noFill/>
          <a:ln/>
        </p:spPr>
        <p:txBody>
          <a:bodyPr wrap="square" lIns="0" tIns="0" rIns="0" bIns="0" rtlCol="0" anchor="ctr"/>
          <a:lstStyle/>
          <a:p>
            <a:pPr indent="0" marL="0">
              <a:lnSpc>
                <a:spcPct val="106000"/>
              </a:lnSpc>
              <a:buNone/>
            </a:pPr>
            <a:r>
              <a:rPr lang="en-US" sz="1050" dirty="0">
                <a:solidFill>
                  <a:srgbClr val="6B7280"/>
                </a:solidFill>
                <a:latin typeface="Calibri" pitchFamily="34" charset="0"/>
                <a:ea typeface="Calibri" pitchFamily="34" charset="-122"/>
                <a:cs typeface="Calibri" pitchFamily="34" charset="-120"/>
              </a:rPr>
              <a:t>Same stack, hosted regionally. About 50 ms to Colombo. Recommended starting point.</a:t>
            </a:r>
            <a:endParaRPr lang="en-US" sz="1050" dirty="0"/>
          </a:p>
        </p:txBody>
      </p:sp>
      <p:sp>
        <p:nvSpPr>
          <p:cNvPr id="29" name="Text 27"/>
          <p:cNvSpPr/>
          <p:nvPr/>
        </p:nvSpPr>
        <p:spPr>
          <a:xfrm>
            <a:off x="8933688" y="3977640"/>
            <a:ext cx="1463040" cy="512064"/>
          </a:xfrm>
          <a:prstGeom prst="rect">
            <a:avLst/>
          </a:prstGeom>
          <a:noFill/>
          <a:ln/>
        </p:spPr>
        <p:txBody>
          <a:bodyPr wrap="square" lIns="0" tIns="0" rIns="0" bIns="0" rtlCol="0" anchor="ctr"/>
          <a:lstStyle/>
          <a:p>
            <a:pPr algn="r" indent="0" marL="0">
              <a:buNone/>
            </a:pPr>
            <a:r>
              <a:rPr lang="en-US" sz="1500" b="1" dirty="0">
                <a:solidFill>
                  <a:srgbClr val="0C6A73"/>
                </a:solidFill>
                <a:latin typeface="Cambria" pitchFamily="34" charset="0"/>
                <a:ea typeface="Cambria" pitchFamily="34" charset="-122"/>
                <a:cs typeface="Cambria" pitchFamily="34" charset="-120"/>
              </a:rPr>
              <a:t>9,600</a:t>
            </a:r>
            <a:endParaRPr lang="en-US" sz="1500" dirty="0"/>
          </a:p>
        </p:txBody>
      </p:sp>
      <p:sp>
        <p:nvSpPr>
          <p:cNvPr id="30" name="Text 28"/>
          <p:cNvSpPr/>
          <p:nvPr/>
        </p:nvSpPr>
        <p:spPr>
          <a:xfrm>
            <a:off x="10488168" y="3977640"/>
            <a:ext cx="1133856" cy="512064"/>
          </a:xfrm>
          <a:prstGeom prst="rect">
            <a:avLst/>
          </a:prstGeom>
          <a:noFill/>
          <a:ln/>
        </p:spPr>
        <p:txBody>
          <a:bodyPr wrap="square" lIns="0" tIns="0" rIns="0" bIns="0" rtlCol="0" anchor="ctr"/>
          <a:lstStyle/>
          <a:p>
            <a:pPr algn="r" indent="0" marL="0">
              <a:buNone/>
            </a:pPr>
            <a:r>
              <a:rPr lang="en-US" sz="1500" b="1" dirty="0">
                <a:solidFill>
                  <a:srgbClr val="6B7280"/>
                </a:solidFill>
                <a:latin typeface="Cambria" pitchFamily="34" charset="0"/>
                <a:ea typeface="Cambria" pitchFamily="34" charset="-122"/>
                <a:cs typeface="Cambria" pitchFamily="34" charset="-120"/>
              </a:rPr>
              <a:t>$29</a:t>
            </a:r>
            <a:endParaRPr lang="en-US" sz="1500" dirty="0"/>
          </a:p>
        </p:txBody>
      </p:sp>
      <p:sp>
        <p:nvSpPr>
          <p:cNvPr id="31" name="Shape 29"/>
          <p:cNvSpPr/>
          <p:nvPr/>
        </p:nvSpPr>
        <p:spPr>
          <a:xfrm>
            <a:off x="566928" y="4640580"/>
            <a:ext cx="11055096" cy="621792"/>
          </a:xfrm>
          <a:prstGeom prst="roundRect">
            <a:avLst>
              <a:gd name="adj" fmla="val 13235"/>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32" name="Shape 30"/>
          <p:cNvSpPr/>
          <p:nvPr/>
        </p:nvSpPr>
        <p:spPr>
          <a:xfrm>
            <a:off x="786384" y="4796028"/>
            <a:ext cx="347472" cy="347472"/>
          </a:xfrm>
          <a:prstGeom prst="ellipse">
            <a:avLst/>
          </a:prstGeom>
          <a:solidFill>
            <a:srgbClr val="10A99C"/>
          </a:solidFill>
          <a:ln w="6350">
            <a:solidFill>
              <a:srgbClr val="10A99C"/>
            </a:solidFill>
            <a:prstDash val="solid"/>
          </a:ln>
        </p:spPr>
      </p:sp>
      <p:sp>
        <p:nvSpPr>
          <p:cNvPr id="33" name="Text 31"/>
          <p:cNvSpPr/>
          <p:nvPr/>
        </p:nvSpPr>
        <p:spPr>
          <a:xfrm>
            <a:off x="786384" y="47960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34" name="Text 32"/>
          <p:cNvSpPr/>
          <p:nvPr/>
        </p:nvSpPr>
        <p:spPr>
          <a:xfrm>
            <a:off x="1261872" y="4695444"/>
            <a:ext cx="2743200" cy="512064"/>
          </a:xfrm>
          <a:prstGeom prst="rect">
            <a:avLst/>
          </a:prstGeom>
          <a:noFill/>
          <a:ln/>
        </p:spPr>
        <p:txBody>
          <a:bodyPr wrap="square" lIns="0" tIns="0" rIns="0" bIns="0" rtlCol="0" anchor="ctr"/>
          <a:lstStyle/>
          <a:p>
            <a:pPr indent="0" marL="0">
              <a:lnSpc>
                <a:spcPct val="102000"/>
              </a:lnSpc>
              <a:buNone/>
            </a:pPr>
            <a:r>
              <a:rPr lang="en-US" sz="1200" b="1" dirty="0">
                <a:solidFill>
                  <a:srgbClr val="1C1E21"/>
                </a:solidFill>
                <a:latin typeface="Calibri" pitchFamily="34" charset="0"/>
                <a:ea typeface="Calibri" pitchFamily="34" charset="-122"/>
                <a:cs typeface="Calibri" pitchFamily="34" charset="-120"/>
              </a:rPr>
              <a:t>C + document reading</a:t>
            </a:r>
            <a:endParaRPr lang="en-US" sz="1200" dirty="0"/>
          </a:p>
        </p:txBody>
      </p:sp>
      <p:sp>
        <p:nvSpPr>
          <p:cNvPr id="35" name="Text 33"/>
          <p:cNvSpPr/>
          <p:nvPr/>
        </p:nvSpPr>
        <p:spPr>
          <a:xfrm>
            <a:off x="4087368" y="4695444"/>
            <a:ext cx="4800600" cy="512064"/>
          </a:xfrm>
          <a:prstGeom prst="rect">
            <a:avLst/>
          </a:prstGeom>
          <a:noFill/>
          <a:ln/>
        </p:spPr>
        <p:txBody>
          <a:bodyPr wrap="square" lIns="0" tIns="0" rIns="0" bIns="0" rtlCol="0" anchor="ctr"/>
          <a:lstStyle/>
          <a:p>
            <a:pPr indent="0" marL="0">
              <a:lnSpc>
                <a:spcPct val="106000"/>
              </a:lnSpc>
              <a:buNone/>
            </a:pPr>
            <a:r>
              <a:rPr lang="en-US" sz="1050" dirty="0">
                <a:solidFill>
                  <a:srgbClr val="6B7280"/>
                </a:solidFill>
                <a:latin typeface="Calibri" pitchFamily="34" charset="0"/>
                <a:ea typeface="Calibri" pitchFamily="34" charset="-122"/>
                <a:cs typeface="Calibri" pitchFamily="34" charset="-120"/>
              </a:rPr>
              <a:t>Adds a rented GPU, started only for clinic sessions — around 3 hours a day.</a:t>
            </a:r>
            <a:endParaRPr lang="en-US" sz="1050" dirty="0"/>
          </a:p>
        </p:txBody>
      </p:sp>
      <p:sp>
        <p:nvSpPr>
          <p:cNvPr id="36" name="Text 34"/>
          <p:cNvSpPr/>
          <p:nvPr/>
        </p:nvSpPr>
        <p:spPr>
          <a:xfrm>
            <a:off x="8933688" y="4695444"/>
            <a:ext cx="1463040" cy="512064"/>
          </a:xfrm>
          <a:prstGeom prst="rect">
            <a:avLst/>
          </a:prstGeom>
          <a:noFill/>
          <a:ln/>
        </p:spPr>
        <p:txBody>
          <a:bodyPr wrap="square" lIns="0" tIns="0" rIns="0" bIns="0" rtlCol="0" anchor="ctr"/>
          <a:lstStyle/>
          <a:p>
            <a:pPr algn="r" indent="0" marL="0">
              <a:buNone/>
            </a:pPr>
            <a:r>
              <a:rPr lang="en-US" sz="1500" b="1" dirty="0">
                <a:solidFill>
                  <a:srgbClr val="10A99C"/>
                </a:solidFill>
                <a:latin typeface="Cambria" pitchFamily="34" charset="0"/>
                <a:ea typeface="Cambria" pitchFamily="34" charset="-122"/>
                <a:cs typeface="Cambria" pitchFamily="34" charset="-120"/>
              </a:rPr>
              <a:t>16,000</a:t>
            </a:r>
            <a:endParaRPr lang="en-US" sz="1500" dirty="0"/>
          </a:p>
        </p:txBody>
      </p:sp>
      <p:sp>
        <p:nvSpPr>
          <p:cNvPr id="37" name="Text 35"/>
          <p:cNvSpPr/>
          <p:nvPr/>
        </p:nvSpPr>
        <p:spPr>
          <a:xfrm>
            <a:off x="10488168" y="4695444"/>
            <a:ext cx="1133856" cy="512064"/>
          </a:xfrm>
          <a:prstGeom prst="rect">
            <a:avLst/>
          </a:prstGeom>
          <a:noFill/>
          <a:ln/>
        </p:spPr>
        <p:txBody>
          <a:bodyPr wrap="square" lIns="0" tIns="0" rIns="0" bIns="0" rtlCol="0" anchor="ctr"/>
          <a:lstStyle/>
          <a:p>
            <a:pPr algn="r" indent="0" marL="0">
              <a:buNone/>
            </a:pPr>
            <a:r>
              <a:rPr lang="en-US" sz="1500" b="1" dirty="0">
                <a:solidFill>
                  <a:srgbClr val="6B7280"/>
                </a:solidFill>
                <a:latin typeface="Cambria" pitchFamily="34" charset="0"/>
                <a:ea typeface="Cambria" pitchFamily="34" charset="-122"/>
                <a:cs typeface="Cambria" pitchFamily="34" charset="-120"/>
              </a:rPr>
              <a:t>$48</a:t>
            </a:r>
            <a:endParaRPr lang="en-US" sz="1500" dirty="0"/>
          </a:p>
        </p:txBody>
      </p:sp>
      <p:sp>
        <p:nvSpPr>
          <p:cNvPr id="38" name="Shape 36"/>
          <p:cNvSpPr/>
          <p:nvPr/>
        </p:nvSpPr>
        <p:spPr>
          <a:xfrm>
            <a:off x="566928" y="5358384"/>
            <a:ext cx="11055096" cy="621792"/>
          </a:xfrm>
          <a:prstGeom prst="roundRect">
            <a:avLst>
              <a:gd name="adj" fmla="val 13235"/>
            </a:avLst>
          </a:prstGeom>
          <a:solidFill>
            <a:srgbClr val="FFFFFF"/>
          </a:solidFill>
          <a:ln w="9525">
            <a:solidFill>
              <a:srgbClr val="E2E6E9"/>
            </a:solidFill>
            <a:prstDash val="solid"/>
          </a:ln>
          <a:effectLst>
            <a:outerShdw sx="100000" sy="100000" kx="0" ky="0" algn="bl" rotWithShape="0" blurRad="127000" dist="25400" dir="5400000">
              <a:srgbClr val="9AA5AD">
                <a:alpha val="22000"/>
              </a:srgbClr>
            </a:outerShdw>
          </a:effectLst>
        </p:spPr>
      </p:sp>
      <p:sp>
        <p:nvSpPr>
          <p:cNvPr id="39" name="Shape 37"/>
          <p:cNvSpPr/>
          <p:nvPr/>
        </p:nvSpPr>
        <p:spPr>
          <a:xfrm>
            <a:off x="786384" y="5513832"/>
            <a:ext cx="347472" cy="347472"/>
          </a:xfrm>
          <a:prstGeom prst="ellipse">
            <a:avLst/>
          </a:prstGeom>
          <a:solidFill>
            <a:srgbClr val="DC2626"/>
          </a:solidFill>
          <a:ln w="6350">
            <a:solidFill>
              <a:srgbClr val="DC2626"/>
            </a:solidFill>
            <a:prstDash val="solid"/>
          </a:ln>
        </p:spPr>
      </p:sp>
      <p:sp>
        <p:nvSpPr>
          <p:cNvPr id="40" name="Text 38"/>
          <p:cNvSpPr/>
          <p:nvPr/>
        </p:nvSpPr>
        <p:spPr>
          <a:xfrm>
            <a:off x="786384" y="551383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t>
            </a:r>
            <a:endParaRPr lang="en-US" sz="1300" dirty="0"/>
          </a:p>
        </p:txBody>
      </p:sp>
      <p:sp>
        <p:nvSpPr>
          <p:cNvPr id="41" name="Text 39"/>
          <p:cNvSpPr/>
          <p:nvPr/>
        </p:nvSpPr>
        <p:spPr>
          <a:xfrm>
            <a:off x="1261872" y="5413248"/>
            <a:ext cx="2743200" cy="512064"/>
          </a:xfrm>
          <a:prstGeom prst="rect">
            <a:avLst/>
          </a:prstGeom>
          <a:noFill/>
          <a:ln/>
        </p:spPr>
        <p:txBody>
          <a:bodyPr wrap="square" lIns="0" tIns="0" rIns="0" bIns="0" rtlCol="0" anchor="ctr"/>
          <a:lstStyle/>
          <a:p>
            <a:pPr indent="0" marL="0">
              <a:lnSpc>
                <a:spcPct val="102000"/>
              </a:lnSpc>
              <a:buNone/>
            </a:pPr>
            <a:r>
              <a:rPr lang="en-US" sz="1200" b="1" dirty="0">
                <a:solidFill>
                  <a:srgbClr val="1C1E21"/>
                </a:solidFill>
                <a:latin typeface="Calibri" pitchFamily="34" charset="0"/>
                <a:ea typeface="Calibri" pitchFamily="34" charset="-122"/>
                <a:cs typeface="Calibri" pitchFamily="34" charset="-120"/>
              </a:rPr>
              <a:t>GPU left running 24/7</a:t>
            </a:r>
            <a:endParaRPr lang="en-US" sz="1200" dirty="0"/>
          </a:p>
        </p:txBody>
      </p:sp>
      <p:sp>
        <p:nvSpPr>
          <p:cNvPr id="42" name="Text 40"/>
          <p:cNvSpPr/>
          <p:nvPr/>
        </p:nvSpPr>
        <p:spPr>
          <a:xfrm>
            <a:off x="4087368" y="5413248"/>
            <a:ext cx="4800600" cy="512064"/>
          </a:xfrm>
          <a:prstGeom prst="rect">
            <a:avLst/>
          </a:prstGeom>
          <a:noFill/>
          <a:ln/>
        </p:spPr>
        <p:txBody>
          <a:bodyPr wrap="square" lIns="0" tIns="0" rIns="0" bIns="0" rtlCol="0" anchor="ctr"/>
          <a:lstStyle/>
          <a:p>
            <a:pPr indent="0" marL="0">
              <a:lnSpc>
                <a:spcPct val="106000"/>
              </a:lnSpc>
              <a:buNone/>
            </a:pPr>
            <a:r>
              <a:rPr lang="en-US" sz="1050" dirty="0">
                <a:solidFill>
                  <a:srgbClr val="6B7280"/>
                </a:solidFill>
                <a:latin typeface="Calibri" pitchFamily="34" charset="0"/>
                <a:ea typeface="Calibri" pitchFamily="34" charset="-122"/>
                <a:cs typeface="Calibri" pitchFamily="34" charset="-120"/>
              </a:rPr>
              <a:t>Same capability as D, but the graphics card is never switched off.</a:t>
            </a:r>
            <a:endParaRPr lang="en-US" sz="1050" dirty="0"/>
          </a:p>
        </p:txBody>
      </p:sp>
      <p:sp>
        <p:nvSpPr>
          <p:cNvPr id="43" name="Text 41"/>
          <p:cNvSpPr/>
          <p:nvPr/>
        </p:nvSpPr>
        <p:spPr>
          <a:xfrm>
            <a:off x="8933688" y="5413248"/>
            <a:ext cx="1463040" cy="512064"/>
          </a:xfrm>
          <a:prstGeom prst="rect">
            <a:avLst/>
          </a:prstGeom>
          <a:noFill/>
          <a:ln/>
        </p:spPr>
        <p:txBody>
          <a:bodyPr wrap="square" lIns="0" tIns="0" rIns="0" bIns="0" rtlCol="0" anchor="ctr"/>
          <a:lstStyle/>
          <a:p>
            <a:pPr algn="r" indent="0" marL="0">
              <a:buNone/>
            </a:pPr>
            <a:r>
              <a:rPr lang="en-US" sz="1500" b="1" dirty="0">
                <a:solidFill>
                  <a:srgbClr val="DC2626"/>
                </a:solidFill>
                <a:latin typeface="Cambria" pitchFamily="34" charset="0"/>
                <a:ea typeface="Cambria" pitchFamily="34" charset="-122"/>
                <a:cs typeface="Cambria" pitchFamily="34" charset="-120"/>
              </a:rPr>
              <a:t>76,000</a:t>
            </a:r>
            <a:endParaRPr lang="en-US" sz="1500" dirty="0"/>
          </a:p>
        </p:txBody>
      </p:sp>
      <p:sp>
        <p:nvSpPr>
          <p:cNvPr id="44" name="Text 42"/>
          <p:cNvSpPr/>
          <p:nvPr/>
        </p:nvSpPr>
        <p:spPr>
          <a:xfrm>
            <a:off x="10488168" y="5413248"/>
            <a:ext cx="1133856" cy="512064"/>
          </a:xfrm>
          <a:prstGeom prst="rect">
            <a:avLst/>
          </a:prstGeom>
          <a:noFill/>
          <a:ln/>
        </p:spPr>
        <p:txBody>
          <a:bodyPr wrap="square" lIns="0" tIns="0" rIns="0" bIns="0" rtlCol="0" anchor="ctr"/>
          <a:lstStyle/>
          <a:p>
            <a:pPr algn="r" indent="0" marL="0">
              <a:buNone/>
            </a:pPr>
            <a:r>
              <a:rPr lang="en-US" sz="1500" b="1" dirty="0">
                <a:solidFill>
                  <a:srgbClr val="6B7280"/>
                </a:solidFill>
                <a:latin typeface="Cambria" pitchFamily="34" charset="0"/>
                <a:ea typeface="Cambria" pitchFamily="34" charset="-122"/>
                <a:cs typeface="Cambria" pitchFamily="34" charset="-120"/>
              </a:rPr>
              <a:t>$227</a:t>
            </a:r>
            <a:endParaRPr lang="en-US" sz="1500" dirty="0"/>
          </a:p>
        </p:txBody>
      </p:sp>
      <p:sp>
        <p:nvSpPr>
          <p:cNvPr id="45" name="Text 43"/>
          <p:cNvSpPr/>
          <p:nvPr/>
        </p:nvSpPr>
        <p:spPr>
          <a:xfrm>
            <a:off x="566928" y="6272784"/>
            <a:ext cx="11055096" cy="310896"/>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Rates as at 10 August 2026: Hetzner Cloud (CX33 / CPX22, +20% for automated backups) and RunPod (RTX A5000 at $0.27/hour, $0.07/GB/month storage), plus a domain name. USD 1 = LKR 335.4; EUR 1 = USD 1.155. Cloud prices change — reconfirm before purchase.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393E"/>
        </a:solidFill>
      </p:bgPr>
    </p:bg>
    <p:spTree>
      <p:nvGrpSpPr>
        <p:cNvPr id="1" name=""/>
        <p:cNvGrpSpPr/>
        <p:nvPr/>
      </p:nvGrpSpPr>
      <p:grpSpPr>
        <a:xfrm>
          <a:off x="0" y="0"/>
          <a:ext cx="0" cy="0"/>
          <a:chOff x="0" y="0"/>
          <a:chExt cx="0" cy="0"/>
        </a:xfrm>
      </p:grpSpPr>
      <p:sp>
        <p:nvSpPr>
          <p:cNvPr id="2" name="Shape 0"/>
          <p:cNvSpPr/>
          <p:nvPr/>
        </p:nvSpPr>
        <p:spPr>
          <a:xfrm>
            <a:off x="10881360" y="-2697480"/>
            <a:ext cx="4206240" cy="4206240"/>
          </a:xfrm>
          <a:prstGeom prst="ellipse">
            <a:avLst/>
          </a:prstGeom>
          <a:solidFill>
            <a:srgbClr val="0C6A73"/>
          </a:solidFill>
          <a:ln w="12700">
            <a:solidFill>
              <a:srgbClr val="0C6A73"/>
            </a:solidFill>
            <a:prstDash val="solid"/>
          </a:ln>
        </p:spPr>
      </p:sp>
      <p:sp>
        <p:nvSpPr>
          <p:cNvPr id="3" name="Text 1"/>
          <p:cNvSpPr/>
          <p:nvPr/>
        </p:nvSpPr>
        <p:spPr>
          <a:xfrm>
            <a:off x="566928" y="566928"/>
            <a:ext cx="7315200" cy="274320"/>
          </a:xfrm>
          <a:prstGeom prst="rect">
            <a:avLst/>
          </a:prstGeom>
          <a:noFill/>
          <a:ln/>
        </p:spPr>
        <p:txBody>
          <a:bodyPr wrap="square" lIns="0" tIns="0" rIns="0" bIns="0" rtlCol="0" anchor="ctr"/>
          <a:lstStyle/>
          <a:p>
            <a:pPr indent="0" marL="0">
              <a:buNone/>
            </a:pPr>
            <a:r>
              <a:rPr lang="en-US" sz="1100" b="1" spc="180" kern="0" dirty="0">
                <a:solidFill>
                  <a:srgbClr val="10A99C"/>
                </a:solidFill>
                <a:latin typeface="Calibri" pitchFamily="34" charset="0"/>
                <a:ea typeface="Calibri" pitchFamily="34" charset="-122"/>
                <a:cs typeface="Calibri" pitchFamily="34" charset="-120"/>
              </a:rPr>
              <a:t>RECOMMENDATION</a:t>
            </a:r>
            <a:endParaRPr lang="en-US" sz="1100" dirty="0"/>
          </a:p>
        </p:txBody>
      </p:sp>
      <p:sp>
        <p:nvSpPr>
          <p:cNvPr id="4" name="Text 2"/>
          <p:cNvSpPr/>
          <p:nvPr/>
        </p:nvSpPr>
        <p:spPr>
          <a:xfrm>
            <a:off x="566928" y="896112"/>
            <a:ext cx="9326880" cy="54864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Start small, and switch the expensive part off</a:t>
            </a:r>
            <a:endParaRPr lang="en-US" sz="3100" dirty="0"/>
          </a:p>
        </p:txBody>
      </p:sp>
      <p:sp>
        <p:nvSpPr>
          <p:cNvPr id="5" name="Shape 3"/>
          <p:cNvSpPr/>
          <p:nvPr/>
        </p:nvSpPr>
        <p:spPr>
          <a:xfrm>
            <a:off x="566928" y="1737360"/>
            <a:ext cx="365760" cy="365760"/>
          </a:xfrm>
          <a:prstGeom prst="ellipse">
            <a:avLst/>
          </a:prstGeom>
          <a:solidFill>
            <a:srgbClr val="10A99C"/>
          </a:solidFill>
          <a:ln w="6350">
            <a:solidFill>
              <a:srgbClr val="10A99C"/>
            </a:solidFill>
            <a:prstDash val="solid"/>
          </a:ln>
        </p:spPr>
      </p:sp>
      <p:sp>
        <p:nvSpPr>
          <p:cNvPr id="6" name="Text 4"/>
          <p:cNvSpPr/>
          <p:nvPr/>
        </p:nvSpPr>
        <p:spPr>
          <a:xfrm>
            <a:off x="566928" y="1737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97280" y="1700784"/>
            <a:ext cx="96012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Begin on Option C — about LKR 9,600 a month.</a:t>
            </a:r>
            <a:endParaRPr lang="en-US" sz="1400" dirty="0"/>
          </a:p>
        </p:txBody>
      </p:sp>
      <p:sp>
        <p:nvSpPr>
          <p:cNvPr id="8" name="Text 6"/>
          <p:cNvSpPr/>
          <p:nvPr/>
        </p:nvSpPr>
        <p:spPr>
          <a:xfrm>
            <a:off x="1097280" y="2011680"/>
            <a:ext cx="9601200" cy="566928"/>
          </a:xfrm>
          <a:prstGeom prst="rect">
            <a:avLst/>
          </a:prstGeom>
          <a:noFill/>
          <a:ln/>
        </p:spPr>
        <p:txBody>
          <a:bodyPr wrap="square" lIns="0" tIns="0" rIns="0" bIns="0" rtlCol="0" anchor="ctr"/>
          <a:lstStyle/>
          <a:p>
            <a:pPr indent="0" marL="0">
              <a:lnSpc>
                <a:spcPct val="110000"/>
              </a:lnSpc>
              <a:buNone/>
            </a:pPr>
            <a:r>
              <a:rPr lang="en-US" sz="1150" dirty="0">
                <a:solidFill>
                  <a:srgbClr val="AFCBCA"/>
                </a:solidFill>
                <a:latin typeface="Calibri" pitchFamily="34" charset="0"/>
                <a:ea typeface="Calibri" pitchFamily="34" charset="-122"/>
                <a:cs typeface="Calibri" pitchFamily="34" charset="-120"/>
              </a:rPr>
              <a:t>Regional hosting puts the system roughly 50 ms from Colombo instead of 150 ms, for around LKR 5,000 more than the European option. For a system doctors use interactively, that is worth paying.</a:t>
            </a:r>
            <a:endParaRPr lang="en-US" sz="1150" dirty="0"/>
          </a:p>
        </p:txBody>
      </p:sp>
      <p:sp>
        <p:nvSpPr>
          <p:cNvPr id="9" name="Shape 7"/>
          <p:cNvSpPr/>
          <p:nvPr/>
        </p:nvSpPr>
        <p:spPr>
          <a:xfrm>
            <a:off x="566928" y="2670048"/>
            <a:ext cx="365760" cy="365760"/>
          </a:xfrm>
          <a:prstGeom prst="ellipse">
            <a:avLst/>
          </a:prstGeom>
          <a:solidFill>
            <a:srgbClr val="10A99C"/>
          </a:solidFill>
          <a:ln w="6350">
            <a:solidFill>
              <a:srgbClr val="10A99C"/>
            </a:solidFill>
            <a:prstDash val="solid"/>
          </a:ln>
        </p:spPr>
      </p:sp>
      <p:sp>
        <p:nvSpPr>
          <p:cNvPr id="10" name="Text 8"/>
          <p:cNvSpPr/>
          <p:nvPr/>
        </p:nvSpPr>
        <p:spPr>
          <a:xfrm>
            <a:off x="566928" y="2670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97280" y="2633472"/>
            <a:ext cx="96012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Rent the GPU by the hour, not the month.</a:t>
            </a:r>
            <a:endParaRPr lang="en-US" sz="1400" dirty="0"/>
          </a:p>
        </p:txBody>
      </p:sp>
      <p:sp>
        <p:nvSpPr>
          <p:cNvPr id="12" name="Text 10"/>
          <p:cNvSpPr/>
          <p:nvPr/>
        </p:nvSpPr>
        <p:spPr>
          <a:xfrm>
            <a:off x="1097280" y="2944368"/>
            <a:ext cx="9601200" cy="566928"/>
          </a:xfrm>
          <a:prstGeom prst="rect">
            <a:avLst/>
          </a:prstGeom>
          <a:noFill/>
          <a:ln/>
        </p:spPr>
        <p:txBody>
          <a:bodyPr wrap="square" lIns="0" tIns="0" rIns="0" bIns="0" rtlCol="0" anchor="ctr"/>
          <a:lstStyle/>
          <a:p>
            <a:pPr indent="0" marL="0">
              <a:lnSpc>
                <a:spcPct val="110000"/>
              </a:lnSpc>
              <a:buNone/>
            </a:pPr>
            <a:r>
              <a:rPr lang="en-US" sz="1150" dirty="0">
                <a:solidFill>
                  <a:srgbClr val="AFCBCA"/>
                </a:solidFill>
                <a:latin typeface="Calibri" pitchFamily="34" charset="0"/>
                <a:ea typeface="Calibri" pitchFamily="34" charset="-122"/>
                <a:cs typeface="Calibri" pitchFamily="34" charset="-120"/>
              </a:rPr>
              <a:t>Document reading needs a graphics card for a few minutes per report. Leaving it running costs about five times as much for exactly the same capability.</a:t>
            </a:r>
            <a:endParaRPr lang="en-US" sz="1150" dirty="0"/>
          </a:p>
        </p:txBody>
      </p:sp>
      <p:sp>
        <p:nvSpPr>
          <p:cNvPr id="13" name="Shape 11"/>
          <p:cNvSpPr/>
          <p:nvPr/>
        </p:nvSpPr>
        <p:spPr>
          <a:xfrm>
            <a:off x="566928" y="3602736"/>
            <a:ext cx="365760" cy="365760"/>
          </a:xfrm>
          <a:prstGeom prst="ellipse">
            <a:avLst/>
          </a:prstGeom>
          <a:solidFill>
            <a:srgbClr val="10A99C"/>
          </a:solidFill>
          <a:ln w="6350">
            <a:solidFill>
              <a:srgbClr val="10A99C"/>
            </a:solidFill>
            <a:prstDash val="solid"/>
          </a:ln>
        </p:spPr>
      </p:sp>
      <p:sp>
        <p:nvSpPr>
          <p:cNvPr id="14" name="Text 12"/>
          <p:cNvSpPr/>
          <p:nvPr/>
        </p:nvSpPr>
        <p:spPr>
          <a:xfrm>
            <a:off x="566928" y="36027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097280" y="3566160"/>
            <a:ext cx="96012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Nothing here is licensed.</a:t>
            </a:r>
            <a:endParaRPr lang="en-US" sz="1400" dirty="0"/>
          </a:p>
        </p:txBody>
      </p:sp>
      <p:sp>
        <p:nvSpPr>
          <p:cNvPr id="16" name="Text 14"/>
          <p:cNvSpPr/>
          <p:nvPr/>
        </p:nvSpPr>
        <p:spPr>
          <a:xfrm>
            <a:off x="1097280" y="3877056"/>
            <a:ext cx="9601200" cy="566928"/>
          </a:xfrm>
          <a:prstGeom prst="rect">
            <a:avLst/>
          </a:prstGeom>
          <a:noFill/>
          <a:ln/>
        </p:spPr>
        <p:txBody>
          <a:bodyPr wrap="square" lIns="0" tIns="0" rIns="0" bIns="0" rtlCol="0" anchor="ctr"/>
          <a:lstStyle/>
          <a:p>
            <a:pPr indent="0" marL="0">
              <a:lnSpc>
                <a:spcPct val="110000"/>
              </a:lnSpc>
              <a:buNone/>
            </a:pPr>
            <a:r>
              <a:rPr lang="en-US" sz="1150" dirty="0">
                <a:solidFill>
                  <a:srgbClr val="AFCBCA"/>
                </a:solidFill>
                <a:latin typeface="Calibri" pitchFamily="34" charset="0"/>
                <a:ea typeface="Calibri" pitchFamily="34" charset="-122"/>
                <a:cs typeface="Calibri" pitchFamily="34" charset="-120"/>
              </a:rPr>
              <a:t>Every component is open source and the AI model runs on our own server, so there is no per-page extraction fee, no per-doctor seat cost, and no vendor to renegotiate with.</a:t>
            </a:r>
            <a:endParaRPr lang="en-US" sz="1150" dirty="0"/>
          </a:p>
        </p:txBody>
      </p:sp>
      <p:sp>
        <p:nvSpPr>
          <p:cNvPr id="17" name="Shape 15"/>
          <p:cNvSpPr/>
          <p:nvPr/>
        </p:nvSpPr>
        <p:spPr>
          <a:xfrm>
            <a:off x="566928" y="4535424"/>
            <a:ext cx="365760" cy="365760"/>
          </a:xfrm>
          <a:prstGeom prst="ellipse">
            <a:avLst/>
          </a:prstGeom>
          <a:solidFill>
            <a:srgbClr val="10A99C"/>
          </a:solidFill>
          <a:ln w="6350">
            <a:solidFill>
              <a:srgbClr val="10A99C"/>
            </a:solidFill>
            <a:prstDash val="solid"/>
          </a:ln>
        </p:spPr>
      </p:sp>
      <p:sp>
        <p:nvSpPr>
          <p:cNvPr id="18" name="Text 16"/>
          <p:cNvSpPr/>
          <p:nvPr/>
        </p:nvSpPr>
        <p:spPr>
          <a:xfrm>
            <a:off x="566928"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097280" y="4498848"/>
            <a:ext cx="96012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Add the GPU only once the first two defects are fixed.</a:t>
            </a:r>
            <a:endParaRPr lang="en-US" sz="1400" dirty="0"/>
          </a:p>
        </p:txBody>
      </p:sp>
      <p:sp>
        <p:nvSpPr>
          <p:cNvPr id="20" name="Text 18"/>
          <p:cNvSpPr/>
          <p:nvPr/>
        </p:nvSpPr>
        <p:spPr>
          <a:xfrm>
            <a:off x="1097280" y="4809744"/>
            <a:ext cx="9601200" cy="566928"/>
          </a:xfrm>
          <a:prstGeom prst="rect">
            <a:avLst/>
          </a:prstGeom>
          <a:noFill/>
          <a:ln/>
        </p:spPr>
        <p:txBody>
          <a:bodyPr wrap="square" lIns="0" tIns="0" rIns="0" bIns="0" rtlCol="0" anchor="ctr"/>
          <a:lstStyle/>
          <a:p>
            <a:pPr indent="0" marL="0">
              <a:lnSpc>
                <a:spcPct val="110000"/>
              </a:lnSpc>
              <a:buNone/>
            </a:pPr>
            <a:r>
              <a:rPr lang="en-US" sz="1150" dirty="0">
                <a:solidFill>
                  <a:srgbClr val="AFCBCA"/>
                </a:solidFill>
                <a:latin typeface="Calibri" pitchFamily="34" charset="0"/>
                <a:ea typeface="Calibri" pitchFamily="34" charset="-122"/>
                <a:cs typeface="Calibri" pitchFamily="34" charset="-120"/>
              </a:rPr>
              <a:t>The core check works without document reading — values can be typed in. Photographs are a convenience, and can follow once the clinical fixes land.</a:t>
            </a:r>
            <a:endParaRPr lang="en-US" sz="1150" dirty="0"/>
          </a:p>
        </p:txBody>
      </p:sp>
      <p:sp>
        <p:nvSpPr>
          <p:cNvPr id="21" name="Shape 19"/>
          <p:cNvSpPr/>
          <p:nvPr/>
        </p:nvSpPr>
        <p:spPr>
          <a:xfrm>
            <a:off x="566928" y="5504688"/>
            <a:ext cx="11055096" cy="932688"/>
          </a:xfrm>
          <a:prstGeom prst="roundRect">
            <a:avLst>
              <a:gd name="adj" fmla="val 7843"/>
            </a:avLst>
          </a:prstGeom>
          <a:solidFill>
            <a:srgbClr val="1A4A48"/>
          </a:solidFill>
          <a:ln w="11430">
            <a:solidFill>
              <a:srgbClr val="FFD9A0"/>
            </a:solidFill>
            <a:prstDash val="solid"/>
          </a:ln>
        </p:spPr>
      </p:sp>
      <p:sp>
        <p:nvSpPr>
          <p:cNvPr id="22" name="Text 20"/>
          <p:cNvSpPr/>
          <p:nvPr/>
        </p:nvSpPr>
        <p:spPr>
          <a:xfrm>
            <a:off x="768096" y="5559552"/>
            <a:ext cx="10652760" cy="822960"/>
          </a:xfrm>
          <a:prstGeom prst="rect">
            <a:avLst/>
          </a:prstGeom>
          <a:noFill/>
          <a:ln/>
        </p:spPr>
        <p:txBody>
          <a:bodyPr wrap="square" lIns="0" tIns="0" rIns="0" bIns="0" rtlCol="0" anchor="ctr"/>
          <a:lstStyle/>
          <a:p>
            <a:pPr indent="0" marL="0">
              <a:lnSpc>
                <a:spcPct val="108000"/>
              </a:lnSpc>
              <a:buNone/>
            </a:pPr>
            <a:r>
              <a:rPr lang="en-US" sz="1150" dirty="0">
                <a:solidFill>
                  <a:srgbClr val="FFD9A0"/>
                </a:solidFill>
                <a:latin typeface="Calibri" pitchFamily="34" charset="0"/>
                <a:ea typeface="Calibri" pitchFamily="34" charset="-122"/>
                <a:cs typeface="Calibri" pitchFamily="34" charset="-120"/>
              </a:rPr>
              <a:t>One decision needed before real patient data is loaded: hosting outside Sri Lanka makes this a cross-border transfer of health data under the Personal Data Protection Act No. 9 of 2022, which treats health data as a special category. The Act's substantive provisions are not yet in force, but the transfer safeguards should be agreed with the hospital before go-live — or the system moved onto hospital hardware, which the container setup already allows.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Kidney Transplant Compatibility System — Feature Overview</dc:title>
  <dc:subject>PptxGenJS Presentation</dc:subject>
  <dc:creator>Kidney Transplant Compatibility System</dc:creator>
  <cp:lastModifiedBy>Kidney Transplant Compatibility System</cp:lastModifiedBy>
  <cp:revision>1</cp:revision>
  <dcterms:created xsi:type="dcterms:W3CDTF">2026-08-10T09:18:35Z</dcterms:created>
  <dcterms:modified xsi:type="dcterms:W3CDTF">2026-08-10T09:18:35Z</dcterms:modified>
</cp:coreProperties>
</file>